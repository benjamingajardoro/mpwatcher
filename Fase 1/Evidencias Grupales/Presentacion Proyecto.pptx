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10287000" cx="18288000"/>
  <p:notesSz cx="10287000" cy="18288000"/>
  <p:embeddedFontLst>
    <p:embeddedFont>
      <p:font typeface="Archiv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Archivo-bold.fntdata"/><Relationship Id="rId30" Type="http://schemas.openxmlformats.org/officeDocument/2006/relationships/font" Target="fonts/Archivo-regular.fntdata"/><Relationship Id="rId11" Type="http://schemas.openxmlformats.org/officeDocument/2006/relationships/slide" Target="slides/slide7.xml"/><Relationship Id="rId33" Type="http://schemas.openxmlformats.org/officeDocument/2006/relationships/font" Target="fonts/Archivo-boldItalic.fntdata"/><Relationship Id="rId10" Type="http://schemas.openxmlformats.org/officeDocument/2006/relationships/slide" Target="slides/slide6.xml"/><Relationship Id="rId32" Type="http://schemas.openxmlformats.org/officeDocument/2006/relationships/font" Target="fonts/Archivo-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Presentación de equipo y proyecto. Somos tres estudiantes de Ingeniería Informática, sede San Carlos de Apoquindo. El proyecto se llama MPWatcher.</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 name="Shape 30"/>
        <p:cNvGrpSpPr/>
        <p:nvPr/>
      </p:nvGrpSpPr>
      <p:grpSpPr>
        <a:xfrm>
          <a:off x="0" y="0"/>
          <a:ext cx="0" cy="0"/>
          <a:chOff x="0" y="0"/>
          <a:chExt cx="0" cy="0"/>
        </a:xfrm>
      </p:grpSpPr>
      <p:sp>
        <p:nvSpPr>
          <p:cNvPr id="31" name="Google Shape;3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 name="Google Shape;3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Recorrido de 15 minutos: primero el problema, luego el producto con los mockups, después la arquitectura y cerramos con el plan de trabajo.</a:t>
            </a:r>
            <a:endParaRPr/>
          </a:p>
        </p:txBody>
      </p:sp>
      <p:sp>
        <p:nvSpPr>
          <p:cNvPr id="33" name="Google Shape;3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Mercado Público es la plataforma oficial de compras del Estado. El volumen es enorme y el 83% de los proveedores son mipymes: el mercado objetivo existe y está identificado.</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problema no es la falta de oportunidades, es que encontrarlas es manual. Dos a cuatro horas semanales revisando la plataforma, y dependes de acertar la palabra clave exacta que usó el organismo.</a:t>
            </a:r>
            <a:endParaRPr/>
          </a:p>
        </p:txBody>
      </p:sp>
      <p:sp>
        <p:nvSpPr>
          <p:cNvPr id="85" name="Google Shape;8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MPWatcher hace tres cosas: monitorea, filtra con IA y notifica. Esa es toda la propuesta de valor.</a:t>
            </a:r>
            <a:endParaRPr/>
          </a:p>
        </p:txBody>
      </p:sp>
      <p:sp>
        <p:nvSpPr>
          <p:cNvPr id="103" name="Google Shape;1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Pasamos a la parte central de la Fase 1: el diseño de la aplicación. Ocho pantallas.</a:t>
            </a:r>
            <a:endParaRPr/>
          </a:p>
        </p:txBody>
      </p:sp>
      <p:sp>
        <p:nvSpPr>
          <p:cNvPr id="123" name="Google Shape;12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01. El acceso y el onboarding en el mismo paso: lo único obligatorio para empezar es declarar el rubro, porque de ahí sale el filtro inicial.</a:t>
            </a:r>
            <a:endParaRPr/>
          </a:p>
        </p:txBody>
      </p:sp>
      <p:sp>
        <p:nvSpPr>
          <p:cNvPr id="132" name="Google Shape;13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02. Lo primero que ve el usuario cada mañana: cuántas licitaciones nuevas hay, cuáles le calzan y qué cierra pronto. Todo el valor en una vista.</a:t>
            </a:r>
            <a:endParaRPr/>
          </a:p>
        </p:txBody>
      </p:sp>
      <p:sp>
        <p:nvSpPr>
          <p:cNvPr id="180" name="Google Shape;1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03. Cuando el usuario quiere explorar y no solo recibir: la misma base de datos en tabla, con filtros y la columna de match como criterio de orden.</a:t>
            </a:r>
            <a:endParaRPr/>
          </a:p>
        </p:txBody>
      </p:sp>
      <p:sp>
        <p:nvSpPr>
          <p:cNvPr id="265" name="Google Shape;26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04. Aquí se ve el aporte del LLM: en vez de leer 40 páginas de bases, el usuario lee cuatro líneas y una lista de requisitos.</a:t>
            </a:r>
            <a:endParaRPr/>
          </a:p>
        </p:txBody>
      </p:sp>
      <p:sp>
        <p:nvSpPr>
          <p:cNvPr id="446" name="Google Shape;44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05. Es la pantalla que alimenta al agente: rubros, regiones, montos, palabras clave, frecuencia y canal. Sin esto el LLM no tiene contra qué comparar.</a:t>
            </a:r>
            <a:endParaRPr/>
          </a:p>
        </p:txBody>
      </p:sp>
      <p:sp>
        <p:nvSpPr>
          <p:cNvPr id="506" name="Google Shape;50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06. El historial de alertas es la trazabilidad del sistema: qué se envió, por qué canal, cuándo y si se leyó. También es la evidencia para evaluar el módulo de notificación.</a:t>
            </a:r>
            <a:endParaRPr/>
          </a:p>
        </p:txBody>
      </p:sp>
      <p:sp>
        <p:nvSpPr>
          <p:cNvPr id="574" name="Google Shape;57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5" name="Google Shape;6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07. Panel interno, no lo ve el cliente. Nos sirve para operar el sistema y para medir: licitaciones procesadas, latencia del LLM y costo mensual.</a:t>
            </a:r>
            <a:endParaRPr/>
          </a:p>
        </p:txBody>
      </p:sp>
      <p:sp>
        <p:nvSpPr>
          <p:cNvPr id="676" name="Google Shape;6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Pantalla 08. La alerta llega al teléfono, así que la vista móvil no es un extra: es donde el usuario reacciona. Landing, dashboard y detalle en tres pantallas.</a:t>
            </a:r>
            <a:endParaRPr/>
          </a:p>
        </p:txBody>
      </p:sp>
      <p:sp>
        <p:nvSpPr>
          <p:cNvPr id="756" name="Google Shape;75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9" name="Google Shape;83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Cómo se construye lo que acabamos de mostrar.</a:t>
            </a:r>
            <a:endParaRPr/>
          </a:p>
        </p:txBody>
      </p:sp>
      <p:sp>
        <p:nvSpPr>
          <p:cNvPr id="840" name="Google Shape;84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8" name="Google Shape;84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Cuatro módulos en cadena: ingesta, procesamiento con LLM, base de datos y notificación. La base de datos es transversal: guarda historial, perfiles y alertas enviadas.</a:t>
            </a:r>
            <a:endParaRPr/>
          </a:p>
        </p:txBody>
      </p:sp>
      <p:sp>
        <p:nvSpPr>
          <p:cNvPr id="849" name="Google Shape;84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7" name="Google Shape;87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Este es el corazón técnico. El filtro por palabras clave se hace antes de llamar al modelo, para controlar el costo. El LLM solo ve las licitaciones que ya pasaron el primer filtro.</a:t>
            </a:r>
            <a:endParaRPr/>
          </a:p>
        </p:txBody>
      </p:sp>
      <p:sp>
        <p:nvSpPr>
          <p:cNvPr id="878" name="Google Shape;87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Última parte: objetivos, metodología, plan de trabajo y factibilidad.</a:t>
            </a:r>
            <a:endParaRPr/>
          </a:p>
        </p:txBody>
      </p:sp>
      <p:sp>
        <p:nvSpPr>
          <p:cNvPr id="900" name="Google Shape;90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8" name="Google Shape;90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objetivo general en una frase, y los seis específicos que lo componen. Cada específico corresponde a un módulo o a la evaluación.</a:t>
            </a:r>
            <a:endParaRPr/>
          </a:p>
        </p:txBody>
      </p:sp>
      <p:sp>
        <p:nvSpPr>
          <p:cNvPr id="909" name="Google Shape;90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7" name="Google Shape;93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Metodología ágil iterativa e incremental, inspirada en Scrum, con sprints cortos. Cinco etapas y reuniones periódicas de equipo.</a:t>
            </a:r>
            <a:endParaRPr/>
          </a:p>
        </p:txBody>
      </p:sp>
      <p:sp>
        <p:nvSpPr>
          <p:cNvPr id="938" name="Google Shape;93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5" name="Google Shape;96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Carta Gantt simplificada: 18 semanas repartidas en las tres fases de la asignatura. Fase 1 diseño, Fase 2 desarrollo de los módulos, Fase 3 despliegue y evaluación.</a:t>
            </a:r>
            <a:endParaRPr/>
          </a:p>
        </p:txBody>
      </p:sp>
      <p:sp>
        <p:nvSpPr>
          <p:cNvPr id="966" name="Google Shape;96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4" name="Google Shape;1024;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Tres integrantes con responsabilidades declaradas, y las cuatro competencias del perfil de egreso que se ponen en práctica. Las áreas de desempeño son desarrollo de software, infraestructura y gestión de datos, e inteligencia artificial.</a:t>
            </a:r>
            <a:endParaRPr/>
          </a:p>
        </p:txBody>
      </p:sp>
      <p:sp>
        <p:nvSpPr>
          <p:cNvPr id="1025" name="Google Shape;1025;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 name="Google Shape;105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Factibilidad: la API es pública y gratuita, el resto se resuelve con planes gratuitos o de bajo costo. Los dos riesgos reales son el cambio de la API y el costo del LLM, y ambos tienen mitigación declarada.</a:t>
            </a:r>
            <a:endParaRPr/>
          </a:p>
        </p:txBody>
      </p:sp>
      <p:sp>
        <p:nvSpPr>
          <p:cNvPr id="1057" name="Google Shape;105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fa280d192e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7" name="Google Shape;1107;g3fa280d192e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Factibilidad: la API es pública y gratuita, el resto se resuelve con planes gratuitos o de bajo costo. Los dos riesgos reales son el cambio de la API y el costo del LLM, y ambos tienen mitigación declarada.</a:t>
            </a:r>
            <a:endParaRPr/>
          </a:p>
        </p:txBody>
      </p:sp>
      <p:sp>
        <p:nvSpPr>
          <p:cNvPr id="1108" name="Google Shape;1108;g3fa280d192e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4" name="Google Shape;112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qué queda comprometido para la Fase 2. Abrimos preguntas.</a:t>
            </a:r>
            <a:endParaRPr/>
          </a:p>
        </p:txBody>
      </p:sp>
      <p:sp>
        <p:nvSpPr>
          <p:cNvPr id="1125" name="Google Shape;1125;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5" name="Shape 15"/>
        <p:cNvGrpSpPr/>
        <p:nvPr/>
      </p:nvGrpSpPr>
      <p:grpSpPr>
        <a:xfrm>
          <a:off x="0" y="0"/>
          <a:ext cx="0" cy="0"/>
          <a:chOff x="0" y="0"/>
          <a:chExt cx="0" cy="0"/>
        </a:xfrm>
      </p:grpSpPr>
      <p:sp>
        <p:nvSpPr>
          <p:cNvPr id="16" name="Google Shape;16;p3"/>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PORTAFOLIO DE TÍTULO · FASE 1</a:t>
            </a:r>
            <a:endParaRPr b="0" i="0" sz="1950" u="none" cap="none" strike="noStrike">
              <a:solidFill>
                <a:schemeClr val="dk1"/>
              </a:solidFill>
              <a:latin typeface="Calibri"/>
              <a:ea typeface="Calibri"/>
              <a:cs typeface="Calibri"/>
              <a:sym typeface="Calibri"/>
            </a:endParaRPr>
          </a:p>
        </p:txBody>
      </p:sp>
      <p:sp>
        <p:nvSpPr>
          <p:cNvPr id="17" name="Google Shape;17;p3"/>
          <p:cNvSpPr/>
          <p:nvPr/>
        </p:nvSpPr>
        <p:spPr>
          <a:xfrm>
            <a:off x="838200" y="1257300"/>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838200" y="1809750"/>
            <a:ext cx="18272760" cy="1703040"/>
          </a:xfrm>
          <a:prstGeom prst="rect">
            <a:avLst/>
          </a:prstGeom>
          <a:noFill/>
          <a:ln>
            <a:noFill/>
          </a:ln>
        </p:spPr>
        <p:txBody>
          <a:bodyPr anchorCtr="0" anchor="t" bIns="25400" lIns="25400" spcFirstLastPara="1" rIns="25400" wrap="square" tIns="25400">
            <a:noAutofit/>
          </a:bodyPr>
          <a:lstStyle/>
          <a:p>
            <a:pPr indent="0" lvl="0" marL="0" marR="0" rtl="0" algn="l">
              <a:lnSpc>
                <a:spcPct val="84444"/>
              </a:lnSpc>
              <a:spcBef>
                <a:spcPts val="0"/>
              </a:spcBef>
              <a:spcAft>
                <a:spcPts val="0"/>
              </a:spcAft>
              <a:buClr>
                <a:srgbClr val="201E1D"/>
              </a:buClr>
              <a:buSzPts val="14250"/>
              <a:buFont typeface="Archivo"/>
              <a:buNone/>
            </a:pPr>
            <a:r>
              <a:rPr b="1" i="0" lang="en-US" sz="14250" u="none" cap="none" strike="noStrike">
                <a:solidFill>
                  <a:srgbClr val="201E1D"/>
                </a:solidFill>
                <a:latin typeface="Archivo"/>
                <a:ea typeface="Archivo"/>
                <a:cs typeface="Archivo"/>
                <a:sym typeface="Archivo"/>
              </a:rPr>
              <a:t>MP</a:t>
            </a:r>
            <a:r>
              <a:rPr b="1" lang="en-US" sz="14250">
                <a:solidFill>
                  <a:srgbClr val="201E1D"/>
                </a:solidFill>
                <a:latin typeface="Archivo"/>
                <a:ea typeface="Archivo"/>
                <a:cs typeface="Archivo"/>
                <a:sym typeface="Archivo"/>
              </a:rPr>
              <a:t>Watcher</a:t>
            </a:r>
            <a:endParaRPr b="0" i="0" sz="14250" u="none" cap="none" strike="noStrike">
              <a:solidFill>
                <a:schemeClr val="dk1"/>
              </a:solidFill>
              <a:latin typeface="Calibri"/>
              <a:ea typeface="Calibri"/>
              <a:cs typeface="Calibri"/>
              <a:sym typeface="Calibri"/>
            </a:endParaRPr>
          </a:p>
        </p:txBody>
      </p:sp>
      <p:sp>
        <p:nvSpPr>
          <p:cNvPr id="19" name="Google Shape;19;p3"/>
          <p:cNvSpPr/>
          <p:nvPr/>
        </p:nvSpPr>
        <p:spPr>
          <a:xfrm>
            <a:off x="838200" y="3817590"/>
            <a:ext cx="11576685" cy="1078111"/>
          </a:xfrm>
          <a:prstGeom prst="rect">
            <a:avLst/>
          </a:prstGeom>
          <a:noFill/>
          <a:ln>
            <a:noFill/>
          </a:ln>
        </p:spPr>
        <p:txBody>
          <a:bodyPr anchorCtr="0" anchor="t" bIns="25400" lIns="25400" spcFirstLastPara="1" rIns="25400" wrap="square" tIns="25400">
            <a:noAutofit/>
          </a:bodyPr>
          <a:lstStyle/>
          <a:p>
            <a:pPr indent="0" lvl="0" marL="0" marR="0" rtl="0" algn="l">
              <a:lnSpc>
                <a:spcPct val="118696"/>
              </a:lnSpc>
              <a:spcBef>
                <a:spcPts val="0"/>
              </a:spcBef>
              <a:spcAft>
                <a:spcPts val="0"/>
              </a:spcAft>
              <a:buClr>
                <a:srgbClr val="201E1D"/>
              </a:buClr>
              <a:buSzPts val="3150"/>
              <a:buFont typeface="Archivo"/>
              <a:buNone/>
            </a:pPr>
            <a:r>
              <a:rPr b="0" i="0" lang="en-US" sz="3150" u="none" cap="none" strike="noStrike">
                <a:solidFill>
                  <a:srgbClr val="201E1D"/>
                </a:solidFill>
                <a:latin typeface="Archivo"/>
                <a:ea typeface="Archivo"/>
                <a:cs typeface="Archivo"/>
                <a:sym typeface="Archivo"/>
              </a:rPr>
              <a:t>Agente de software que monitorea Mercado Público con IA y avisa a las pymes solo las licitaciones que les sirven.</a:t>
            </a:r>
            <a:endParaRPr b="0" i="0" sz="3150" u="none" cap="none" strike="noStrike">
              <a:solidFill>
                <a:schemeClr val="dk1"/>
              </a:solidFill>
              <a:latin typeface="Calibri"/>
              <a:ea typeface="Calibri"/>
              <a:cs typeface="Calibri"/>
              <a:sym typeface="Calibri"/>
            </a:endParaRPr>
          </a:p>
        </p:txBody>
      </p:sp>
      <p:sp>
        <p:nvSpPr>
          <p:cNvPr id="20" name="Google Shape;20;p3"/>
          <p:cNvSpPr/>
          <p:nvPr/>
        </p:nvSpPr>
        <p:spPr>
          <a:xfrm>
            <a:off x="838200" y="7346677"/>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38200" y="7632427"/>
            <a:ext cx="2514273"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EQUIPO</a:t>
            </a:r>
            <a:endParaRPr b="0" i="0" sz="1800" u="none" cap="none" strike="noStrike">
              <a:solidFill>
                <a:schemeClr val="dk1"/>
              </a:solidFill>
              <a:latin typeface="Calibri"/>
              <a:ea typeface="Calibri"/>
              <a:cs typeface="Calibri"/>
              <a:sym typeface="Calibri"/>
            </a:endParaRPr>
          </a:p>
        </p:txBody>
      </p:sp>
      <p:sp>
        <p:nvSpPr>
          <p:cNvPr id="22" name="Google Shape;22;p3"/>
          <p:cNvSpPr/>
          <p:nvPr/>
        </p:nvSpPr>
        <p:spPr>
          <a:xfrm>
            <a:off x="838200" y="8081962"/>
            <a:ext cx="2514273"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Benjamín Gajardo</a:t>
            </a:r>
            <a:endParaRPr b="0" i="0" sz="2250" u="none" cap="none" strike="noStrike">
              <a:solidFill>
                <a:schemeClr val="dk1"/>
              </a:solidFill>
              <a:latin typeface="Calibri"/>
              <a:ea typeface="Calibri"/>
              <a:cs typeface="Calibri"/>
              <a:sym typeface="Calibri"/>
            </a:endParaRPr>
          </a:p>
        </p:txBody>
      </p:sp>
      <p:sp>
        <p:nvSpPr>
          <p:cNvPr id="23" name="Google Shape;23;p3"/>
          <p:cNvSpPr/>
          <p:nvPr/>
        </p:nvSpPr>
        <p:spPr>
          <a:xfrm>
            <a:off x="838200" y="8620125"/>
            <a:ext cx="2514273"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Andy Navarrete</a:t>
            </a:r>
            <a:endParaRPr b="0" i="0" sz="2250" u="none" cap="none" strike="noStrike">
              <a:solidFill>
                <a:schemeClr val="dk1"/>
              </a:solidFill>
              <a:latin typeface="Calibri"/>
              <a:ea typeface="Calibri"/>
              <a:cs typeface="Calibri"/>
              <a:sym typeface="Calibri"/>
            </a:endParaRPr>
          </a:p>
        </p:txBody>
      </p:sp>
      <p:sp>
        <p:nvSpPr>
          <p:cNvPr id="24" name="Google Shape;24;p3"/>
          <p:cNvSpPr/>
          <p:nvPr/>
        </p:nvSpPr>
        <p:spPr>
          <a:xfrm>
            <a:off x="838200" y="9158288"/>
            <a:ext cx="2514273"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Francisco Ossio</a:t>
            </a:r>
            <a:endParaRPr b="0" i="0" sz="2250" u="none" cap="none" strike="noStrike">
              <a:solidFill>
                <a:schemeClr val="dk1"/>
              </a:solidFill>
              <a:latin typeface="Calibri"/>
              <a:ea typeface="Calibri"/>
              <a:cs typeface="Calibri"/>
              <a:sym typeface="Calibri"/>
            </a:endParaRPr>
          </a:p>
        </p:txBody>
      </p:sp>
      <p:sp>
        <p:nvSpPr>
          <p:cNvPr id="25" name="Google Shape;25;p3"/>
          <p:cNvSpPr/>
          <p:nvPr/>
        </p:nvSpPr>
        <p:spPr>
          <a:xfrm>
            <a:off x="3962102" y="8170590"/>
            <a:ext cx="4352337"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CARRERA</a:t>
            </a:r>
            <a:endParaRPr b="0" i="0" sz="1800" u="none" cap="none" strike="noStrike">
              <a:solidFill>
                <a:schemeClr val="dk1"/>
              </a:solidFill>
              <a:latin typeface="Calibri"/>
              <a:ea typeface="Calibri"/>
              <a:cs typeface="Calibri"/>
              <a:sym typeface="Calibri"/>
            </a:endParaRPr>
          </a:p>
        </p:txBody>
      </p:sp>
      <p:sp>
        <p:nvSpPr>
          <p:cNvPr id="26" name="Google Shape;26;p3"/>
          <p:cNvSpPr/>
          <p:nvPr/>
        </p:nvSpPr>
        <p:spPr>
          <a:xfrm>
            <a:off x="3962102" y="8620125"/>
            <a:ext cx="4352337"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Ingeniería Informática</a:t>
            </a:r>
            <a:endParaRPr b="0" i="0" sz="2250" u="none" cap="none" strike="noStrike">
              <a:solidFill>
                <a:schemeClr val="dk1"/>
              </a:solidFill>
              <a:latin typeface="Calibri"/>
              <a:ea typeface="Calibri"/>
              <a:cs typeface="Calibri"/>
              <a:sym typeface="Calibri"/>
            </a:endParaRPr>
          </a:p>
        </p:txBody>
      </p:sp>
      <p:sp>
        <p:nvSpPr>
          <p:cNvPr id="27" name="Google Shape;27;p3"/>
          <p:cNvSpPr/>
          <p:nvPr/>
        </p:nvSpPr>
        <p:spPr>
          <a:xfrm>
            <a:off x="3962102" y="9158288"/>
            <a:ext cx="4352337"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Sede San Carlos de Apoquindo</a:t>
            </a:r>
            <a:endParaRPr b="0" i="0" sz="2250" u="none" cap="none" strike="noStrike">
              <a:solidFill>
                <a:schemeClr val="dk1"/>
              </a:solidFill>
              <a:latin typeface="Calibri"/>
              <a:ea typeface="Calibri"/>
              <a:cs typeface="Calibri"/>
              <a:sym typeface="Calibri"/>
            </a:endParaRPr>
          </a:p>
        </p:txBody>
      </p:sp>
      <p:sp>
        <p:nvSpPr>
          <p:cNvPr id="28" name="Google Shape;28;p3"/>
          <p:cNvSpPr/>
          <p:nvPr/>
        </p:nvSpPr>
        <p:spPr>
          <a:xfrm>
            <a:off x="15047588" y="8708752"/>
            <a:ext cx="2402212" cy="392385"/>
          </a:xfrm>
          <a:prstGeom prst="rect">
            <a:avLst/>
          </a:prstGeom>
          <a:noFill/>
          <a:ln>
            <a:noFill/>
          </a:ln>
        </p:spPr>
        <p:txBody>
          <a:bodyPr anchorCtr="0" anchor="t" bIns="25400" lIns="25400" spcFirstLastPara="1" rIns="25400" wrap="square" tIns="25400">
            <a:noAutofit/>
          </a:bodyPr>
          <a:lstStyle/>
          <a:p>
            <a:pPr indent="0" lvl="0" marL="0" marR="0" rtl="0" algn="r">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FECHA</a:t>
            </a:r>
            <a:endParaRPr b="0" i="0" sz="1800" u="none" cap="none" strike="noStrike">
              <a:solidFill>
                <a:schemeClr val="dk1"/>
              </a:solidFill>
              <a:latin typeface="Calibri"/>
              <a:ea typeface="Calibri"/>
              <a:cs typeface="Calibri"/>
              <a:sym typeface="Calibri"/>
            </a:endParaRPr>
          </a:p>
        </p:txBody>
      </p:sp>
      <p:sp>
        <p:nvSpPr>
          <p:cNvPr id="29" name="Google Shape;29;p3"/>
          <p:cNvSpPr/>
          <p:nvPr/>
        </p:nvSpPr>
        <p:spPr>
          <a:xfrm>
            <a:off x="15047588" y="9158288"/>
            <a:ext cx="2402212" cy="481012"/>
          </a:xfrm>
          <a:prstGeom prst="rect">
            <a:avLst/>
          </a:prstGeom>
          <a:noFill/>
          <a:ln>
            <a:noFill/>
          </a:ln>
        </p:spPr>
        <p:txBody>
          <a:bodyPr anchorCtr="0" anchor="t" bIns="25400" lIns="25400" spcFirstLastPara="1" rIns="25400" wrap="square" tIns="25400">
            <a:noAutofit/>
          </a:bodyPr>
          <a:lstStyle/>
          <a:p>
            <a:pPr indent="0" lvl="0" marL="0" marR="0" rtl="0" algn="r">
              <a:lnSpc>
                <a:spcPct val="140909"/>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Septiembre 2026</a:t>
            </a:r>
            <a:endParaRPr b="0" i="0" sz="22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34" name="Shape 34"/>
        <p:cNvGrpSpPr/>
        <p:nvPr/>
      </p:nvGrpSpPr>
      <p:grpSpPr>
        <a:xfrm>
          <a:off x="0" y="0"/>
          <a:ext cx="0" cy="0"/>
          <a:chOff x="0" y="0"/>
          <a:chExt cx="0" cy="0"/>
        </a:xfrm>
      </p:grpSpPr>
      <p:sp>
        <p:nvSpPr>
          <p:cNvPr id="35" name="Google Shape;35;p4"/>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CONTENIDOS</a:t>
            </a:r>
            <a:endParaRPr b="0" i="0" sz="1950" u="none" cap="none" strike="noStrike">
              <a:solidFill>
                <a:schemeClr val="dk1"/>
              </a:solidFill>
              <a:latin typeface="Calibri"/>
              <a:ea typeface="Calibri"/>
              <a:cs typeface="Calibri"/>
              <a:sym typeface="Calibri"/>
            </a:endParaRPr>
          </a:p>
        </p:txBody>
      </p:sp>
      <p:sp>
        <p:nvSpPr>
          <p:cNvPr id="36" name="Google Shape;36;p4"/>
          <p:cNvSpPr/>
          <p:nvPr/>
        </p:nvSpPr>
        <p:spPr>
          <a:xfrm>
            <a:off x="838200" y="1238250"/>
            <a:ext cx="18272760" cy="691828"/>
          </a:xfrm>
          <a:prstGeom prst="rect">
            <a:avLst/>
          </a:prstGeom>
          <a:noFill/>
          <a:ln>
            <a:noFill/>
          </a:ln>
        </p:spPr>
        <p:txBody>
          <a:bodyPr anchorCtr="0" anchor="t" bIns="25400" lIns="25400" spcFirstLastPara="1" rIns="25400" wrap="square" tIns="25400">
            <a:noAutofit/>
          </a:bodyPr>
          <a:lstStyle/>
          <a:p>
            <a:pPr indent="0" lvl="0" marL="0" marR="0" rtl="0" algn="l">
              <a:lnSpc>
                <a:spcPct val="95333"/>
              </a:lnSpc>
              <a:spcBef>
                <a:spcPts val="0"/>
              </a:spcBef>
              <a:spcAft>
                <a:spcPts val="0"/>
              </a:spcAft>
              <a:buClr>
                <a:srgbClr val="201E1D"/>
              </a:buClr>
              <a:buSzPts val="4950"/>
              <a:buFont typeface="Archivo"/>
              <a:buNone/>
            </a:pPr>
            <a:r>
              <a:rPr b="1" i="0" lang="en-US" sz="4950" u="none" cap="none" strike="noStrike">
                <a:solidFill>
                  <a:srgbClr val="201E1D"/>
                </a:solidFill>
                <a:latin typeface="Archivo"/>
                <a:ea typeface="Archivo"/>
                <a:cs typeface="Archivo"/>
                <a:sym typeface="Archivo"/>
              </a:rPr>
              <a:t>Agenda</a:t>
            </a:r>
            <a:endParaRPr b="0" i="0" sz="4950" u="none" cap="none" strike="noStrike">
              <a:solidFill>
                <a:schemeClr val="dk1"/>
              </a:solidFill>
              <a:latin typeface="Calibri"/>
              <a:ea typeface="Calibri"/>
              <a:cs typeface="Calibri"/>
              <a:sym typeface="Calibri"/>
            </a:endParaRPr>
          </a:p>
        </p:txBody>
      </p:sp>
      <p:sp>
        <p:nvSpPr>
          <p:cNvPr id="37" name="Google Shape;37;p4"/>
          <p:cNvSpPr/>
          <p:nvPr/>
        </p:nvSpPr>
        <p:spPr>
          <a:xfrm>
            <a:off x="838200" y="2196778"/>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838200" y="4026471"/>
            <a:ext cx="78867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838200" y="2787328"/>
            <a:ext cx="647700" cy="101054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2550"/>
              <a:buFont typeface="Archivo"/>
              <a:buNone/>
            </a:pPr>
            <a:r>
              <a:rPr b="1" i="0" lang="en-US" sz="2550" u="none" cap="none" strike="noStrike">
                <a:solidFill>
                  <a:srgbClr val="EC3013"/>
                </a:solidFill>
                <a:latin typeface="Archivo"/>
                <a:ea typeface="Archivo"/>
                <a:cs typeface="Archivo"/>
                <a:sym typeface="Archivo"/>
              </a:rPr>
              <a:t>01</a:t>
            </a:r>
            <a:endParaRPr b="0" i="0" sz="2550" u="none" cap="none" strike="noStrike">
              <a:solidFill>
                <a:schemeClr val="dk1"/>
              </a:solidFill>
              <a:latin typeface="Calibri"/>
              <a:ea typeface="Calibri"/>
              <a:cs typeface="Calibri"/>
              <a:sym typeface="Calibri"/>
            </a:endParaRPr>
          </a:p>
        </p:txBody>
      </p:sp>
      <p:sp>
        <p:nvSpPr>
          <p:cNvPr id="40" name="Google Shape;40;p4"/>
          <p:cNvSpPr/>
          <p:nvPr/>
        </p:nvSpPr>
        <p:spPr>
          <a:xfrm>
            <a:off x="1714500" y="2787328"/>
            <a:ext cx="4657003" cy="56956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201E1D"/>
              </a:buClr>
              <a:buSzPts val="2700"/>
              <a:buFont typeface="Archivo"/>
              <a:buNone/>
            </a:pPr>
            <a:r>
              <a:rPr b="1" i="0" lang="en-US" sz="2700" u="none" cap="none" strike="noStrike">
                <a:solidFill>
                  <a:srgbClr val="201E1D"/>
                </a:solidFill>
                <a:latin typeface="Archivo"/>
                <a:ea typeface="Archivo"/>
                <a:cs typeface="Archivo"/>
                <a:sym typeface="Archivo"/>
              </a:rPr>
              <a:t>Problema y oportunidad</a:t>
            </a:r>
            <a:endParaRPr b="0" i="0" sz="2700" u="none" cap="none" strike="noStrike">
              <a:solidFill>
                <a:schemeClr val="dk1"/>
              </a:solidFill>
              <a:latin typeface="Calibri"/>
              <a:ea typeface="Calibri"/>
              <a:cs typeface="Calibri"/>
              <a:sym typeface="Calibri"/>
            </a:endParaRPr>
          </a:p>
        </p:txBody>
      </p:sp>
      <p:sp>
        <p:nvSpPr>
          <p:cNvPr id="41" name="Google Shape;41;p4"/>
          <p:cNvSpPr/>
          <p:nvPr/>
        </p:nvSpPr>
        <p:spPr>
          <a:xfrm>
            <a:off x="1714500" y="3375943"/>
            <a:ext cx="4657003"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605D5D"/>
              </a:buClr>
              <a:buSzPts val="1950"/>
              <a:buFont typeface="Archivo"/>
              <a:buNone/>
            </a:pPr>
            <a:r>
              <a:rPr b="0" i="0" lang="en-US" sz="1950" u="none" cap="none" strike="noStrike">
                <a:solidFill>
                  <a:srgbClr val="605D5D"/>
                </a:solidFill>
                <a:latin typeface="Archivo"/>
                <a:ea typeface="Archivo"/>
                <a:cs typeface="Archivo"/>
                <a:sym typeface="Archivo"/>
              </a:rPr>
              <a:t>Mercado Público y la pyme proveedora</a:t>
            </a:r>
            <a:endParaRPr b="0" i="0" sz="1950" u="none" cap="none" strike="noStrike">
              <a:solidFill>
                <a:schemeClr val="dk1"/>
              </a:solidFill>
              <a:latin typeface="Calibri"/>
              <a:ea typeface="Calibri"/>
              <a:cs typeface="Calibri"/>
              <a:sym typeface="Calibri"/>
            </a:endParaRPr>
          </a:p>
        </p:txBody>
      </p:sp>
      <p:sp>
        <p:nvSpPr>
          <p:cNvPr id="42" name="Google Shape;42;p4"/>
          <p:cNvSpPr/>
          <p:nvPr/>
        </p:nvSpPr>
        <p:spPr>
          <a:xfrm>
            <a:off x="838200" y="5541838"/>
            <a:ext cx="78867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838200" y="4302696"/>
            <a:ext cx="647700" cy="101054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2550"/>
              <a:buFont typeface="Archivo"/>
              <a:buNone/>
            </a:pPr>
            <a:r>
              <a:rPr b="1" i="0" lang="en-US" sz="2550" u="none" cap="none" strike="noStrike">
                <a:solidFill>
                  <a:srgbClr val="EC3013"/>
                </a:solidFill>
                <a:latin typeface="Archivo"/>
                <a:ea typeface="Archivo"/>
                <a:cs typeface="Archivo"/>
                <a:sym typeface="Archivo"/>
              </a:rPr>
              <a:t>02</a:t>
            </a:r>
            <a:endParaRPr b="0" i="0" sz="2550" u="none" cap="none" strike="noStrike">
              <a:solidFill>
                <a:schemeClr val="dk1"/>
              </a:solidFill>
              <a:latin typeface="Calibri"/>
              <a:ea typeface="Calibri"/>
              <a:cs typeface="Calibri"/>
              <a:sym typeface="Calibri"/>
            </a:endParaRPr>
          </a:p>
        </p:txBody>
      </p:sp>
      <p:sp>
        <p:nvSpPr>
          <p:cNvPr id="44" name="Google Shape;44;p4"/>
          <p:cNvSpPr/>
          <p:nvPr/>
        </p:nvSpPr>
        <p:spPr>
          <a:xfrm>
            <a:off x="1714500" y="4302696"/>
            <a:ext cx="2637711" cy="56956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201E1D"/>
              </a:buClr>
              <a:buSzPts val="2700"/>
              <a:buFont typeface="Archivo"/>
              <a:buNone/>
            </a:pPr>
            <a:r>
              <a:rPr b="1" i="0" lang="en-US" sz="2700" u="none" cap="none" strike="noStrike">
                <a:solidFill>
                  <a:srgbClr val="201E1D"/>
                </a:solidFill>
                <a:latin typeface="Archivo"/>
                <a:ea typeface="Archivo"/>
                <a:cs typeface="Archivo"/>
                <a:sym typeface="Archivo"/>
              </a:rPr>
              <a:t>La solución</a:t>
            </a:r>
            <a:endParaRPr b="0" i="0" sz="2700" u="none" cap="none" strike="noStrike">
              <a:solidFill>
                <a:schemeClr val="dk1"/>
              </a:solidFill>
              <a:latin typeface="Calibri"/>
              <a:ea typeface="Calibri"/>
              <a:cs typeface="Calibri"/>
              <a:sym typeface="Calibri"/>
            </a:endParaRPr>
          </a:p>
        </p:txBody>
      </p:sp>
      <p:sp>
        <p:nvSpPr>
          <p:cNvPr id="45" name="Google Shape;45;p4"/>
          <p:cNvSpPr/>
          <p:nvPr/>
        </p:nvSpPr>
        <p:spPr>
          <a:xfrm>
            <a:off x="1714500" y="4891311"/>
            <a:ext cx="2637711"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605D5D"/>
              </a:buClr>
              <a:buSzPts val="1950"/>
              <a:buFont typeface="Archivo"/>
              <a:buNone/>
            </a:pPr>
            <a:r>
              <a:rPr lang="en-US" sz="1950">
                <a:solidFill>
                  <a:srgbClr val="605D5D"/>
                </a:solidFill>
                <a:latin typeface="Archivo"/>
                <a:ea typeface="Archivo"/>
                <a:cs typeface="Archivo"/>
                <a:sym typeface="Archivo"/>
              </a:rPr>
              <a:t>Nuestra web app</a:t>
            </a:r>
            <a:endParaRPr b="0" i="0" sz="1950" u="none" cap="none" strike="noStrike">
              <a:solidFill>
                <a:schemeClr val="dk1"/>
              </a:solidFill>
              <a:latin typeface="Calibri"/>
              <a:ea typeface="Calibri"/>
              <a:cs typeface="Calibri"/>
              <a:sym typeface="Calibri"/>
            </a:endParaRPr>
          </a:p>
        </p:txBody>
      </p:sp>
      <p:sp>
        <p:nvSpPr>
          <p:cNvPr id="46" name="Google Shape;46;p4"/>
          <p:cNvSpPr/>
          <p:nvPr/>
        </p:nvSpPr>
        <p:spPr>
          <a:xfrm>
            <a:off x="838200" y="7057206"/>
            <a:ext cx="78867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838200" y="5818063"/>
            <a:ext cx="647700" cy="101054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2550"/>
              <a:buFont typeface="Archivo"/>
              <a:buNone/>
            </a:pPr>
            <a:r>
              <a:rPr b="1" i="0" lang="en-US" sz="2550" u="none" cap="none" strike="noStrike">
                <a:solidFill>
                  <a:srgbClr val="EC3013"/>
                </a:solidFill>
                <a:latin typeface="Archivo"/>
                <a:ea typeface="Archivo"/>
                <a:cs typeface="Archivo"/>
                <a:sym typeface="Archivo"/>
              </a:rPr>
              <a:t>03</a:t>
            </a:r>
            <a:endParaRPr b="0" i="0" sz="2550" u="none" cap="none" strike="noStrike">
              <a:solidFill>
                <a:schemeClr val="dk1"/>
              </a:solidFill>
              <a:latin typeface="Calibri"/>
              <a:ea typeface="Calibri"/>
              <a:cs typeface="Calibri"/>
              <a:sym typeface="Calibri"/>
            </a:endParaRPr>
          </a:p>
        </p:txBody>
      </p:sp>
      <p:sp>
        <p:nvSpPr>
          <p:cNvPr id="48" name="Google Shape;48;p4"/>
          <p:cNvSpPr/>
          <p:nvPr/>
        </p:nvSpPr>
        <p:spPr>
          <a:xfrm>
            <a:off x="1714500" y="5818063"/>
            <a:ext cx="4735748" cy="56956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201E1D"/>
              </a:buClr>
              <a:buSzPts val="2700"/>
              <a:buFont typeface="Archivo"/>
              <a:buNone/>
            </a:pPr>
            <a:r>
              <a:rPr b="1" i="0" lang="en-US" sz="2700" u="none" cap="none" strike="noStrike">
                <a:solidFill>
                  <a:srgbClr val="201E1D"/>
                </a:solidFill>
                <a:latin typeface="Archivo"/>
                <a:ea typeface="Archivo"/>
                <a:cs typeface="Archivo"/>
                <a:sym typeface="Archivo"/>
              </a:rPr>
              <a:t>Mockups de la aplicación</a:t>
            </a:r>
            <a:endParaRPr b="0" i="0" sz="2700" u="none" cap="none" strike="noStrike">
              <a:solidFill>
                <a:schemeClr val="dk1"/>
              </a:solidFill>
              <a:latin typeface="Calibri"/>
              <a:ea typeface="Calibri"/>
              <a:cs typeface="Calibri"/>
              <a:sym typeface="Calibri"/>
            </a:endParaRPr>
          </a:p>
        </p:txBody>
      </p:sp>
      <p:sp>
        <p:nvSpPr>
          <p:cNvPr id="49" name="Google Shape;49;p4"/>
          <p:cNvSpPr/>
          <p:nvPr/>
        </p:nvSpPr>
        <p:spPr>
          <a:xfrm>
            <a:off x="1714500" y="6406679"/>
            <a:ext cx="4735748"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605D5D"/>
              </a:buClr>
              <a:buSzPts val="1950"/>
              <a:buFont typeface="Archivo"/>
              <a:buNone/>
            </a:pPr>
            <a:r>
              <a:rPr b="0" i="0" lang="en-US" sz="1950" u="none" cap="none" strike="noStrike">
                <a:solidFill>
                  <a:srgbClr val="605D5D"/>
                </a:solidFill>
                <a:latin typeface="Archivo"/>
                <a:ea typeface="Archivo"/>
                <a:cs typeface="Archivo"/>
                <a:sym typeface="Archivo"/>
              </a:rPr>
              <a:t>Ocho pantallas, web y móvil</a:t>
            </a:r>
            <a:endParaRPr b="0" i="0" sz="1950" u="none" cap="none" strike="noStrike">
              <a:solidFill>
                <a:schemeClr val="dk1"/>
              </a:solidFill>
              <a:latin typeface="Calibri"/>
              <a:ea typeface="Calibri"/>
              <a:cs typeface="Calibri"/>
              <a:sym typeface="Calibri"/>
            </a:endParaRPr>
          </a:p>
        </p:txBody>
      </p:sp>
      <p:sp>
        <p:nvSpPr>
          <p:cNvPr id="50" name="Google Shape;50;p4"/>
          <p:cNvSpPr/>
          <p:nvPr/>
        </p:nvSpPr>
        <p:spPr>
          <a:xfrm>
            <a:off x="9563100" y="4026471"/>
            <a:ext cx="78867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9563100" y="2787328"/>
            <a:ext cx="647700" cy="101054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2550"/>
              <a:buFont typeface="Archivo"/>
              <a:buNone/>
            </a:pPr>
            <a:r>
              <a:rPr b="1" i="0" lang="en-US" sz="2550" u="none" cap="none" strike="noStrike">
                <a:solidFill>
                  <a:srgbClr val="EC3013"/>
                </a:solidFill>
                <a:latin typeface="Archivo"/>
                <a:ea typeface="Archivo"/>
                <a:cs typeface="Archivo"/>
                <a:sym typeface="Archivo"/>
              </a:rPr>
              <a:t>04</a:t>
            </a:r>
            <a:endParaRPr b="0" i="0" sz="2550" u="none" cap="none" strike="noStrike">
              <a:solidFill>
                <a:schemeClr val="dk1"/>
              </a:solidFill>
              <a:latin typeface="Calibri"/>
              <a:ea typeface="Calibri"/>
              <a:cs typeface="Calibri"/>
              <a:sym typeface="Calibri"/>
            </a:endParaRPr>
          </a:p>
        </p:txBody>
      </p:sp>
      <p:sp>
        <p:nvSpPr>
          <p:cNvPr id="52" name="Google Shape;52;p4"/>
          <p:cNvSpPr/>
          <p:nvPr/>
        </p:nvSpPr>
        <p:spPr>
          <a:xfrm>
            <a:off x="10439400" y="2787328"/>
            <a:ext cx="3226251" cy="56956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201E1D"/>
              </a:buClr>
              <a:buSzPts val="2700"/>
              <a:buFont typeface="Archivo"/>
              <a:buNone/>
            </a:pPr>
            <a:r>
              <a:rPr b="1" i="0" lang="en-US" sz="2700" u="none" cap="none" strike="noStrike">
                <a:solidFill>
                  <a:srgbClr val="201E1D"/>
                </a:solidFill>
                <a:latin typeface="Archivo"/>
                <a:ea typeface="Archivo"/>
                <a:cs typeface="Archivo"/>
                <a:sym typeface="Archivo"/>
              </a:rPr>
              <a:t>Arquitectura e IA</a:t>
            </a:r>
            <a:endParaRPr b="0" i="0" sz="2700" u="none" cap="none" strike="noStrike">
              <a:solidFill>
                <a:schemeClr val="dk1"/>
              </a:solidFill>
              <a:latin typeface="Calibri"/>
              <a:ea typeface="Calibri"/>
              <a:cs typeface="Calibri"/>
              <a:sym typeface="Calibri"/>
            </a:endParaRPr>
          </a:p>
        </p:txBody>
      </p:sp>
      <p:sp>
        <p:nvSpPr>
          <p:cNvPr id="53" name="Google Shape;53;p4"/>
          <p:cNvSpPr/>
          <p:nvPr/>
        </p:nvSpPr>
        <p:spPr>
          <a:xfrm>
            <a:off x="10439400" y="3375943"/>
            <a:ext cx="3226251"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605D5D"/>
              </a:buClr>
              <a:buSzPts val="1950"/>
              <a:buFont typeface="Archivo"/>
              <a:buNone/>
            </a:pPr>
            <a:r>
              <a:rPr b="0" i="0" lang="en-US" sz="1950" u="none" cap="none" strike="noStrike">
                <a:solidFill>
                  <a:srgbClr val="605D5D"/>
                </a:solidFill>
                <a:latin typeface="Archivo"/>
                <a:ea typeface="Archivo"/>
                <a:cs typeface="Archivo"/>
                <a:sym typeface="Archivo"/>
              </a:rPr>
              <a:t>Cuatro módulos en la nube</a:t>
            </a:r>
            <a:endParaRPr b="0" i="0" sz="1950" u="none" cap="none" strike="noStrike">
              <a:solidFill>
                <a:schemeClr val="dk1"/>
              </a:solidFill>
              <a:latin typeface="Calibri"/>
              <a:ea typeface="Calibri"/>
              <a:cs typeface="Calibri"/>
              <a:sym typeface="Calibri"/>
            </a:endParaRPr>
          </a:p>
        </p:txBody>
      </p:sp>
      <p:sp>
        <p:nvSpPr>
          <p:cNvPr id="54" name="Google Shape;54;p4"/>
          <p:cNvSpPr/>
          <p:nvPr/>
        </p:nvSpPr>
        <p:spPr>
          <a:xfrm>
            <a:off x="9563100" y="5541838"/>
            <a:ext cx="78867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a:off x="9563100" y="4302696"/>
            <a:ext cx="647700" cy="101054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2550"/>
              <a:buFont typeface="Archivo"/>
              <a:buNone/>
            </a:pPr>
            <a:r>
              <a:rPr b="1" i="0" lang="en-US" sz="2550" u="none" cap="none" strike="noStrike">
                <a:solidFill>
                  <a:srgbClr val="EC3013"/>
                </a:solidFill>
                <a:latin typeface="Archivo"/>
                <a:ea typeface="Archivo"/>
                <a:cs typeface="Archivo"/>
                <a:sym typeface="Archivo"/>
              </a:rPr>
              <a:t>05</a:t>
            </a:r>
            <a:endParaRPr b="0" i="0" sz="2550" u="none" cap="none" strike="noStrike">
              <a:solidFill>
                <a:schemeClr val="dk1"/>
              </a:solidFill>
              <a:latin typeface="Calibri"/>
              <a:ea typeface="Calibri"/>
              <a:cs typeface="Calibri"/>
              <a:sym typeface="Calibri"/>
            </a:endParaRPr>
          </a:p>
        </p:txBody>
      </p:sp>
      <p:sp>
        <p:nvSpPr>
          <p:cNvPr id="56" name="Google Shape;56;p4"/>
          <p:cNvSpPr/>
          <p:nvPr/>
        </p:nvSpPr>
        <p:spPr>
          <a:xfrm>
            <a:off x="10439400" y="4302696"/>
            <a:ext cx="4550427" cy="56956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201E1D"/>
              </a:buClr>
              <a:buSzPts val="2700"/>
              <a:buFont typeface="Archivo"/>
              <a:buNone/>
            </a:pPr>
            <a:r>
              <a:rPr b="1" i="0" lang="en-US" sz="2700" u="none" cap="none" strike="noStrike">
                <a:solidFill>
                  <a:srgbClr val="201E1D"/>
                </a:solidFill>
                <a:latin typeface="Archivo"/>
                <a:ea typeface="Archivo"/>
                <a:cs typeface="Archivo"/>
                <a:sym typeface="Archivo"/>
              </a:rPr>
              <a:t>Objetivos y metodología</a:t>
            </a:r>
            <a:endParaRPr b="0" i="0" sz="2700" u="none" cap="none" strike="noStrike">
              <a:solidFill>
                <a:schemeClr val="dk1"/>
              </a:solidFill>
              <a:latin typeface="Calibri"/>
              <a:ea typeface="Calibri"/>
              <a:cs typeface="Calibri"/>
              <a:sym typeface="Calibri"/>
            </a:endParaRPr>
          </a:p>
        </p:txBody>
      </p:sp>
      <p:sp>
        <p:nvSpPr>
          <p:cNvPr id="57" name="Google Shape;57;p4"/>
          <p:cNvSpPr/>
          <p:nvPr/>
        </p:nvSpPr>
        <p:spPr>
          <a:xfrm>
            <a:off x="10439400" y="4891311"/>
            <a:ext cx="4550427"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605D5D"/>
              </a:buClr>
              <a:buSzPts val="1950"/>
              <a:buFont typeface="Archivo"/>
              <a:buNone/>
            </a:pPr>
            <a:r>
              <a:rPr b="0" i="0" lang="en-US" sz="1950" u="none" cap="none" strike="noStrike">
                <a:solidFill>
                  <a:srgbClr val="605D5D"/>
                </a:solidFill>
                <a:latin typeface="Archivo"/>
                <a:ea typeface="Archivo"/>
                <a:cs typeface="Archivo"/>
                <a:sym typeface="Archivo"/>
              </a:rPr>
              <a:t>Alcance del MVP</a:t>
            </a:r>
            <a:endParaRPr b="0" i="0" sz="1950" u="none" cap="none" strike="noStrike">
              <a:solidFill>
                <a:schemeClr val="dk1"/>
              </a:solidFill>
              <a:latin typeface="Calibri"/>
              <a:ea typeface="Calibri"/>
              <a:cs typeface="Calibri"/>
              <a:sym typeface="Calibri"/>
            </a:endParaRPr>
          </a:p>
        </p:txBody>
      </p:sp>
      <p:sp>
        <p:nvSpPr>
          <p:cNvPr id="58" name="Google Shape;58;p4"/>
          <p:cNvSpPr/>
          <p:nvPr/>
        </p:nvSpPr>
        <p:spPr>
          <a:xfrm>
            <a:off x="9563100" y="7057206"/>
            <a:ext cx="78867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9563100" y="5818063"/>
            <a:ext cx="647700" cy="101054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2550"/>
              <a:buFont typeface="Archivo"/>
              <a:buNone/>
            </a:pPr>
            <a:r>
              <a:rPr b="1" i="0" lang="en-US" sz="2550" u="none" cap="none" strike="noStrike">
                <a:solidFill>
                  <a:srgbClr val="EC3013"/>
                </a:solidFill>
                <a:latin typeface="Archivo"/>
                <a:ea typeface="Archivo"/>
                <a:cs typeface="Archivo"/>
                <a:sym typeface="Archivo"/>
              </a:rPr>
              <a:t>06</a:t>
            </a:r>
            <a:endParaRPr b="0" i="0" sz="2550" u="none" cap="none" strike="noStrike">
              <a:solidFill>
                <a:schemeClr val="dk1"/>
              </a:solidFill>
              <a:latin typeface="Calibri"/>
              <a:ea typeface="Calibri"/>
              <a:cs typeface="Calibri"/>
              <a:sym typeface="Calibri"/>
            </a:endParaRPr>
          </a:p>
        </p:txBody>
      </p:sp>
      <p:sp>
        <p:nvSpPr>
          <p:cNvPr id="60" name="Google Shape;60;p4"/>
          <p:cNvSpPr/>
          <p:nvPr/>
        </p:nvSpPr>
        <p:spPr>
          <a:xfrm>
            <a:off x="10439400" y="5818063"/>
            <a:ext cx="5284262" cy="56956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201E1D"/>
              </a:buClr>
              <a:buSzPts val="2700"/>
              <a:buFont typeface="Archivo"/>
              <a:buNone/>
            </a:pPr>
            <a:r>
              <a:rPr b="1" i="0" lang="en-US" sz="2700" u="none" cap="none" strike="noStrike">
                <a:solidFill>
                  <a:srgbClr val="201E1D"/>
                </a:solidFill>
                <a:latin typeface="Archivo"/>
                <a:ea typeface="Archivo"/>
                <a:cs typeface="Archivo"/>
                <a:sym typeface="Archivo"/>
              </a:rPr>
              <a:t>Plan de trabajo y factibilidad</a:t>
            </a:r>
            <a:endParaRPr b="0" i="0" sz="2700" u="none" cap="none" strike="noStrike">
              <a:solidFill>
                <a:schemeClr val="dk1"/>
              </a:solidFill>
              <a:latin typeface="Calibri"/>
              <a:ea typeface="Calibri"/>
              <a:cs typeface="Calibri"/>
              <a:sym typeface="Calibri"/>
            </a:endParaRPr>
          </a:p>
        </p:txBody>
      </p:sp>
      <p:sp>
        <p:nvSpPr>
          <p:cNvPr id="61" name="Google Shape;61;p4"/>
          <p:cNvSpPr/>
          <p:nvPr/>
        </p:nvSpPr>
        <p:spPr>
          <a:xfrm>
            <a:off x="10439400" y="6406679"/>
            <a:ext cx="5284262"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605D5D"/>
              </a:buClr>
              <a:buSzPts val="1950"/>
              <a:buFont typeface="Archivo"/>
              <a:buNone/>
            </a:pPr>
            <a:r>
              <a:rPr b="0" i="0" lang="en-US" sz="1950" u="none" cap="none" strike="noStrike">
                <a:solidFill>
                  <a:srgbClr val="605D5D"/>
                </a:solidFill>
                <a:latin typeface="Archivo"/>
                <a:ea typeface="Archivo"/>
                <a:cs typeface="Archivo"/>
                <a:sym typeface="Archivo"/>
              </a:rPr>
              <a:t>18 semanas, riesgos y costos</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66" name="Shape 66"/>
        <p:cNvGrpSpPr/>
        <p:nvPr/>
      </p:nvGrpSpPr>
      <p:grpSpPr>
        <a:xfrm>
          <a:off x="0" y="0"/>
          <a:ext cx="0" cy="0"/>
          <a:chOff x="0" y="0"/>
          <a:chExt cx="0" cy="0"/>
        </a:xfrm>
      </p:grpSpPr>
      <p:sp>
        <p:nvSpPr>
          <p:cNvPr id="67" name="Google Shape;67;p5"/>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01 · PROBLEMA Y OPORTUNIDAD</a:t>
            </a:r>
            <a:endParaRPr b="0" i="0" sz="1950" u="none" cap="none" strike="noStrike">
              <a:solidFill>
                <a:schemeClr val="dk1"/>
              </a:solidFill>
              <a:latin typeface="Calibri"/>
              <a:ea typeface="Calibri"/>
              <a:cs typeface="Calibri"/>
              <a:sym typeface="Calibri"/>
            </a:endParaRPr>
          </a:p>
        </p:txBody>
      </p:sp>
      <p:sp>
        <p:nvSpPr>
          <p:cNvPr id="68" name="Google Shape;68;p5"/>
          <p:cNvSpPr/>
          <p:nvPr/>
        </p:nvSpPr>
        <p:spPr>
          <a:xfrm>
            <a:off x="838200" y="1238250"/>
            <a:ext cx="18272760" cy="691828"/>
          </a:xfrm>
          <a:prstGeom prst="rect">
            <a:avLst/>
          </a:prstGeom>
          <a:noFill/>
          <a:ln>
            <a:noFill/>
          </a:ln>
        </p:spPr>
        <p:txBody>
          <a:bodyPr anchorCtr="0" anchor="t" bIns="25400" lIns="25400" spcFirstLastPara="1" rIns="25400" wrap="square" tIns="25400">
            <a:noAutofit/>
          </a:bodyPr>
          <a:lstStyle/>
          <a:p>
            <a:pPr indent="0" lvl="0" marL="0" marR="0" rtl="0" algn="l">
              <a:lnSpc>
                <a:spcPct val="95333"/>
              </a:lnSpc>
              <a:spcBef>
                <a:spcPts val="0"/>
              </a:spcBef>
              <a:spcAft>
                <a:spcPts val="0"/>
              </a:spcAft>
              <a:buClr>
                <a:srgbClr val="201E1D"/>
              </a:buClr>
              <a:buSzPts val="4950"/>
              <a:buFont typeface="Archivo"/>
              <a:buNone/>
            </a:pPr>
            <a:r>
              <a:rPr b="1" i="0" lang="en-US" sz="4950" u="none" cap="none" strike="noStrike">
                <a:solidFill>
                  <a:srgbClr val="201E1D"/>
                </a:solidFill>
                <a:latin typeface="Archivo"/>
                <a:ea typeface="Archivo"/>
                <a:cs typeface="Archivo"/>
                <a:sym typeface="Archivo"/>
              </a:rPr>
              <a:t>Mercado Público en cifras</a:t>
            </a:r>
            <a:endParaRPr b="0" i="0" sz="4950" u="none" cap="none" strike="noStrike">
              <a:solidFill>
                <a:schemeClr val="dk1"/>
              </a:solidFill>
              <a:latin typeface="Calibri"/>
              <a:ea typeface="Calibri"/>
              <a:cs typeface="Calibri"/>
              <a:sym typeface="Calibri"/>
            </a:endParaRPr>
          </a:p>
        </p:txBody>
      </p:sp>
      <p:sp>
        <p:nvSpPr>
          <p:cNvPr id="69" name="Google Shape;69;p5"/>
          <p:cNvSpPr/>
          <p:nvPr/>
        </p:nvSpPr>
        <p:spPr>
          <a:xfrm>
            <a:off x="838200" y="2196778"/>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4972050" y="2520628"/>
            <a:ext cx="19050" cy="642148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838200" y="2977828"/>
            <a:ext cx="4128135" cy="929580"/>
          </a:xfrm>
          <a:prstGeom prst="rect">
            <a:avLst/>
          </a:prstGeom>
          <a:noFill/>
          <a:ln>
            <a:noFill/>
          </a:ln>
        </p:spPr>
        <p:txBody>
          <a:bodyPr anchorCtr="0" anchor="t" bIns="25400" lIns="25400" spcFirstLastPara="1" rIns="25400" wrap="square" tIns="25400">
            <a:noAutofit/>
          </a:bodyPr>
          <a:lstStyle/>
          <a:p>
            <a:pPr indent="0" lvl="0" marL="0" marR="0" rtl="0" algn="l">
              <a:lnSpc>
                <a:spcPct val="82467"/>
              </a:lnSpc>
              <a:spcBef>
                <a:spcPts val="0"/>
              </a:spcBef>
              <a:spcAft>
                <a:spcPts val="0"/>
              </a:spcAft>
              <a:buClr>
                <a:srgbClr val="EC3013"/>
              </a:buClr>
              <a:buSzPts val="7800"/>
              <a:buFont typeface="Archivo"/>
              <a:buNone/>
            </a:pPr>
            <a:r>
              <a:rPr b="1" i="0" lang="en-US" sz="7800" u="none" cap="none" strike="noStrike">
                <a:solidFill>
                  <a:srgbClr val="EC3013"/>
                </a:solidFill>
                <a:latin typeface="Archivo"/>
                <a:ea typeface="Archivo"/>
                <a:cs typeface="Archivo"/>
                <a:sym typeface="Archivo"/>
              </a:rPr>
              <a:t>150K</a:t>
            </a:r>
            <a:endParaRPr b="0" i="0" sz="7800" u="none" cap="none" strike="noStrike">
              <a:solidFill>
                <a:schemeClr val="dk1"/>
              </a:solidFill>
              <a:latin typeface="Calibri"/>
              <a:ea typeface="Calibri"/>
              <a:cs typeface="Calibri"/>
              <a:sym typeface="Calibri"/>
            </a:endParaRPr>
          </a:p>
        </p:txBody>
      </p:sp>
      <p:sp>
        <p:nvSpPr>
          <p:cNvPr id="72" name="Google Shape;72;p5"/>
          <p:cNvSpPr/>
          <p:nvPr/>
        </p:nvSpPr>
        <p:spPr>
          <a:xfrm>
            <a:off x="838200" y="4040758"/>
            <a:ext cx="3865436" cy="809625"/>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licitaciones publicadas por el Estado cada año</a:t>
            </a:r>
            <a:endParaRPr b="0" i="0" sz="2250" u="none" cap="none" strike="noStrike">
              <a:solidFill>
                <a:schemeClr val="dk1"/>
              </a:solidFill>
              <a:latin typeface="Calibri"/>
              <a:ea typeface="Calibri"/>
              <a:cs typeface="Calibri"/>
              <a:sym typeface="Calibri"/>
            </a:endParaRPr>
          </a:p>
        </p:txBody>
      </p:sp>
      <p:sp>
        <p:nvSpPr>
          <p:cNvPr id="73" name="Google Shape;73;p5"/>
          <p:cNvSpPr/>
          <p:nvPr/>
        </p:nvSpPr>
        <p:spPr>
          <a:xfrm>
            <a:off x="9124950" y="2520628"/>
            <a:ext cx="19050" cy="642148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5372100" y="2977828"/>
            <a:ext cx="3709035" cy="929580"/>
          </a:xfrm>
          <a:prstGeom prst="rect">
            <a:avLst/>
          </a:prstGeom>
          <a:noFill/>
          <a:ln>
            <a:noFill/>
          </a:ln>
        </p:spPr>
        <p:txBody>
          <a:bodyPr anchorCtr="0" anchor="t" bIns="25400" lIns="25400" spcFirstLastPara="1" rIns="25400" wrap="square" tIns="25400">
            <a:noAutofit/>
          </a:bodyPr>
          <a:lstStyle/>
          <a:p>
            <a:pPr indent="0" lvl="0" marL="0" marR="0" rtl="0" algn="l">
              <a:lnSpc>
                <a:spcPct val="82467"/>
              </a:lnSpc>
              <a:spcBef>
                <a:spcPts val="0"/>
              </a:spcBef>
              <a:spcAft>
                <a:spcPts val="0"/>
              </a:spcAft>
              <a:buClr>
                <a:srgbClr val="EC3013"/>
              </a:buClr>
              <a:buSzPts val="7800"/>
              <a:buFont typeface="Archivo"/>
              <a:buNone/>
            </a:pPr>
            <a:r>
              <a:rPr b="1" i="0" lang="en-US" sz="7800" u="none" cap="none" strike="noStrike">
                <a:solidFill>
                  <a:srgbClr val="EC3013"/>
                </a:solidFill>
                <a:latin typeface="Archivo"/>
                <a:ea typeface="Archivo"/>
                <a:cs typeface="Archivo"/>
                <a:sym typeface="Archivo"/>
              </a:rPr>
              <a:t>500K</a:t>
            </a:r>
            <a:endParaRPr b="0" i="0" sz="7800" u="none" cap="none" strike="noStrike">
              <a:solidFill>
                <a:schemeClr val="dk1"/>
              </a:solidFill>
              <a:latin typeface="Calibri"/>
              <a:ea typeface="Calibri"/>
              <a:cs typeface="Calibri"/>
              <a:sym typeface="Calibri"/>
            </a:endParaRPr>
          </a:p>
        </p:txBody>
      </p:sp>
      <p:sp>
        <p:nvSpPr>
          <p:cNvPr id="75" name="Google Shape;75;p5"/>
          <p:cNvSpPr/>
          <p:nvPr/>
        </p:nvSpPr>
        <p:spPr>
          <a:xfrm>
            <a:off x="5372100" y="4040758"/>
            <a:ext cx="3473006" cy="809625"/>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órdenes de compra anuales en la plataforma</a:t>
            </a:r>
            <a:endParaRPr b="0" i="0" sz="2250" u="none" cap="none" strike="noStrike">
              <a:solidFill>
                <a:schemeClr val="dk1"/>
              </a:solidFill>
              <a:latin typeface="Calibri"/>
              <a:ea typeface="Calibri"/>
              <a:cs typeface="Calibri"/>
              <a:sym typeface="Calibri"/>
            </a:endParaRPr>
          </a:p>
        </p:txBody>
      </p:sp>
      <p:sp>
        <p:nvSpPr>
          <p:cNvPr id="76" name="Google Shape;76;p5"/>
          <p:cNvSpPr/>
          <p:nvPr/>
        </p:nvSpPr>
        <p:spPr>
          <a:xfrm>
            <a:off x="13277850" y="2520628"/>
            <a:ext cx="19050" cy="642148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9525000" y="2977828"/>
            <a:ext cx="3709035" cy="929580"/>
          </a:xfrm>
          <a:prstGeom prst="rect">
            <a:avLst/>
          </a:prstGeom>
          <a:noFill/>
          <a:ln>
            <a:noFill/>
          </a:ln>
        </p:spPr>
        <p:txBody>
          <a:bodyPr anchorCtr="0" anchor="t" bIns="25400" lIns="25400" spcFirstLastPara="1" rIns="25400" wrap="square" tIns="25400">
            <a:noAutofit/>
          </a:bodyPr>
          <a:lstStyle/>
          <a:p>
            <a:pPr indent="0" lvl="0" marL="0" marR="0" rtl="0" algn="l">
              <a:lnSpc>
                <a:spcPct val="82467"/>
              </a:lnSpc>
              <a:spcBef>
                <a:spcPts val="0"/>
              </a:spcBef>
              <a:spcAft>
                <a:spcPts val="0"/>
              </a:spcAft>
              <a:buClr>
                <a:srgbClr val="EC3013"/>
              </a:buClr>
              <a:buSzPts val="7800"/>
              <a:buFont typeface="Archivo"/>
              <a:buNone/>
            </a:pPr>
            <a:r>
              <a:rPr b="1" i="0" lang="en-US" sz="7800" u="none" cap="none" strike="noStrike">
                <a:solidFill>
                  <a:srgbClr val="EC3013"/>
                </a:solidFill>
                <a:latin typeface="Archivo"/>
                <a:ea typeface="Archivo"/>
                <a:cs typeface="Archivo"/>
                <a:sym typeface="Archivo"/>
              </a:rPr>
              <a:t>83%</a:t>
            </a:r>
            <a:endParaRPr b="0" i="0" sz="7800" u="none" cap="none" strike="noStrike">
              <a:solidFill>
                <a:schemeClr val="dk1"/>
              </a:solidFill>
              <a:latin typeface="Calibri"/>
              <a:ea typeface="Calibri"/>
              <a:cs typeface="Calibri"/>
              <a:sym typeface="Calibri"/>
            </a:endParaRPr>
          </a:p>
        </p:txBody>
      </p:sp>
      <p:sp>
        <p:nvSpPr>
          <p:cNvPr id="78" name="Google Shape;78;p5"/>
          <p:cNvSpPr/>
          <p:nvPr/>
        </p:nvSpPr>
        <p:spPr>
          <a:xfrm>
            <a:off x="9525000" y="4040758"/>
            <a:ext cx="3473006" cy="809625"/>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de los proveedores registrados son mipymes</a:t>
            </a:r>
            <a:endParaRPr b="0" i="0" sz="2250" u="none" cap="none" strike="noStrike">
              <a:solidFill>
                <a:schemeClr val="dk1"/>
              </a:solidFill>
              <a:latin typeface="Calibri"/>
              <a:ea typeface="Calibri"/>
              <a:cs typeface="Calibri"/>
              <a:sym typeface="Calibri"/>
            </a:endParaRPr>
          </a:p>
        </p:txBody>
      </p:sp>
      <p:sp>
        <p:nvSpPr>
          <p:cNvPr id="79" name="Google Shape;79;p5"/>
          <p:cNvSpPr/>
          <p:nvPr/>
        </p:nvSpPr>
        <p:spPr>
          <a:xfrm>
            <a:off x="13677900" y="2977828"/>
            <a:ext cx="4149090" cy="929580"/>
          </a:xfrm>
          <a:prstGeom prst="rect">
            <a:avLst/>
          </a:prstGeom>
          <a:noFill/>
          <a:ln>
            <a:noFill/>
          </a:ln>
        </p:spPr>
        <p:txBody>
          <a:bodyPr anchorCtr="0" anchor="t" bIns="25400" lIns="25400" spcFirstLastPara="1" rIns="25400" wrap="square" tIns="25400">
            <a:noAutofit/>
          </a:bodyPr>
          <a:lstStyle/>
          <a:p>
            <a:pPr indent="0" lvl="0" marL="0" marR="0" rtl="0" algn="l">
              <a:lnSpc>
                <a:spcPct val="82467"/>
              </a:lnSpc>
              <a:spcBef>
                <a:spcPts val="0"/>
              </a:spcBef>
              <a:spcAft>
                <a:spcPts val="0"/>
              </a:spcAft>
              <a:buClr>
                <a:srgbClr val="EC3013"/>
              </a:buClr>
              <a:buSzPts val="7800"/>
              <a:buFont typeface="Archivo"/>
              <a:buNone/>
            </a:pPr>
            <a:r>
              <a:rPr b="1" i="0" lang="en-US" sz="7800" u="none" cap="none" strike="noStrike">
                <a:solidFill>
                  <a:srgbClr val="EC3013"/>
                </a:solidFill>
                <a:latin typeface="Archivo"/>
                <a:ea typeface="Archivo"/>
                <a:cs typeface="Archivo"/>
                <a:sym typeface="Archivo"/>
              </a:rPr>
              <a:t>+81,5%</a:t>
            </a:r>
            <a:endParaRPr b="0" i="0" sz="7800" u="none" cap="none" strike="noStrike">
              <a:solidFill>
                <a:schemeClr val="dk1"/>
              </a:solidFill>
              <a:latin typeface="Calibri"/>
              <a:ea typeface="Calibri"/>
              <a:cs typeface="Calibri"/>
              <a:sym typeface="Calibri"/>
            </a:endParaRPr>
          </a:p>
        </p:txBody>
      </p:sp>
      <p:sp>
        <p:nvSpPr>
          <p:cNvPr id="80" name="Google Shape;80;p5"/>
          <p:cNvSpPr/>
          <p:nvPr/>
        </p:nvSpPr>
        <p:spPr>
          <a:xfrm>
            <a:off x="13677900" y="4040758"/>
            <a:ext cx="3885057" cy="809625"/>
          </a:xfrm>
          <a:prstGeom prst="rect">
            <a:avLst/>
          </a:prstGeom>
          <a:noFill/>
          <a:ln>
            <a:noFill/>
          </a:ln>
        </p:spPr>
        <p:txBody>
          <a:bodyPr anchorCtr="0" anchor="t" bIns="25400" lIns="25400" spcFirstLastPara="1" rIns="25400" wrap="square" tIns="25400">
            <a:noAutofit/>
          </a:bodyPr>
          <a:lstStyle/>
          <a:p>
            <a:pPr indent="0" lvl="0" marL="0" marR="0" rtl="0" algn="l">
              <a:lnSpc>
                <a:spcPct val="122727"/>
              </a:lnSpc>
              <a:spcBef>
                <a:spcPts val="0"/>
              </a:spcBef>
              <a:spcAft>
                <a:spcPts val="0"/>
              </a:spcAft>
              <a:buClr>
                <a:srgbClr val="201E1D"/>
              </a:buClr>
              <a:buSzPts val="2250"/>
              <a:buFont typeface="Archivo"/>
              <a:buNone/>
            </a:pPr>
            <a:r>
              <a:rPr b="0" i="0" lang="en-US" sz="2250" u="none" cap="none" strike="noStrike">
                <a:solidFill>
                  <a:srgbClr val="201E1D"/>
                </a:solidFill>
                <a:latin typeface="Archivo"/>
                <a:ea typeface="Archivo"/>
                <a:cs typeface="Archivo"/>
                <a:sym typeface="Archivo"/>
              </a:rPr>
              <a:t>crecieron las transacciones de Compra Ágil en 2025</a:t>
            </a:r>
            <a:endParaRPr b="0" i="0" sz="2250" u="none" cap="none" strike="noStrike">
              <a:solidFill>
                <a:schemeClr val="dk1"/>
              </a:solidFill>
              <a:latin typeface="Calibri"/>
              <a:ea typeface="Calibri"/>
              <a:cs typeface="Calibri"/>
              <a:sym typeface="Calibri"/>
            </a:endParaRPr>
          </a:p>
        </p:txBody>
      </p:sp>
      <p:sp>
        <p:nvSpPr>
          <p:cNvPr id="81" name="Google Shape;81;p5"/>
          <p:cNvSpPr/>
          <p:nvPr/>
        </p:nvSpPr>
        <p:spPr>
          <a:xfrm>
            <a:off x="838200" y="9246915"/>
            <a:ext cx="1827276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Fuente: ChileCompra / Mercado Público.</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86" name="Shape 86"/>
        <p:cNvGrpSpPr/>
        <p:nvPr/>
      </p:nvGrpSpPr>
      <p:grpSpPr>
        <a:xfrm>
          <a:off x="0" y="0"/>
          <a:ext cx="0" cy="0"/>
          <a:chOff x="0" y="0"/>
          <a:chExt cx="0" cy="0"/>
        </a:xfrm>
      </p:grpSpPr>
      <p:sp>
        <p:nvSpPr>
          <p:cNvPr id="87" name="Google Shape;87;p6"/>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01 · PROBLEMA Y OPORTUNIDAD</a:t>
            </a:r>
            <a:endParaRPr b="0" i="0" sz="1950" u="none" cap="none" strike="noStrike">
              <a:solidFill>
                <a:schemeClr val="dk1"/>
              </a:solidFill>
              <a:latin typeface="Calibri"/>
              <a:ea typeface="Calibri"/>
              <a:cs typeface="Calibri"/>
              <a:sym typeface="Calibri"/>
            </a:endParaRPr>
          </a:p>
        </p:txBody>
      </p:sp>
      <p:sp>
        <p:nvSpPr>
          <p:cNvPr id="88" name="Google Shape;88;p6"/>
          <p:cNvSpPr/>
          <p:nvPr/>
        </p:nvSpPr>
        <p:spPr>
          <a:xfrm>
            <a:off x="838200" y="1238250"/>
            <a:ext cx="18272760" cy="691828"/>
          </a:xfrm>
          <a:prstGeom prst="rect">
            <a:avLst/>
          </a:prstGeom>
          <a:noFill/>
          <a:ln>
            <a:noFill/>
          </a:ln>
        </p:spPr>
        <p:txBody>
          <a:bodyPr anchorCtr="0" anchor="t" bIns="25400" lIns="25400" spcFirstLastPara="1" rIns="25400" wrap="square" tIns="25400">
            <a:noAutofit/>
          </a:bodyPr>
          <a:lstStyle/>
          <a:p>
            <a:pPr indent="0" lvl="0" marL="0" marR="0" rtl="0" algn="l">
              <a:lnSpc>
                <a:spcPct val="95333"/>
              </a:lnSpc>
              <a:spcBef>
                <a:spcPts val="0"/>
              </a:spcBef>
              <a:spcAft>
                <a:spcPts val="0"/>
              </a:spcAft>
              <a:buClr>
                <a:srgbClr val="201E1D"/>
              </a:buClr>
              <a:buSzPts val="4950"/>
              <a:buFont typeface="Archivo"/>
              <a:buNone/>
            </a:pPr>
            <a:r>
              <a:rPr b="1" i="0" lang="en-US" sz="4950" u="none" cap="none" strike="noStrike">
                <a:solidFill>
                  <a:srgbClr val="201E1D"/>
                </a:solidFill>
                <a:latin typeface="Archivo"/>
                <a:ea typeface="Archivo"/>
                <a:cs typeface="Archivo"/>
                <a:sym typeface="Archivo"/>
              </a:rPr>
              <a:t>La plataforma no avisa: hay que ir a buscar</a:t>
            </a:r>
            <a:endParaRPr b="0" i="0" sz="4950" u="none" cap="none" strike="noStrike">
              <a:solidFill>
                <a:schemeClr val="dk1"/>
              </a:solidFill>
              <a:latin typeface="Calibri"/>
              <a:ea typeface="Calibri"/>
              <a:cs typeface="Calibri"/>
              <a:sym typeface="Calibri"/>
            </a:endParaRPr>
          </a:p>
        </p:txBody>
      </p:sp>
      <p:sp>
        <p:nvSpPr>
          <p:cNvPr id="89" name="Google Shape;89;p6"/>
          <p:cNvSpPr/>
          <p:nvPr/>
        </p:nvSpPr>
        <p:spPr>
          <a:xfrm>
            <a:off x="838200" y="2196778"/>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838200" y="2673025"/>
            <a:ext cx="1875300" cy="1691700"/>
          </a:xfrm>
          <a:prstGeom prst="rect">
            <a:avLst/>
          </a:prstGeom>
          <a:noFill/>
          <a:ln>
            <a:noFill/>
          </a:ln>
        </p:spPr>
        <p:txBody>
          <a:bodyPr anchorCtr="0" anchor="t" bIns="25400" lIns="25400" spcFirstLastPara="1" rIns="25400" wrap="square" tIns="25400">
            <a:noAutofit/>
          </a:bodyPr>
          <a:lstStyle/>
          <a:p>
            <a:pPr indent="0" lvl="0" marL="0" marR="0" rtl="0" algn="l">
              <a:lnSpc>
                <a:spcPct val="142295"/>
              </a:lnSpc>
              <a:spcBef>
                <a:spcPts val="0"/>
              </a:spcBef>
              <a:spcAft>
                <a:spcPts val="0"/>
              </a:spcAft>
              <a:buClr>
                <a:srgbClr val="EC3013"/>
              </a:buClr>
              <a:buSzPts val="4200"/>
              <a:buFont typeface="Archivo"/>
              <a:buNone/>
            </a:pPr>
            <a:r>
              <a:rPr b="1" lang="en-US" sz="4200">
                <a:solidFill>
                  <a:srgbClr val="EC3013"/>
                </a:solidFill>
                <a:latin typeface="Archivo"/>
                <a:ea typeface="Archivo"/>
                <a:cs typeface="Archivo"/>
                <a:sym typeface="Archivo"/>
              </a:rPr>
              <a:t>3</a:t>
            </a:r>
            <a:r>
              <a:rPr b="1" i="0" lang="en-US" sz="4200" u="none" cap="none" strike="noStrike">
                <a:solidFill>
                  <a:srgbClr val="EC3013"/>
                </a:solidFill>
                <a:latin typeface="Archivo"/>
                <a:ea typeface="Archivo"/>
                <a:cs typeface="Archivo"/>
                <a:sym typeface="Archivo"/>
              </a:rPr>
              <a:t> h</a:t>
            </a:r>
            <a:endParaRPr b="0" i="0" sz="4200" u="none" cap="none" strike="noStrike">
              <a:solidFill>
                <a:schemeClr val="dk1"/>
              </a:solidFill>
              <a:latin typeface="Calibri"/>
              <a:ea typeface="Calibri"/>
              <a:cs typeface="Calibri"/>
              <a:sym typeface="Calibri"/>
            </a:endParaRPr>
          </a:p>
        </p:txBody>
      </p:sp>
      <p:sp>
        <p:nvSpPr>
          <p:cNvPr id="91" name="Google Shape;91;p6"/>
          <p:cNvSpPr/>
          <p:nvPr/>
        </p:nvSpPr>
        <p:spPr>
          <a:xfrm>
            <a:off x="2247900" y="2944490"/>
            <a:ext cx="8594217" cy="891480"/>
          </a:xfrm>
          <a:prstGeom prst="rect">
            <a:avLst/>
          </a:prstGeom>
          <a:noFill/>
          <a:ln>
            <a:noFill/>
          </a:ln>
        </p:spPr>
        <p:txBody>
          <a:bodyPr anchorCtr="0" anchor="t" bIns="25400" lIns="25400" spcFirstLastPara="1" rIns="25400" wrap="square" tIns="25400">
            <a:noAutofit/>
          </a:bodyPr>
          <a:lstStyle/>
          <a:p>
            <a:pPr indent="0" lvl="0" marL="0" marR="0" rtl="0" algn="l">
              <a:lnSpc>
                <a:spcPct val="129854"/>
              </a:lnSpc>
              <a:spcBef>
                <a:spcPts val="0"/>
              </a:spcBef>
              <a:spcAft>
                <a:spcPts val="0"/>
              </a:spcAft>
              <a:buClr>
                <a:srgbClr val="201E1D"/>
              </a:buClr>
              <a:buSzPts val="2400"/>
              <a:buFont typeface="Archivo"/>
              <a:buNone/>
            </a:pPr>
            <a:r>
              <a:rPr b="0" i="0" lang="en-US" sz="2400" u="none" cap="none" strike="noStrike">
                <a:solidFill>
                  <a:srgbClr val="201E1D"/>
                </a:solidFill>
                <a:latin typeface="Archivo"/>
                <a:ea typeface="Archivo"/>
                <a:cs typeface="Archivo"/>
                <a:sym typeface="Archivo"/>
              </a:rPr>
              <a:t>semanales de revisión manual para encontrar procesos del propio rubro.</a:t>
            </a:r>
            <a:endParaRPr b="0" i="0" sz="2400" u="none" cap="none" strike="noStrike">
              <a:solidFill>
                <a:schemeClr val="dk1"/>
              </a:solidFill>
              <a:latin typeface="Calibri"/>
              <a:ea typeface="Calibri"/>
              <a:cs typeface="Calibri"/>
              <a:sym typeface="Calibri"/>
            </a:endParaRPr>
          </a:p>
        </p:txBody>
      </p:sp>
      <p:sp>
        <p:nvSpPr>
          <p:cNvPr id="92" name="Google Shape;92;p6"/>
          <p:cNvSpPr/>
          <p:nvPr/>
        </p:nvSpPr>
        <p:spPr>
          <a:xfrm>
            <a:off x="838200" y="4650358"/>
            <a:ext cx="1219200" cy="864840"/>
          </a:xfrm>
          <a:prstGeom prst="rect">
            <a:avLst/>
          </a:prstGeom>
          <a:noFill/>
          <a:ln>
            <a:noFill/>
          </a:ln>
        </p:spPr>
        <p:txBody>
          <a:bodyPr anchorCtr="0" anchor="t" bIns="25400" lIns="25400" spcFirstLastPara="1" rIns="25400" wrap="square" tIns="25400">
            <a:noAutofit/>
          </a:bodyPr>
          <a:lstStyle/>
          <a:p>
            <a:pPr indent="0" lvl="0" marL="0" marR="0" rtl="0" algn="l">
              <a:lnSpc>
                <a:spcPct val="142295"/>
              </a:lnSpc>
              <a:spcBef>
                <a:spcPts val="0"/>
              </a:spcBef>
              <a:spcAft>
                <a:spcPts val="0"/>
              </a:spcAft>
              <a:buClr>
                <a:srgbClr val="EC3013"/>
              </a:buClr>
              <a:buSzPts val="4200"/>
              <a:buFont typeface="Archivo"/>
              <a:buNone/>
            </a:pPr>
            <a:r>
              <a:rPr b="1" i="0" lang="en-US" sz="4200" u="none" cap="none" strike="noStrike">
                <a:solidFill>
                  <a:srgbClr val="EC3013"/>
                </a:solidFill>
                <a:latin typeface="Archivo"/>
                <a:ea typeface="Archivo"/>
                <a:cs typeface="Archivo"/>
                <a:sym typeface="Archivo"/>
              </a:rPr>
              <a:t>0</a:t>
            </a:r>
            <a:endParaRPr b="0" i="0" sz="4200" u="none" cap="none" strike="noStrike">
              <a:solidFill>
                <a:schemeClr val="dk1"/>
              </a:solidFill>
              <a:latin typeface="Calibri"/>
              <a:ea typeface="Calibri"/>
              <a:cs typeface="Calibri"/>
              <a:sym typeface="Calibri"/>
            </a:endParaRPr>
          </a:p>
        </p:txBody>
      </p:sp>
      <p:sp>
        <p:nvSpPr>
          <p:cNvPr id="93" name="Google Shape;93;p6"/>
          <p:cNvSpPr/>
          <p:nvPr/>
        </p:nvSpPr>
        <p:spPr>
          <a:xfrm>
            <a:off x="2247900" y="4921821"/>
            <a:ext cx="8594217" cy="891480"/>
          </a:xfrm>
          <a:prstGeom prst="rect">
            <a:avLst/>
          </a:prstGeom>
          <a:noFill/>
          <a:ln>
            <a:noFill/>
          </a:ln>
        </p:spPr>
        <p:txBody>
          <a:bodyPr anchorCtr="0" anchor="t" bIns="25400" lIns="25400" spcFirstLastPara="1" rIns="25400" wrap="square" tIns="25400">
            <a:noAutofit/>
          </a:bodyPr>
          <a:lstStyle/>
          <a:p>
            <a:pPr indent="0" lvl="0" marL="0" marR="0" rtl="0" algn="l">
              <a:lnSpc>
                <a:spcPct val="129854"/>
              </a:lnSpc>
              <a:spcBef>
                <a:spcPts val="0"/>
              </a:spcBef>
              <a:spcAft>
                <a:spcPts val="0"/>
              </a:spcAft>
              <a:buClr>
                <a:srgbClr val="201E1D"/>
              </a:buClr>
              <a:buSzPts val="2400"/>
              <a:buFont typeface="Archivo"/>
              <a:buNone/>
            </a:pPr>
            <a:r>
              <a:rPr b="0" i="0" lang="en-US" sz="2400" u="none" cap="none" strike="noStrike">
                <a:solidFill>
                  <a:srgbClr val="201E1D"/>
                </a:solidFill>
                <a:latin typeface="Archivo"/>
                <a:ea typeface="Archivo"/>
                <a:cs typeface="Archivo"/>
                <a:sym typeface="Archivo"/>
              </a:rPr>
              <a:t>notificaciones proactivas: el sistema no avisa cuando aparece algo relevante.</a:t>
            </a:r>
            <a:endParaRPr b="0" i="0" sz="2400" u="none" cap="none" strike="noStrike">
              <a:solidFill>
                <a:schemeClr val="dk1"/>
              </a:solidFill>
              <a:latin typeface="Calibri"/>
              <a:ea typeface="Calibri"/>
              <a:cs typeface="Calibri"/>
              <a:sym typeface="Calibri"/>
            </a:endParaRPr>
          </a:p>
        </p:txBody>
      </p:sp>
      <p:sp>
        <p:nvSpPr>
          <p:cNvPr id="94" name="Google Shape;94;p6"/>
          <p:cNvSpPr/>
          <p:nvPr/>
        </p:nvSpPr>
        <p:spPr>
          <a:xfrm>
            <a:off x="838200" y="6099051"/>
            <a:ext cx="1219200" cy="864840"/>
          </a:xfrm>
          <a:prstGeom prst="rect">
            <a:avLst/>
          </a:prstGeom>
          <a:noFill/>
          <a:ln>
            <a:noFill/>
          </a:ln>
        </p:spPr>
        <p:txBody>
          <a:bodyPr anchorCtr="0" anchor="t" bIns="25400" lIns="25400" spcFirstLastPara="1" rIns="25400" wrap="square" tIns="25400">
            <a:noAutofit/>
          </a:bodyPr>
          <a:lstStyle/>
          <a:p>
            <a:pPr indent="0" lvl="0" marL="0" marR="0" rtl="0" algn="l">
              <a:lnSpc>
                <a:spcPct val="142295"/>
              </a:lnSpc>
              <a:spcBef>
                <a:spcPts val="0"/>
              </a:spcBef>
              <a:spcAft>
                <a:spcPts val="0"/>
              </a:spcAft>
              <a:buClr>
                <a:srgbClr val="EC3013"/>
              </a:buClr>
              <a:buSzPts val="4200"/>
              <a:buFont typeface="Archivo"/>
              <a:buNone/>
            </a:pPr>
            <a:r>
              <a:rPr b="1" i="0" lang="en-US" sz="4200" u="none" cap="none" strike="noStrike">
                <a:solidFill>
                  <a:srgbClr val="EC3013"/>
                </a:solidFill>
                <a:latin typeface="Archivo"/>
                <a:ea typeface="Archivo"/>
                <a:cs typeface="Archivo"/>
                <a:sym typeface="Archivo"/>
              </a:rPr>
              <a:t>24 h</a:t>
            </a:r>
            <a:endParaRPr b="0" i="0" sz="4200" u="none" cap="none" strike="noStrike">
              <a:solidFill>
                <a:schemeClr val="dk1"/>
              </a:solidFill>
              <a:latin typeface="Calibri"/>
              <a:ea typeface="Calibri"/>
              <a:cs typeface="Calibri"/>
              <a:sym typeface="Calibri"/>
            </a:endParaRPr>
          </a:p>
        </p:txBody>
      </p:sp>
      <p:sp>
        <p:nvSpPr>
          <p:cNvPr id="95" name="Google Shape;95;p6"/>
          <p:cNvSpPr/>
          <p:nvPr/>
        </p:nvSpPr>
        <p:spPr>
          <a:xfrm>
            <a:off x="2247900" y="6370513"/>
            <a:ext cx="8594217" cy="891480"/>
          </a:xfrm>
          <a:prstGeom prst="rect">
            <a:avLst/>
          </a:prstGeom>
          <a:noFill/>
          <a:ln>
            <a:noFill/>
          </a:ln>
        </p:spPr>
        <p:txBody>
          <a:bodyPr anchorCtr="0" anchor="t" bIns="25400" lIns="25400" spcFirstLastPara="1" rIns="25400" wrap="square" tIns="25400">
            <a:noAutofit/>
          </a:bodyPr>
          <a:lstStyle/>
          <a:p>
            <a:pPr indent="0" lvl="0" marL="0" marR="0" rtl="0" algn="l">
              <a:lnSpc>
                <a:spcPct val="129854"/>
              </a:lnSpc>
              <a:spcBef>
                <a:spcPts val="0"/>
              </a:spcBef>
              <a:spcAft>
                <a:spcPts val="0"/>
              </a:spcAft>
              <a:buClr>
                <a:srgbClr val="201E1D"/>
              </a:buClr>
              <a:buSzPts val="2400"/>
              <a:buFont typeface="Archivo"/>
              <a:buNone/>
            </a:pPr>
            <a:r>
              <a:rPr b="0" i="0" lang="en-US" sz="2400" u="none" cap="none" strike="noStrike">
                <a:solidFill>
                  <a:srgbClr val="201E1D"/>
                </a:solidFill>
                <a:latin typeface="Archivo"/>
                <a:ea typeface="Archivo"/>
                <a:cs typeface="Archivo"/>
                <a:sym typeface="Archivo"/>
              </a:rPr>
              <a:t>o menos tarda una Compra Ágil en adjudicarse. Llegar tarde es quedar fuera.</a:t>
            </a:r>
            <a:endParaRPr b="0" i="0" sz="2400" u="none" cap="none" strike="noStrike">
              <a:solidFill>
                <a:schemeClr val="dk1"/>
              </a:solidFill>
              <a:latin typeface="Calibri"/>
              <a:ea typeface="Calibri"/>
              <a:cs typeface="Calibri"/>
              <a:sym typeface="Calibri"/>
            </a:endParaRPr>
          </a:p>
        </p:txBody>
      </p:sp>
      <p:sp>
        <p:nvSpPr>
          <p:cNvPr id="96" name="Google Shape;96;p6"/>
          <p:cNvSpPr/>
          <p:nvPr/>
        </p:nvSpPr>
        <p:spPr>
          <a:xfrm>
            <a:off x="11353800" y="2520628"/>
            <a:ext cx="6096000" cy="4511501"/>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11811000" y="3015928"/>
            <a:ext cx="569976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QUIÉN LO SUFRE</a:t>
            </a:r>
            <a:endParaRPr b="0" i="0" sz="1800" u="none" cap="none" strike="noStrike">
              <a:solidFill>
                <a:schemeClr val="dk1"/>
              </a:solidFill>
              <a:latin typeface="Calibri"/>
              <a:ea typeface="Calibri"/>
              <a:cs typeface="Calibri"/>
              <a:sym typeface="Calibri"/>
            </a:endParaRPr>
          </a:p>
        </p:txBody>
      </p:sp>
      <p:sp>
        <p:nvSpPr>
          <p:cNvPr id="98" name="Google Shape;98;p6"/>
          <p:cNvSpPr/>
          <p:nvPr/>
        </p:nvSpPr>
        <p:spPr>
          <a:xfrm>
            <a:off x="11811000" y="3598813"/>
            <a:ext cx="5337048" cy="2000845"/>
          </a:xfrm>
          <a:prstGeom prst="rect">
            <a:avLst/>
          </a:prstGeom>
          <a:noFill/>
          <a:ln>
            <a:noFill/>
          </a:ln>
        </p:spPr>
        <p:txBody>
          <a:bodyPr anchorCtr="0" anchor="t" bIns="25400" lIns="25400" spcFirstLastPara="1" rIns="25400" wrap="square" tIns="25400">
            <a:noAutofit/>
          </a:bodyPr>
          <a:lstStyle/>
          <a:p>
            <a:pPr indent="0" lvl="0" marL="0" marR="0" rtl="0" algn="l">
              <a:lnSpc>
                <a:spcPct val="103040"/>
              </a:lnSpc>
              <a:spcBef>
                <a:spcPts val="0"/>
              </a:spcBef>
              <a:spcAft>
                <a:spcPts val="0"/>
              </a:spcAft>
              <a:buClr>
                <a:srgbClr val="F3F2F2"/>
              </a:buClr>
              <a:buSzPts val="3450"/>
              <a:buFont typeface="Archivo"/>
              <a:buNone/>
            </a:pPr>
            <a:r>
              <a:rPr b="1" i="0" lang="en-US" sz="3450" u="none" cap="none" strike="noStrike">
                <a:solidFill>
                  <a:srgbClr val="F3F2F2"/>
                </a:solidFill>
                <a:latin typeface="Archivo"/>
                <a:ea typeface="Archivo"/>
                <a:cs typeface="Archivo"/>
                <a:sym typeface="Archivo"/>
              </a:rPr>
              <a:t>Pymes proveedoras del Estado sin un equipo dedicado a buscar licitaciones.</a:t>
            </a:r>
            <a:endParaRPr b="0" i="0" sz="3450" u="none" cap="none" strike="noStrike">
              <a:solidFill>
                <a:schemeClr val="dk1"/>
              </a:solidFill>
              <a:latin typeface="Calibri"/>
              <a:ea typeface="Calibri"/>
              <a:cs typeface="Calibri"/>
              <a:sym typeface="Calibri"/>
            </a:endParaRPr>
          </a:p>
        </p:txBody>
      </p:sp>
      <p:sp>
        <p:nvSpPr>
          <p:cNvPr id="99" name="Google Shape;99;p6"/>
          <p:cNvSpPr/>
          <p:nvPr/>
        </p:nvSpPr>
        <p:spPr>
          <a:xfrm>
            <a:off x="11811000" y="5790158"/>
            <a:ext cx="5337048" cy="78477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F3F2F2"/>
              </a:buClr>
              <a:buSzPts val="2100"/>
              <a:buFont typeface="Archivo"/>
              <a:buNone/>
            </a:pPr>
            <a:r>
              <a:rPr b="0" i="0" lang="en-US" sz="2100" u="none" cap="none" strike="noStrike">
                <a:solidFill>
                  <a:srgbClr val="F3F2F2"/>
                </a:solidFill>
                <a:latin typeface="Archivo"/>
                <a:ea typeface="Archivo"/>
                <a:cs typeface="Archivo"/>
                <a:sym typeface="Archivo"/>
              </a:rPr>
              <a:t>Compiten contra proveedores con personas haciendo seguimiento a tiempo completo.</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04" name="Shape 104"/>
        <p:cNvGrpSpPr/>
        <p:nvPr/>
      </p:nvGrpSpPr>
      <p:grpSpPr>
        <a:xfrm>
          <a:off x="0" y="0"/>
          <a:ext cx="0" cy="0"/>
          <a:chOff x="0" y="0"/>
          <a:chExt cx="0" cy="0"/>
        </a:xfrm>
      </p:grpSpPr>
      <p:sp>
        <p:nvSpPr>
          <p:cNvPr id="105" name="Google Shape;105;p7"/>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02 · LA SOLUCIÓN</a:t>
            </a:r>
            <a:endParaRPr b="0" i="0" sz="1950" u="none" cap="none" strike="noStrike">
              <a:solidFill>
                <a:schemeClr val="dk1"/>
              </a:solidFill>
              <a:latin typeface="Calibri"/>
              <a:ea typeface="Calibri"/>
              <a:cs typeface="Calibri"/>
              <a:sym typeface="Calibri"/>
            </a:endParaRPr>
          </a:p>
        </p:txBody>
      </p:sp>
      <p:sp>
        <p:nvSpPr>
          <p:cNvPr id="106" name="Google Shape;106;p7"/>
          <p:cNvSpPr/>
          <p:nvPr/>
        </p:nvSpPr>
        <p:spPr>
          <a:xfrm>
            <a:off x="838200" y="1238250"/>
            <a:ext cx="18272760" cy="691828"/>
          </a:xfrm>
          <a:prstGeom prst="rect">
            <a:avLst/>
          </a:prstGeom>
          <a:noFill/>
          <a:ln>
            <a:noFill/>
          </a:ln>
        </p:spPr>
        <p:txBody>
          <a:bodyPr anchorCtr="0" anchor="t" bIns="25400" lIns="25400" spcFirstLastPara="1" rIns="25400" wrap="square" tIns="25400">
            <a:noAutofit/>
          </a:bodyPr>
          <a:lstStyle/>
          <a:p>
            <a:pPr indent="0" lvl="0" marL="0" marR="0" rtl="0" algn="l">
              <a:lnSpc>
                <a:spcPct val="95333"/>
              </a:lnSpc>
              <a:spcBef>
                <a:spcPts val="0"/>
              </a:spcBef>
              <a:spcAft>
                <a:spcPts val="0"/>
              </a:spcAft>
              <a:buClr>
                <a:srgbClr val="201E1D"/>
              </a:buClr>
              <a:buSzPts val="4950"/>
              <a:buFont typeface="Archivo"/>
              <a:buNone/>
            </a:pPr>
            <a:r>
              <a:rPr b="1" i="0" lang="en-US" sz="4950" u="none" cap="none" strike="noStrike">
                <a:solidFill>
                  <a:srgbClr val="201E1D"/>
                </a:solidFill>
                <a:latin typeface="Archivo"/>
                <a:ea typeface="Archivo"/>
                <a:cs typeface="Archivo"/>
                <a:sym typeface="Archivo"/>
              </a:rPr>
              <a:t>Monitorear, filtrar, avisar</a:t>
            </a:r>
            <a:endParaRPr b="0" i="0" sz="4950" u="none" cap="none" strike="noStrike">
              <a:solidFill>
                <a:schemeClr val="dk1"/>
              </a:solidFill>
              <a:latin typeface="Calibri"/>
              <a:ea typeface="Calibri"/>
              <a:cs typeface="Calibri"/>
              <a:sym typeface="Calibri"/>
            </a:endParaRPr>
          </a:p>
        </p:txBody>
      </p:sp>
      <p:sp>
        <p:nvSpPr>
          <p:cNvPr id="107" name="Google Shape;107;p7"/>
          <p:cNvSpPr/>
          <p:nvPr/>
        </p:nvSpPr>
        <p:spPr>
          <a:xfrm>
            <a:off x="838200" y="2196778"/>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a:off x="838200" y="2520628"/>
            <a:ext cx="14716125" cy="1015305"/>
          </a:xfrm>
          <a:prstGeom prst="rect">
            <a:avLst/>
          </a:prstGeom>
          <a:noFill/>
          <a:ln>
            <a:noFill/>
          </a:ln>
        </p:spPr>
        <p:txBody>
          <a:bodyPr anchorCtr="0" anchor="t" bIns="25400" lIns="25400" spcFirstLastPara="1" rIns="25400" wrap="square" tIns="25400">
            <a:noAutofit/>
          </a:bodyPr>
          <a:lstStyle/>
          <a:p>
            <a:pPr indent="0" lvl="0" marL="0" marR="0" rtl="0" algn="l">
              <a:lnSpc>
                <a:spcPct val="123614"/>
              </a:lnSpc>
              <a:spcBef>
                <a:spcPts val="0"/>
              </a:spcBef>
              <a:spcAft>
                <a:spcPts val="0"/>
              </a:spcAft>
              <a:buClr>
                <a:srgbClr val="201E1D"/>
              </a:buClr>
              <a:buSzPts val="2850"/>
              <a:buFont typeface="Archivo"/>
              <a:buNone/>
            </a:pPr>
            <a:r>
              <a:rPr b="0" i="0" lang="en-US" sz="2850" u="none" cap="none" strike="noStrike">
                <a:solidFill>
                  <a:srgbClr val="201E1D"/>
                </a:solidFill>
                <a:latin typeface="Archivo"/>
                <a:ea typeface="Archivo"/>
                <a:cs typeface="Archivo"/>
                <a:sym typeface="Archivo"/>
              </a:rPr>
              <a:t>Un agente revisa Mercado Público por el usuario, entiende cada licitación con un modelo de lenguaje y le escribe solo cuando algo calza con su perfil.</a:t>
            </a:r>
            <a:endParaRPr b="0" i="0" sz="2850" u="none" cap="none" strike="noStrike">
              <a:solidFill>
                <a:schemeClr val="dk1"/>
              </a:solidFill>
              <a:latin typeface="Calibri"/>
              <a:ea typeface="Calibri"/>
              <a:cs typeface="Calibri"/>
              <a:sym typeface="Calibri"/>
            </a:endParaRPr>
          </a:p>
        </p:txBody>
      </p:sp>
      <p:sp>
        <p:nvSpPr>
          <p:cNvPr id="109" name="Google Shape;109;p7"/>
          <p:cNvSpPr/>
          <p:nvPr/>
        </p:nvSpPr>
        <p:spPr>
          <a:xfrm>
            <a:off x="6356300" y="3878833"/>
            <a:ext cx="19050" cy="572236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7"/>
          <p:cNvSpPr/>
          <p:nvPr/>
        </p:nvSpPr>
        <p:spPr>
          <a:xfrm>
            <a:off x="838200" y="4297933"/>
            <a:ext cx="560890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MONITOREA</a:t>
            </a:r>
            <a:endParaRPr b="0" i="0" sz="1800" u="none" cap="none" strike="noStrike">
              <a:solidFill>
                <a:schemeClr val="dk1"/>
              </a:solidFill>
              <a:latin typeface="Calibri"/>
              <a:ea typeface="Calibri"/>
              <a:cs typeface="Calibri"/>
              <a:sym typeface="Calibri"/>
            </a:endParaRPr>
          </a:p>
        </p:txBody>
      </p:sp>
      <p:sp>
        <p:nvSpPr>
          <p:cNvPr id="111" name="Google Shape;111;p7"/>
          <p:cNvSpPr/>
          <p:nvPr/>
        </p:nvSpPr>
        <p:spPr>
          <a:xfrm>
            <a:off x="838200" y="4842718"/>
            <a:ext cx="5251970" cy="960090"/>
          </a:xfrm>
          <a:prstGeom prst="rect">
            <a:avLst/>
          </a:prstGeom>
          <a:noFill/>
          <a:ln>
            <a:noFill/>
          </a:ln>
        </p:spPr>
        <p:txBody>
          <a:bodyPr anchorCtr="0" anchor="t" bIns="25400" lIns="25400" spcFirstLastPara="1" rIns="25400" wrap="square" tIns="25400">
            <a:noAutofit/>
          </a:bodyPr>
          <a:lstStyle/>
          <a:p>
            <a:pPr indent="0" lvl="0" marL="0" marR="0" rtl="0" algn="l">
              <a:lnSpc>
                <a:spcPct val="101895"/>
              </a:lnSpc>
              <a:spcBef>
                <a:spcPts val="0"/>
              </a:spcBef>
              <a:spcAft>
                <a:spcPts val="0"/>
              </a:spcAft>
              <a:buClr>
                <a:srgbClr val="201E1D"/>
              </a:buClr>
              <a:buSzPts val="3300"/>
              <a:buFont typeface="Archivo"/>
              <a:buNone/>
            </a:pPr>
            <a:r>
              <a:rPr b="1" i="0" lang="en-US" sz="3300" u="none" cap="none" strike="noStrike">
                <a:solidFill>
                  <a:srgbClr val="201E1D"/>
                </a:solidFill>
                <a:latin typeface="Archivo"/>
                <a:ea typeface="Archivo"/>
                <a:cs typeface="Archivo"/>
                <a:sym typeface="Archivo"/>
              </a:rPr>
              <a:t>Sin intervención humana</a:t>
            </a:r>
            <a:endParaRPr b="0" i="0" sz="3300" u="none" cap="none" strike="noStrike">
              <a:solidFill>
                <a:schemeClr val="dk1"/>
              </a:solidFill>
              <a:latin typeface="Calibri"/>
              <a:ea typeface="Calibri"/>
              <a:cs typeface="Calibri"/>
              <a:sym typeface="Calibri"/>
            </a:endParaRPr>
          </a:p>
        </p:txBody>
      </p:sp>
      <p:sp>
        <p:nvSpPr>
          <p:cNvPr id="112" name="Google Shape;112;p7"/>
          <p:cNvSpPr/>
          <p:nvPr/>
        </p:nvSpPr>
        <p:spPr>
          <a:xfrm>
            <a:off x="838200" y="5955209"/>
            <a:ext cx="5251970" cy="78477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Consulta periódica a la API oficial y, si falta información, lectura de las bases en PDF.</a:t>
            </a:r>
            <a:endParaRPr b="0" i="0" sz="2100" u="none" cap="none" strike="noStrike">
              <a:solidFill>
                <a:schemeClr val="dk1"/>
              </a:solidFill>
              <a:latin typeface="Calibri"/>
              <a:ea typeface="Calibri"/>
              <a:cs typeface="Calibri"/>
              <a:sym typeface="Calibri"/>
            </a:endParaRPr>
          </a:p>
        </p:txBody>
      </p:sp>
      <p:sp>
        <p:nvSpPr>
          <p:cNvPr id="113" name="Google Shape;113;p7"/>
          <p:cNvSpPr/>
          <p:nvPr/>
        </p:nvSpPr>
        <p:spPr>
          <a:xfrm>
            <a:off x="11893525" y="3878833"/>
            <a:ext cx="19050" cy="5722367"/>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6794450" y="4297933"/>
            <a:ext cx="5147972"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FILTRA</a:t>
            </a:r>
            <a:endParaRPr b="0" i="0" sz="1800" u="none" cap="none" strike="noStrike">
              <a:solidFill>
                <a:schemeClr val="dk1"/>
              </a:solidFill>
              <a:latin typeface="Calibri"/>
              <a:ea typeface="Calibri"/>
              <a:cs typeface="Calibri"/>
              <a:sym typeface="Calibri"/>
            </a:endParaRPr>
          </a:p>
        </p:txBody>
      </p:sp>
      <p:sp>
        <p:nvSpPr>
          <p:cNvPr id="115" name="Google Shape;115;p7"/>
          <p:cNvSpPr/>
          <p:nvPr/>
        </p:nvSpPr>
        <p:spPr>
          <a:xfrm>
            <a:off x="6794450" y="4842718"/>
            <a:ext cx="4820374" cy="960090"/>
          </a:xfrm>
          <a:prstGeom prst="rect">
            <a:avLst/>
          </a:prstGeom>
          <a:noFill/>
          <a:ln>
            <a:noFill/>
          </a:ln>
        </p:spPr>
        <p:txBody>
          <a:bodyPr anchorCtr="0" anchor="t" bIns="25400" lIns="25400" spcFirstLastPara="1" rIns="25400" wrap="square" tIns="25400">
            <a:noAutofit/>
          </a:bodyPr>
          <a:lstStyle/>
          <a:p>
            <a:pPr indent="0" lvl="0" marL="0" marR="0" rtl="0" algn="l">
              <a:lnSpc>
                <a:spcPct val="101895"/>
              </a:lnSpc>
              <a:spcBef>
                <a:spcPts val="0"/>
              </a:spcBef>
              <a:spcAft>
                <a:spcPts val="0"/>
              </a:spcAft>
              <a:buClr>
                <a:srgbClr val="201E1D"/>
              </a:buClr>
              <a:buSzPts val="3300"/>
              <a:buFont typeface="Archivo"/>
              <a:buNone/>
            </a:pPr>
            <a:r>
              <a:rPr b="1" i="0" lang="en-US" sz="3300" u="none" cap="none" strike="noStrike">
                <a:solidFill>
                  <a:srgbClr val="201E1D"/>
                </a:solidFill>
                <a:latin typeface="Archivo"/>
                <a:ea typeface="Archivo"/>
                <a:cs typeface="Archivo"/>
                <a:sym typeface="Archivo"/>
              </a:rPr>
              <a:t>Relevancia, no palabras clave</a:t>
            </a:r>
            <a:endParaRPr b="0" i="0" sz="3300" u="none" cap="none" strike="noStrike">
              <a:solidFill>
                <a:schemeClr val="dk1"/>
              </a:solidFill>
              <a:latin typeface="Calibri"/>
              <a:ea typeface="Calibri"/>
              <a:cs typeface="Calibri"/>
              <a:sym typeface="Calibri"/>
            </a:endParaRPr>
          </a:p>
        </p:txBody>
      </p:sp>
      <p:sp>
        <p:nvSpPr>
          <p:cNvPr id="116" name="Google Shape;116;p7"/>
          <p:cNvSpPr/>
          <p:nvPr/>
        </p:nvSpPr>
        <p:spPr>
          <a:xfrm>
            <a:off x="6794450" y="5955209"/>
            <a:ext cx="4820374" cy="1158106"/>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Un LLM clasifica y resume cada proceso, y calcula qué tan compatible es con el perfil declarado.</a:t>
            </a:r>
            <a:endParaRPr b="0" i="0" sz="2100" u="none" cap="none" strike="noStrike">
              <a:solidFill>
                <a:schemeClr val="dk1"/>
              </a:solidFill>
              <a:latin typeface="Calibri"/>
              <a:ea typeface="Calibri"/>
              <a:cs typeface="Calibri"/>
              <a:sym typeface="Calibri"/>
            </a:endParaRPr>
          </a:p>
        </p:txBody>
      </p:sp>
      <p:sp>
        <p:nvSpPr>
          <p:cNvPr id="117" name="Google Shape;117;p7"/>
          <p:cNvSpPr/>
          <p:nvPr/>
        </p:nvSpPr>
        <p:spPr>
          <a:xfrm>
            <a:off x="12331675" y="4297933"/>
            <a:ext cx="5629855"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AVISA</a:t>
            </a:r>
            <a:endParaRPr b="0" i="0" sz="1800" u="none" cap="none" strike="noStrike">
              <a:solidFill>
                <a:schemeClr val="dk1"/>
              </a:solidFill>
              <a:latin typeface="Calibri"/>
              <a:ea typeface="Calibri"/>
              <a:cs typeface="Calibri"/>
              <a:sym typeface="Calibri"/>
            </a:endParaRPr>
          </a:p>
        </p:txBody>
      </p:sp>
      <p:sp>
        <p:nvSpPr>
          <p:cNvPr id="118" name="Google Shape;118;p7"/>
          <p:cNvSpPr/>
          <p:nvPr/>
        </p:nvSpPr>
        <p:spPr>
          <a:xfrm>
            <a:off x="12331675" y="4842718"/>
            <a:ext cx="5629855" cy="499095"/>
          </a:xfrm>
          <a:prstGeom prst="rect">
            <a:avLst/>
          </a:prstGeom>
          <a:noFill/>
          <a:ln>
            <a:noFill/>
          </a:ln>
        </p:spPr>
        <p:txBody>
          <a:bodyPr anchorCtr="0" anchor="t" bIns="25400" lIns="25400" spcFirstLastPara="1" rIns="25400" wrap="square" tIns="25400">
            <a:noAutofit/>
          </a:bodyPr>
          <a:lstStyle/>
          <a:p>
            <a:pPr indent="0" lvl="0" marL="0" marR="0" rtl="0" algn="l">
              <a:lnSpc>
                <a:spcPct val="101895"/>
              </a:lnSpc>
              <a:spcBef>
                <a:spcPts val="0"/>
              </a:spcBef>
              <a:spcAft>
                <a:spcPts val="0"/>
              </a:spcAft>
              <a:buClr>
                <a:srgbClr val="201E1D"/>
              </a:buClr>
              <a:buSzPts val="3300"/>
              <a:buFont typeface="Archivo"/>
              <a:buNone/>
            </a:pPr>
            <a:r>
              <a:rPr b="1" i="0" lang="en-US" sz="3300" u="none" cap="none" strike="noStrike">
                <a:solidFill>
                  <a:srgbClr val="201E1D"/>
                </a:solidFill>
                <a:latin typeface="Archivo"/>
                <a:ea typeface="Archivo"/>
                <a:cs typeface="Archivo"/>
                <a:sym typeface="Archivo"/>
              </a:rPr>
              <a:t>A tiempo de postular</a:t>
            </a:r>
            <a:endParaRPr b="0" i="0" sz="3300" u="none" cap="none" strike="noStrike">
              <a:solidFill>
                <a:schemeClr val="dk1"/>
              </a:solidFill>
              <a:latin typeface="Calibri"/>
              <a:ea typeface="Calibri"/>
              <a:cs typeface="Calibri"/>
              <a:sym typeface="Calibri"/>
            </a:endParaRPr>
          </a:p>
        </p:txBody>
      </p:sp>
      <p:sp>
        <p:nvSpPr>
          <p:cNvPr id="119" name="Google Shape;119;p7"/>
          <p:cNvSpPr/>
          <p:nvPr/>
        </p:nvSpPr>
        <p:spPr>
          <a:xfrm>
            <a:off x="12331675" y="5494213"/>
            <a:ext cx="5271592" cy="1158106"/>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Correo o WhatsApp con el resumen y el plazo de cierre, en minutos desde la publicación.</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3013"/>
        </a:solidFill>
      </p:bgPr>
    </p:bg>
    <p:spTree>
      <p:nvGrpSpPr>
        <p:cNvPr id="124" name="Shape 124"/>
        <p:cNvGrpSpPr/>
        <p:nvPr/>
      </p:nvGrpSpPr>
      <p:grpSpPr>
        <a:xfrm>
          <a:off x="0" y="0"/>
          <a:ext cx="0" cy="0"/>
          <a:chOff x="0" y="0"/>
          <a:chExt cx="0" cy="0"/>
        </a:xfrm>
      </p:grpSpPr>
      <p:sp>
        <p:nvSpPr>
          <p:cNvPr id="125" name="Google Shape;125;p8"/>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F3F2F2"/>
              </a:buClr>
              <a:buSzPts val="1950"/>
              <a:buFont typeface="Archivo"/>
              <a:buNone/>
            </a:pPr>
            <a:r>
              <a:rPr b="1" i="0" lang="en-US" sz="1950" u="none" cap="none" strike="noStrike">
                <a:solidFill>
                  <a:srgbClr val="F3F2F2"/>
                </a:solidFill>
                <a:latin typeface="Archivo"/>
                <a:ea typeface="Archivo"/>
                <a:cs typeface="Archivo"/>
                <a:sym typeface="Archivo"/>
              </a:rPr>
              <a:t>03</a:t>
            </a:r>
            <a:endParaRPr b="0" i="0" sz="1950" u="none" cap="none" strike="noStrike">
              <a:solidFill>
                <a:schemeClr val="dk1"/>
              </a:solidFill>
              <a:latin typeface="Calibri"/>
              <a:ea typeface="Calibri"/>
              <a:cs typeface="Calibri"/>
              <a:sym typeface="Calibri"/>
            </a:endParaRPr>
          </a:p>
        </p:txBody>
      </p:sp>
      <p:sp>
        <p:nvSpPr>
          <p:cNvPr id="126" name="Google Shape;126;p8"/>
          <p:cNvSpPr/>
          <p:nvPr/>
        </p:nvSpPr>
        <p:spPr>
          <a:xfrm>
            <a:off x="838200" y="3516139"/>
            <a:ext cx="14716125" cy="2752725"/>
          </a:xfrm>
          <a:prstGeom prst="rect">
            <a:avLst/>
          </a:prstGeom>
          <a:noFill/>
          <a:ln>
            <a:noFill/>
          </a:ln>
        </p:spPr>
        <p:txBody>
          <a:bodyPr anchorCtr="0" anchor="t" bIns="25400" lIns="25400" spcFirstLastPara="1" rIns="25400" wrap="square" tIns="25400">
            <a:noAutofit/>
          </a:bodyPr>
          <a:lstStyle/>
          <a:p>
            <a:pPr indent="0" lvl="0" marL="0" marR="0" rtl="0" algn="l">
              <a:lnSpc>
                <a:spcPct val="87423"/>
              </a:lnSpc>
              <a:spcBef>
                <a:spcPts val="0"/>
              </a:spcBef>
              <a:spcAft>
                <a:spcPts val="0"/>
              </a:spcAft>
              <a:buClr>
                <a:srgbClr val="F3F2F2"/>
              </a:buClr>
              <a:buSzPts val="11250"/>
              <a:buFont typeface="Archivo"/>
              <a:buNone/>
            </a:pPr>
            <a:r>
              <a:rPr b="1" i="0" lang="en-US" sz="11250" u="none" cap="none" strike="noStrike">
                <a:solidFill>
                  <a:srgbClr val="F3F2F2"/>
                </a:solidFill>
                <a:latin typeface="Archivo"/>
                <a:ea typeface="Archivo"/>
                <a:cs typeface="Archivo"/>
                <a:sym typeface="Archivo"/>
              </a:rPr>
              <a:t>Mockups de la aplicación</a:t>
            </a:r>
            <a:endParaRPr b="0" i="0" sz="11250" u="none" cap="none" strike="noStrike">
              <a:solidFill>
                <a:schemeClr val="dk1"/>
              </a:solidFill>
              <a:latin typeface="Calibri"/>
              <a:ea typeface="Calibri"/>
              <a:cs typeface="Calibri"/>
              <a:sym typeface="Calibri"/>
            </a:endParaRPr>
          </a:p>
        </p:txBody>
      </p:sp>
      <p:sp>
        <p:nvSpPr>
          <p:cNvPr id="127" name="Google Shape;127;p8"/>
          <p:cNvSpPr/>
          <p:nvPr/>
        </p:nvSpPr>
        <p:spPr>
          <a:xfrm>
            <a:off x="838200" y="8813527"/>
            <a:ext cx="16611600" cy="19050"/>
          </a:xfrm>
          <a:prstGeom prst="rect">
            <a:avLst/>
          </a:prstGeom>
          <a:solidFill>
            <a:srgbClr val="F3F2F2">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
          <p:cNvSpPr/>
          <p:nvPr/>
        </p:nvSpPr>
        <p:spPr>
          <a:xfrm>
            <a:off x="838200" y="9099277"/>
            <a:ext cx="18272760"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F3F2F2"/>
              </a:buClr>
              <a:buSzPts val="2550"/>
              <a:buFont typeface="Archivo"/>
              <a:buNone/>
            </a:pPr>
            <a:r>
              <a:rPr b="0" i="0" lang="en-US" sz="2550" u="none" cap="none" strike="noStrike">
                <a:solidFill>
                  <a:srgbClr val="F3F2F2"/>
                </a:solidFill>
                <a:latin typeface="Archivo"/>
                <a:ea typeface="Archivo"/>
                <a:cs typeface="Archivo"/>
                <a:sym typeface="Archivo"/>
              </a:rPr>
              <a:t>Siete pantallas de escritorio y una vista móvil · Login, Dashboard, Listado, Detalle, Perfil, Alertas, Admin</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33" name="Shape 133"/>
        <p:cNvGrpSpPr/>
        <p:nvPr/>
      </p:nvGrpSpPr>
      <p:grpSpPr>
        <a:xfrm>
          <a:off x="0" y="0"/>
          <a:ext cx="0" cy="0"/>
          <a:chOff x="0" y="0"/>
          <a:chExt cx="0" cy="0"/>
        </a:xfrm>
      </p:grpSpPr>
      <p:sp>
        <p:nvSpPr>
          <p:cNvPr id="134" name="Google Shape;134;p9"/>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01 · DESKTOP</a:t>
            </a:r>
            <a:endParaRPr b="0" i="0" sz="1800" u="none" cap="none" strike="noStrike">
              <a:solidFill>
                <a:schemeClr val="dk1"/>
              </a:solidFill>
              <a:latin typeface="Calibri"/>
              <a:ea typeface="Calibri"/>
              <a:cs typeface="Calibri"/>
              <a:sym typeface="Calibri"/>
            </a:endParaRPr>
          </a:p>
        </p:txBody>
      </p:sp>
      <p:sp>
        <p:nvSpPr>
          <p:cNvPr id="135" name="Google Shape;135;p9"/>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Acceso y configuración inicial</a:t>
            </a:r>
            <a:endParaRPr b="0" i="0" sz="4500" u="none" cap="none" strike="noStrike">
              <a:solidFill>
                <a:schemeClr val="dk1"/>
              </a:solidFill>
              <a:latin typeface="Calibri"/>
              <a:ea typeface="Calibri"/>
              <a:cs typeface="Calibri"/>
              <a:sym typeface="Calibri"/>
            </a:endParaRPr>
          </a:p>
        </p:txBody>
      </p:sp>
      <p:sp>
        <p:nvSpPr>
          <p:cNvPr id="136" name="Google Shape;136;p9"/>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
          <p:cNvSpPr/>
          <p:nvPr/>
        </p:nvSpPr>
        <p:spPr>
          <a:xfrm>
            <a:off x="838200" y="2194545"/>
            <a:ext cx="3453384" cy="153144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La promesa del producto se declara en la pantalla de entrada, y el registro pide solo lo mínimo.</a:t>
            </a:r>
            <a:endParaRPr b="0" i="0" sz="2100" u="none" cap="none" strike="noStrike">
              <a:solidFill>
                <a:schemeClr val="dk1"/>
              </a:solidFill>
              <a:latin typeface="Calibri"/>
              <a:ea typeface="Calibri"/>
              <a:cs typeface="Calibri"/>
              <a:sym typeface="Calibri"/>
            </a:endParaRPr>
          </a:p>
        </p:txBody>
      </p:sp>
      <p:sp>
        <p:nvSpPr>
          <p:cNvPr id="138" name="Google Shape;138;p9"/>
          <p:cNvSpPr/>
          <p:nvPr/>
        </p:nvSpPr>
        <p:spPr>
          <a:xfrm>
            <a:off x="838200" y="3916487"/>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
          <p:cNvSpPr/>
          <p:nvPr/>
        </p:nvSpPr>
        <p:spPr>
          <a:xfrm>
            <a:off x="838200" y="4154612"/>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Onboarding de 3 pasos </a:t>
            </a:r>
            <a:r>
              <a:rPr b="0" i="0" lang="en-US" sz="1875" u="none" cap="none" strike="noStrike">
                <a:solidFill>
                  <a:srgbClr val="201E1D"/>
                </a:solidFill>
                <a:latin typeface="Archivo"/>
                <a:ea typeface="Archivo"/>
                <a:cs typeface="Archivo"/>
                <a:sym typeface="Archivo"/>
              </a:rPr>
              <a:t>— rubro, regiones y canal de aviso.</a:t>
            </a:r>
            <a:endParaRPr b="0" i="0" sz="1875" u="none" cap="none" strike="noStrike">
              <a:solidFill>
                <a:schemeClr val="dk1"/>
              </a:solidFill>
              <a:latin typeface="Calibri"/>
              <a:ea typeface="Calibri"/>
              <a:cs typeface="Calibri"/>
              <a:sym typeface="Calibri"/>
            </a:endParaRPr>
          </a:p>
        </p:txBody>
      </p:sp>
      <p:sp>
        <p:nvSpPr>
          <p:cNvPr id="140" name="Google Shape;140;p9"/>
          <p:cNvSpPr/>
          <p:nvPr/>
        </p:nvSpPr>
        <p:spPr>
          <a:xfrm>
            <a:off x="838200" y="5383337"/>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Cero configuración técnica </a:t>
            </a:r>
            <a:r>
              <a:rPr b="0" i="0" lang="en-US" sz="1875" u="none" cap="none" strike="noStrike">
                <a:solidFill>
                  <a:srgbClr val="201E1D"/>
                </a:solidFill>
                <a:latin typeface="Archivo"/>
                <a:ea typeface="Archivo"/>
                <a:cs typeface="Archivo"/>
                <a:sym typeface="Archivo"/>
              </a:rPr>
              <a:t>— el usuario no ve APIs ni filtros de sistema.</a:t>
            </a:r>
            <a:endParaRPr b="0" i="0" sz="1875" u="none" cap="none" strike="noStrike">
              <a:solidFill>
                <a:schemeClr val="dk1"/>
              </a:solidFill>
              <a:latin typeface="Calibri"/>
              <a:ea typeface="Calibri"/>
              <a:cs typeface="Calibri"/>
              <a:sym typeface="Calibri"/>
            </a:endParaRPr>
          </a:p>
        </p:txBody>
      </p:sp>
      <p:sp>
        <p:nvSpPr>
          <p:cNvPr id="141" name="Google Shape;141;p9"/>
          <p:cNvSpPr/>
          <p:nvPr/>
        </p:nvSpPr>
        <p:spPr>
          <a:xfrm>
            <a:off x="4610100" y="2194545"/>
            <a:ext cx="1283970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9"/>
          <p:cNvSpPr/>
          <p:nvPr/>
        </p:nvSpPr>
        <p:spPr>
          <a:xfrm>
            <a:off x="4629150" y="2213595"/>
            <a:ext cx="12801600" cy="381000"/>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9"/>
          <p:cNvSpPr/>
          <p:nvPr/>
        </p:nvSpPr>
        <p:spPr>
          <a:xfrm>
            <a:off x="4629150" y="2575545"/>
            <a:ext cx="12801600" cy="1905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4781550" y="2342183"/>
            <a:ext cx="104775" cy="104775"/>
          </a:xfrm>
          <a:prstGeom prst="rect">
            <a:avLst/>
          </a:prstGeom>
          <a:solidFill>
            <a:srgbClr val="9B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4972050" y="2342183"/>
            <a:ext cx="104775" cy="104775"/>
          </a:xfrm>
          <a:prstGeom prst="rect">
            <a:avLst/>
          </a:prstGeom>
          <a:solidFill>
            <a:srgbClr val="BA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
          <p:cNvSpPr/>
          <p:nvPr/>
        </p:nvSpPr>
        <p:spPr>
          <a:xfrm>
            <a:off x="5162550" y="2342183"/>
            <a:ext cx="104775" cy="104775"/>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9"/>
          <p:cNvSpPr/>
          <p:nvPr/>
        </p:nvSpPr>
        <p:spPr>
          <a:xfrm>
            <a:off x="5505450" y="2276475"/>
            <a:ext cx="2031816"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app.mpwatcher.cl / ingresar</a:t>
            </a:r>
            <a:endParaRPr b="0" i="0" sz="1200" u="none" cap="none" strike="noStrike">
              <a:solidFill>
                <a:schemeClr val="dk1"/>
              </a:solidFill>
              <a:latin typeface="Calibri"/>
              <a:ea typeface="Calibri"/>
              <a:cs typeface="Calibri"/>
              <a:sym typeface="Calibri"/>
            </a:endParaRPr>
          </a:p>
        </p:txBody>
      </p:sp>
      <p:sp>
        <p:nvSpPr>
          <p:cNvPr id="148" name="Google Shape;148;p9"/>
          <p:cNvSpPr/>
          <p:nvPr/>
        </p:nvSpPr>
        <p:spPr>
          <a:xfrm>
            <a:off x="4629150" y="2594595"/>
            <a:ext cx="5632698" cy="7063755"/>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4953000" y="2937495"/>
            <a:ext cx="5483498"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F3F2F2"/>
              </a:buClr>
              <a:buSzPts val="1950"/>
              <a:buFont typeface="Archivo"/>
              <a:buNone/>
            </a:pPr>
            <a:r>
              <a:rPr b="1" i="0" lang="en-US" sz="1950" u="none" cap="none" strike="noStrike">
                <a:solidFill>
                  <a:srgbClr val="F3F2F2"/>
                </a:solidFill>
                <a:latin typeface="Archivo"/>
                <a:ea typeface="Archivo"/>
                <a:cs typeface="Archivo"/>
                <a:sym typeface="Archivo"/>
              </a:rPr>
              <a:t>MPWatcher</a:t>
            </a:r>
            <a:endParaRPr b="0" i="0" sz="1950" u="none" cap="none" strike="noStrike">
              <a:solidFill>
                <a:schemeClr val="dk1"/>
              </a:solidFill>
              <a:latin typeface="Calibri"/>
              <a:ea typeface="Calibri"/>
              <a:cs typeface="Calibri"/>
              <a:sym typeface="Calibri"/>
            </a:endParaRPr>
          </a:p>
        </p:txBody>
      </p:sp>
      <p:sp>
        <p:nvSpPr>
          <p:cNvPr id="150" name="Google Shape;150;p9"/>
          <p:cNvSpPr/>
          <p:nvPr/>
        </p:nvSpPr>
        <p:spPr>
          <a:xfrm>
            <a:off x="4953000" y="4862513"/>
            <a:ext cx="5134548" cy="2058888"/>
          </a:xfrm>
          <a:prstGeom prst="rect">
            <a:avLst/>
          </a:prstGeom>
          <a:noFill/>
          <a:ln>
            <a:noFill/>
          </a:ln>
        </p:spPr>
        <p:txBody>
          <a:bodyPr anchorCtr="0" anchor="t" bIns="25400" lIns="25400" spcFirstLastPara="1" rIns="25400" wrap="square" tIns="25400">
            <a:noAutofit/>
          </a:bodyPr>
          <a:lstStyle/>
          <a:p>
            <a:pPr indent="0" lvl="0" marL="0" marR="0" rtl="0" algn="l">
              <a:lnSpc>
                <a:spcPct val="93876"/>
              </a:lnSpc>
              <a:spcBef>
                <a:spcPts val="0"/>
              </a:spcBef>
              <a:spcAft>
                <a:spcPts val="0"/>
              </a:spcAft>
              <a:buClr>
                <a:srgbClr val="F3F2F2"/>
              </a:buClr>
              <a:buSzPts val="3900"/>
              <a:buFont typeface="Archivo"/>
              <a:buNone/>
            </a:pPr>
            <a:r>
              <a:rPr b="1" i="0" lang="en-US" sz="3900" u="none" cap="none" strike="noStrike">
                <a:solidFill>
                  <a:srgbClr val="F3F2F2"/>
                </a:solidFill>
                <a:latin typeface="Archivo"/>
                <a:ea typeface="Archivo"/>
                <a:cs typeface="Archivo"/>
                <a:sym typeface="Archivo"/>
              </a:rPr>
              <a:t>No busques licitaciones. Que ellas te busquen a ti.</a:t>
            </a:r>
            <a:endParaRPr b="0" i="0" sz="3900" u="none" cap="none" strike="noStrike">
              <a:solidFill>
                <a:schemeClr val="dk1"/>
              </a:solidFill>
              <a:latin typeface="Calibri"/>
              <a:ea typeface="Calibri"/>
              <a:cs typeface="Calibri"/>
              <a:sym typeface="Calibri"/>
            </a:endParaRPr>
          </a:p>
        </p:txBody>
      </p:sp>
      <p:sp>
        <p:nvSpPr>
          <p:cNvPr id="151" name="Google Shape;151;p9"/>
          <p:cNvSpPr/>
          <p:nvPr/>
        </p:nvSpPr>
        <p:spPr>
          <a:xfrm>
            <a:off x="4953000" y="8424565"/>
            <a:ext cx="5134548" cy="544711"/>
          </a:xfrm>
          <a:prstGeom prst="rect">
            <a:avLst/>
          </a:prstGeom>
          <a:noFill/>
          <a:ln>
            <a:noFill/>
          </a:ln>
        </p:spPr>
        <p:txBody>
          <a:bodyPr anchorCtr="0" anchor="t" bIns="25400" lIns="25400" spcFirstLastPara="1" rIns="25400" wrap="square" tIns="25400">
            <a:noAutofit/>
          </a:bodyPr>
          <a:lstStyle/>
          <a:p>
            <a:pPr indent="0" lvl="0" marL="0" marR="0" rtl="0" algn="l">
              <a:lnSpc>
                <a:spcPct val="129756"/>
              </a:lnSpc>
              <a:spcBef>
                <a:spcPts val="0"/>
              </a:spcBef>
              <a:spcAft>
                <a:spcPts val="0"/>
              </a:spcAft>
              <a:buClr>
                <a:srgbClr val="F3F2F2"/>
              </a:buClr>
              <a:buSzPts val="1425"/>
              <a:buFont typeface="Archivo"/>
              <a:buNone/>
            </a:pPr>
            <a:r>
              <a:rPr b="0" i="0" lang="en-US" sz="1425" u="none" cap="none" strike="noStrike">
                <a:solidFill>
                  <a:srgbClr val="F3F2F2"/>
                </a:solidFill>
                <a:latin typeface="Archivo"/>
                <a:ea typeface="Archivo"/>
                <a:cs typeface="Archivo"/>
                <a:sym typeface="Archivo"/>
              </a:rPr>
              <a:t>Monitoreo automático de Mercado Público con IA: filtramos, resumimos y avisamos solo lo relevante para tu pyme.</a:t>
            </a:r>
            <a:endParaRPr b="0" i="0" sz="1425" u="none" cap="none" strike="noStrike">
              <a:solidFill>
                <a:schemeClr val="dk1"/>
              </a:solidFill>
              <a:latin typeface="Calibri"/>
              <a:ea typeface="Calibri"/>
              <a:cs typeface="Calibri"/>
              <a:sym typeface="Calibri"/>
            </a:endParaRPr>
          </a:p>
        </p:txBody>
      </p:sp>
      <p:sp>
        <p:nvSpPr>
          <p:cNvPr id="152" name="Google Shape;152;p9"/>
          <p:cNvSpPr/>
          <p:nvPr/>
        </p:nvSpPr>
        <p:spPr>
          <a:xfrm>
            <a:off x="4953000" y="9064526"/>
            <a:ext cx="5483498"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F3F2F2"/>
              </a:buClr>
              <a:buSzPts val="1275"/>
              <a:buFont typeface="Archivo"/>
              <a:buNone/>
            </a:pPr>
            <a:r>
              <a:rPr b="0" i="0" lang="en-US" sz="1275" u="none" cap="none" strike="noStrike">
                <a:solidFill>
                  <a:srgbClr val="F3F2F2"/>
                </a:solidFill>
                <a:latin typeface="Archivo"/>
                <a:ea typeface="Archivo"/>
                <a:cs typeface="Archivo"/>
                <a:sym typeface="Archivo"/>
              </a:rPr>
              <a:t>+2.400 licitaciones/día · Alertas en minutos</a:t>
            </a:r>
            <a:endParaRPr b="0" i="0" sz="1275" u="none" cap="none" strike="noStrike">
              <a:solidFill>
                <a:schemeClr val="dk1"/>
              </a:solidFill>
              <a:latin typeface="Calibri"/>
              <a:ea typeface="Calibri"/>
              <a:cs typeface="Calibri"/>
              <a:sym typeface="Calibri"/>
            </a:endParaRPr>
          </a:p>
        </p:txBody>
      </p:sp>
      <p:sp>
        <p:nvSpPr>
          <p:cNvPr id="153" name="Google Shape;153;p9"/>
          <p:cNvSpPr/>
          <p:nvPr/>
        </p:nvSpPr>
        <p:spPr>
          <a:xfrm>
            <a:off x="10604748" y="2918445"/>
            <a:ext cx="7131412" cy="451470"/>
          </a:xfrm>
          <a:prstGeom prst="rect">
            <a:avLst/>
          </a:prstGeom>
          <a:noFill/>
          <a:ln>
            <a:noFill/>
          </a:ln>
        </p:spPr>
        <p:txBody>
          <a:bodyPr anchorCtr="0" anchor="t" bIns="25400" lIns="25400" spcFirstLastPara="1" rIns="25400" wrap="square" tIns="25400">
            <a:noAutofit/>
          </a:bodyPr>
          <a:lstStyle/>
          <a:p>
            <a:pPr indent="0" lvl="0" marL="0" marR="0" rtl="0" algn="l">
              <a:lnSpc>
                <a:spcPct val="142295"/>
              </a:lnSpc>
              <a:spcBef>
                <a:spcPts val="0"/>
              </a:spcBef>
              <a:spcAft>
                <a:spcPts val="0"/>
              </a:spcAft>
              <a:buClr>
                <a:srgbClr val="201E1D"/>
              </a:buClr>
              <a:buSzPts val="2100"/>
              <a:buFont typeface="Archivo"/>
              <a:buNone/>
            </a:pPr>
            <a:r>
              <a:rPr b="1" i="0" lang="en-US" sz="2100" u="none" cap="none" strike="noStrike">
                <a:solidFill>
                  <a:srgbClr val="201E1D"/>
                </a:solidFill>
                <a:latin typeface="Archivo"/>
                <a:ea typeface="Archivo"/>
                <a:cs typeface="Archivo"/>
                <a:sym typeface="Archivo"/>
              </a:rPr>
              <a:t>Inicia sesión</a:t>
            </a:r>
            <a:endParaRPr b="0" i="0" sz="2100" u="none" cap="none" strike="noStrike">
              <a:solidFill>
                <a:schemeClr val="dk1"/>
              </a:solidFill>
              <a:latin typeface="Calibri"/>
              <a:ea typeface="Calibri"/>
              <a:cs typeface="Calibri"/>
              <a:sym typeface="Calibri"/>
            </a:endParaRPr>
          </a:p>
        </p:txBody>
      </p:sp>
      <p:sp>
        <p:nvSpPr>
          <p:cNvPr id="154" name="Google Shape;154;p9"/>
          <p:cNvSpPr/>
          <p:nvPr/>
        </p:nvSpPr>
        <p:spPr>
          <a:xfrm>
            <a:off x="10604748" y="3522315"/>
            <a:ext cx="7131412"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Correo</a:t>
            </a:r>
            <a:endParaRPr b="0" i="0" sz="1275" u="none" cap="none" strike="noStrike">
              <a:solidFill>
                <a:schemeClr val="dk1"/>
              </a:solidFill>
              <a:latin typeface="Calibri"/>
              <a:ea typeface="Calibri"/>
              <a:cs typeface="Calibri"/>
              <a:sym typeface="Calibri"/>
            </a:endParaRPr>
          </a:p>
        </p:txBody>
      </p:sp>
      <p:sp>
        <p:nvSpPr>
          <p:cNvPr id="155" name="Google Shape;155;p9"/>
          <p:cNvSpPr/>
          <p:nvPr/>
        </p:nvSpPr>
        <p:spPr>
          <a:xfrm>
            <a:off x="10604748" y="3830389"/>
            <a:ext cx="6483102" cy="400050"/>
          </a:xfrm>
          <a:prstGeom prst="rect">
            <a:avLst/>
          </a:prstGeom>
          <a:solidFill>
            <a:srgbClr val="EAE9E9"/>
          </a:solid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9"/>
          <p:cNvSpPr/>
          <p:nvPr/>
        </p:nvSpPr>
        <p:spPr>
          <a:xfrm>
            <a:off x="10728573" y="3839914"/>
            <a:ext cx="6429945" cy="419100"/>
          </a:xfrm>
          <a:prstGeom prst="rect">
            <a:avLst/>
          </a:prstGeom>
          <a:noFill/>
          <a:ln>
            <a:noFill/>
          </a:ln>
        </p:spPr>
        <p:txBody>
          <a:bodyPr anchorCtr="0" anchor="ctr" bIns="25400" lIns="25400" spcFirstLastPara="1" rIns="25400" wrap="square" tIns="25400">
            <a:noAutofit/>
          </a:bodyPr>
          <a:lstStyle/>
          <a:p>
            <a:pPr indent="0" lvl="0" marL="0" marR="0" rtl="0" algn="l">
              <a:lnSpc>
                <a:spcPct val="139500"/>
              </a:lnSpc>
              <a:spcBef>
                <a:spcPts val="0"/>
              </a:spcBef>
              <a:spcAft>
                <a:spcPts val="0"/>
              </a:spcAft>
              <a:buClr>
                <a:srgbClr val="7D7979"/>
              </a:buClr>
              <a:buSzPts val="1350"/>
              <a:buFont typeface="Archivo"/>
              <a:buNone/>
            </a:pPr>
            <a:r>
              <a:rPr b="0" i="0" lang="en-US" sz="1350" u="none" cap="none" strike="noStrike">
                <a:solidFill>
                  <a:srgbClr val="7D7979"/>
                </a:solidFill>
                <a:latin typeface="Archivo"/>
                <a:ea typeface="Archivo"/>
                <a:cs typeface="Archivo"/>
                <a:sym typeface="Archivo"/>
              </a:rPr>
              <a:t>nombre@empresa.cl</a:t>
            </a:r>
            <a:endParaRPr b="0" i="0" sz="1350" u="none" cap="none" strike="noStrike">
              <a:solidFill>
                <a:schemeClr val="dk1"/>
              </a:solidFill>
              <a:latin typeface="Calibri"/>
              <a:ea typeface="Calibri"/>
              <a:cs typeface="Calibri"/>
              <a:sym typeface="Calibri"/>
            </a:endParaRPr>
          </a:p>
        </p:txBody>
      </p:sp>
      <p:sp>
        <p:nvSpPr>
          <p:cNvPr id="157" name="Google Shape;157;p9"/>
          <p:cNvSpPr/>
          <p:nvPr/>
        </p:nvSpPr>
        <p:spPr>
          <a:xfrm>
            <a:off x="10604748" y="4382839"/>
            <a:ext cx="7131412"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Contraseña</a:t>
            </a:r>
            <a:endParaRPr b="0" i="0" sz="1275" u="none" cap="none" strike="noStrike">
              <a:solidFill>
                <a:schemeClr val="dk1"/>
              </a:solidFill>
              <a:latin typeface="Calibri"/>
              <a:ea typeface="Calibri"/>
              <a:cs typeface="Calibri"/>
              <a:sym typeface="Calibri"/>
            </a:endParaRPr>
          </a:p>
        </p:txBody>
      </p:sp>
      <p:sp>
        <p:nvSpPr>
          <p:cNvPr id="158" name="Google Shape;158;p9"/>
          <p:cNvSpPr/>
          <p:nvPr/>
        </p:nvSpPr>
        <p:spPr>
          <a:xfrm>
            <a:off x="10604748" y="4690914"/>
            <a:ext cx="6483102" cy="400050"/>
          </a:xfrm>
          <a:prstGeom prst="rect">
            <a:avLst/>
          </a:prstGeom>
          <a:solidFill>
            <a:srgbClr val="EAE9E9"/>
          </a:solid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9"/>
          <p:cNvSpPr/>
          <p:nvPr/>
        </p:nvSpPr>
        <p:spPr>
          <a:xfrm>
            <a:off x="10728573" y="4700439"/>
            <a:ext cx="6429945" cy="419100"/>
          </a:xfrm>
          <a:prstGeom prst="rect">
            <a:avLst/>
          </a:prstGeom>
          <a:noFill/>
          <a:ln>
            <a:noFill/>
          </a:ln>
        </p:spPr>
        <p:txBody>
          <a:bodyPr anchorCtr="0" anchor="ctr" bIns="25400" lIns="25400" spcFirstLastPara="1" rIns="25400" wrap="square" tIns="25400">
            <a:noAutofit/>
          </a:bodyPr>
          <a:lstStyle/>
          <a:p>
            <a:pPr indent="0" lvl="0" marL="0" marR="0" rtl="0" algn="l">
              <a:lnSpc>
                <a:spcPct val="139500"/>
              </a:lnSpc>
              <a:spcBef>
                <a:spcPts val="0"/>
              </a:spcBef>
              <a:spcAft>
                <a:spcPts val="0"/>
              </a:spcAft>
              <a:buClr>
                <a:srgbClr val="7D7979"/>
              </a:buClr>
              <a:buSzPts val="1350"/>
              <a:buFont typeface="Archivo"/>
              <a:buNone/>
            </a:pPr>
            <a:r>
              <a:rPr b="0" i="0" lang="en-US" sz="1350" u="none" cap="none" strike="noStrike">
                <a:solidFill>
                  <a:srgbClr val="7D7979"/>
                </a:solidFill>
                <a:latin typeface="Archivo"/>
                <a:ea typeface="Archivo"/>
                <a:cs typeface="Archivo"/>
                <a:sym typeface="Archivo"/>
              </a:rPr>
              <a:t>••••••••</a:t>
            </a:r>
            <a:endParaRPr b="0" i="0" sz="1350" u="none" cap="none" strike="noStrike">
              <a:solidFill>
                <a:schemeClr val="dk1"/>
              </a:solidFill>
              <a:latin typeface="Calibri"/>
              <a:ea typeface="Calibri"/>
              <a:cs typeface="Calibri"/>
              <a:sym typeface="Calibri"/>
            </a:endParaRPr>
          </a:p>
        </p:txBody>
      </p:sp>
      <p:sp>
        <p:nvSpPr>
          <p:cNvPr id="160" name="Google Shape;160;p9"/>
          <p:cNvSpPr/>
          <p:nvPr/>
        </p:nvSpPr>
        <p:spPr>
          <a:xfrm>
            <a:off x="10604748" y="5281464"/>
            <a:ext cx="6483102" cy="41910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9"/>
          <p:cNvSpPr/>
          <p:nvPr/>
        </p:nvSpPr>
        <p:spPr>
          <a:xfrm>
            <a:off x="10757148" y="5281464"/>
            <a:ext cx="6372795" cy="457200"/>
          </a:xfrm>
          <a:prstGeom prst="rect">
            <a:avLst/>
          </a:prstGeom>
          <a:noFill/>
          <a:ln>
            <a:noFill/>
          </a:ln>
        </p:spPr>
        <p:txBody>
          <a:bodyPr anchorCtr="0" anchor="ctr" bIns="25400" lIns="25400" spcFirstLastPara="1" rIns="25400" wrap="square" tIns="25400">
            <a:noAutofit/>
          </a:bodyPr>
          <a:lstStyle/>
          <a:p>
            <a:pPr indent="0" lvl="0" marL="0" marR="0" rtl="0" algn="l">
              <a:lnSpc>
                <a:spcPct val="143659"/>
              </a:lnSpc>
              <a:spcBef>
                <a:spcPts val="0"/>
              </a:spcBef>
              <a:spcAft>
                <a:spcPts val="0"/>
              </a:spcAft>
              <a:buClr>
                <a:srgbClr val="F3F2F2"/>
              </a:buClr>
              <a:buSzPts val="1425"/>
              <a:buFont typeface="Archivo"/>
              <a:buNone/>
            </a:pPr>
            <a:r>
              <a:rPr b="1" i="0" lang="en-US" sz="1425" u="none" cap="none" strike="noStrike">
                <a:solidFill>
                  <a:srgbClr val="F3F2F2"/>
                </a:solidFill>
                <a:latin typeface="Archivo"/>
                <a:ea typeface="Archivo"/>
                <a:cs typeface="Archivo"/>
                <a:sym typeface="Archivo"/>
              </a:rPr>
              <a:t>Ingresar</a:t>
            </a:r>
            <a:endParaRPr b="0" i="0" sz="1425" u="none" cap="none" strike="noStrike">
              <a:solidFill>
                <a:schemeClr val="dk1"/>
              </a:solidFill>
              <a:latin typeface="Calibri"/>
              <a:ea typeface="Calibri"/>
              <a:cs typeface="Calibri"/>
              <a:sym typeface="Calibri"/>
            </a:endParaRPr>
          </a:p>
        </p:txBody>
      </p:sp>
      <p:sp>
        <p:nvSpPr>
          <p:cNvPr id="162" name="Google Shape;162;p9"/>
          <p:cNvSpPr/>
          <p:nvPr/>
        </p:nvSpPr>
        <p:spPr>
          <a:xfrm>
            <a:off x="10604748" y="5948214"/>
            <a:ext cx="6483102"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9"/>
          <p:cNvSpPr/>
          <p:nvPr/>
        </p:nvSpPr>
        <p:spPr>
          <a:xfrm>
            <a:off x="10604748" y="6157764"/>
            <a:ext cx="7131412" cy="259556"/>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EC3013"/>
              </a:buClr>
              <a:buSzPts val="1125"/>
              <a:buFont typeface="Archivo"/>
              <a:buNone/>
            </a:pPr>
            <a:r>
              <a:rPr b="1" i="0" lang="en-US" sz="1125" u="none" cap="none" strike="noStrike">
                <a:solidFill>
                  <a:srgbClr val="EC3013"/>
                </a:solidFill>
                <a:latin typeface="Archivo"/>
                <a:ea typeface="Archivo"/>
                <a:cs typeface="Archivo"/>
                <a:sym typeface="Archivo"/>
              </a:rPr>
              <a:t>NUEVA CUENTA — PASO 1 DE 3</a:t>
            </a:r>
            <a:endParaRPr b="0" i="0" sz="1125" u="none" cap="none" strike="noStrike">
              <a:solidFill>
                <a:schemeClr val="dk1"/>
              </a:solidFill>
              <a:latin typeface="Calibri"/>
              <a:ea typeface="Calibri"/>
              <a:cs typeface="Calibri"/>
              <a:sym typeface="Calibri"/>
            </a:endParaRPr>
          </a:p>
        </p:txBody>
      </p:sp>
      <p:sp>
        <p:nvSpPr>
          <p:cNvPr id="164" name="Google Shape;164;p9"/>
          <p:cNvSpPr/>
          <p:nvPr/>
        </p:nvSpPr>
        <p:spPr>
          <a:xfrm>
            <a:off x="10604748" y="6474470"/>
            <a:ext cx="7131412" cy="269528"/>
          </a:xfrm>
          <a:prstGeom prst="rect">
            <a:avLst/>
          </a:prstGeom>
          <a:noFill/>
          <a:ln>
            <a:noFill/>
          </a:ln>
        </p:spPr>
        <p:txBody>
          <a:bodyPr anchorCtr="0" anchor="t" bIns="25400" lIns="25400" spcFirstLastPara="1" rIns="25400" wrap="square" tIns="25400">
            <a:noAutofit/>
          </a:bodyPr>
          <a:lstStyle/>
          <a:p>
            <a:pPr indent="0" lvl="0" marL="0" marR="0" rtl="0" algn="l">
              <a:lnSpc>
                <a:spcPct val="121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Cuéntanos el rubro de tu empresa para empezar a filtrar licitaciones relevantes.</a:t>
            </a:r>
            <a:endParaRPr b="0" i="0" sz="1350" u="none" cap="none" strike="noStrike">
              <a:solidFill>
                <a:schemeClr val="dk1"/>
              </a:solidFill>
              <a:latin typeface="Calibri"/>
              <a:ea typeface="Calibri"/>
              <a:cs typeface="Calibri"/>
              <a:sym typeface="Calibri"/>
            </a:endParaRPr>
          </a:p>
        </p:txBody>
      </p:sp>
      <p:sp>
        <p:nvSpPr>
          <p:cNvPr id="165" name="Google Shape;165;p9"/>
          <p:cNvSpPr/>
          <p:nvPr/>
        </p:nvSpPr>
        <p:spPr>
          <a:xfrm>
            <a:off x="10604748" y="6839248"/>
            <a:ext cx="1250231" cy="384274"/>
          </a:xfrm>
          <a:prstGeom prst="rect">
            <a:avLst/>
          </a:prstGeom>
          <a:noFill/>
          <a:ln cap="flat" cmpd="sng" w="9525">
            <a:solidFill>
              <a:srgbClr val="EC30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10747623" y="6905923"/>
            <a:ext cx="1040681"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1275"/>
              <a:buFont typeface="Archivo"/>
              <a:buNone/>
            </a:pPr>
            <a:r>
              <a:rPr b="0" i="0" lang="en-US" sz="1275" u="none" cap="none" strike="noStrike">
                <a:solidFill>
                  <a:srgbClr val="EC3013"/>
                </a:solidFill>
                <a:latin typeface="Archivo"/>
                <a:ea typeface="Archivo"/>
                <a:cs typeface="Archivo"/>
                <a:sym typeface="Archivo"/>
              </a:rPr>
              <a:t>Construcción</a:t>
            </a:r>
            <a:endParaRPr b="0" i="0" sz="1275" u="none" cap="none" strike="noStrike">
              <a:solidFill>
                <a:schemeClr val="dk1"/>
              </a:solidFill>
              <a:latin typeface="Calibri"/>
              <a:ea typeface="Calibri"/>
              <a:cs typeface="Calibri"/>
              <a:sym typeface="Calibri"/>
            </a:endParaRPr>
          </a:p>
        </p:txBody>
      </p:sp>
      <p:sp>
        <p:nvSpPr>
          <p:cNvPr id="167" name="Google Shape;167;p9"/>
          <p:cNvSpPr/>
          <p:nvPr/>
        </p:nvSpPr>
        <p:spPr>
          <a:xfrm>
            <a:off x="11931179" y="6839248"/>
            <a:ext cx="1070297" cy="384274"/>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12074054" y="6905923"/>
            <a:ext cx="860747"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Tecnología</a:t>
            </a:r>
            <a:endParaRPr b="0" i="0" sz="1275" u="none" cap="none" strike="noStrike">
              <a:solidFill>
                <a:schemeClr val="dk1"/>
              </a:solidFill>
              <a:latin typeface="Calibri"/>
              <a:ea typeface="Calibri"/>
              <a:cs typeface="Calibri"/>
              <a:sym typeface="Calibri"/>
            </a:endParaRPr>
          </a:p>
        </p:txBody>
      </p:sp>
      <p:sp>
        <p:nvSpPr>
          <p:cNvPr id="169" name="Google Shape;169;p9"/>
          <p:cNvSpPr/>
          <p:nvPr/>
        </p:nvSpPr>
        <p:spPr>
          <a:xfrm>
            <a:off x="13077676" y="6839248"/>
            <a:ext cx="1228279" cy="384274"/>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13220551" y="6905923"/>
            <a:ext cx="1018729"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Alimentación</a:t>
            </a:r>
            <a:endParaRPr b="0" i="0" sz="1275" u="none" cap="none" strike="noStrike">
              <a:solidFill>
                <a:schemeClr val="dk1"/>
              </a:solidFill>
              <a:latin typeface="Calibri"/>
              <a:ea typeface="Calibri"/>
              <a:cs typeface="Calibri"/>
              <a:sym typeface="Calibri"/>
            </a:endParaRPr>
          </a:p>
        </p:txBody>
      </p:sp>
      <p:sp>
        <p:nvSpPr>
          <p:cNvPr id="171" name="Google Shape;171;p9"/>
          <p:cNvSpPr/>
          <p:nvPr/>
        </p:nvSpPr>
        <p:spPr>
          <a:xfrm>
            <a:off x="14382155" y="6839248"/>
            <a:ext cx="950416" cy="384274"/>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9"/>
          <p:cNvSpPr/>
          <p:nvPr/>
        </p:nvSpPr>
        <p:spPr>
          <a:xfrm>
            <a:off x="14525030" y="6905923"/>
            <a:ext cx="740866"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Servicios</a:t>
            </a:r>
            <a:endParaRPr b="0" i="0" sz="1275" u="none" cap="none" strike="noStrike">
              <a:solidFill>
                <a:schemeClr val="dk1"/>
              </a:solidFill>
              <a:latin typeface="Calibri"/>
              <a:ea typeface="Calibri"/>
              <a:cs typeface="Calibri"/>
              <a:sym typeface="Calibri"/>
            </a:endParaRPr>
          </a:p>
        </p:txBody>
      </p:sp>
      <p:sp>
        <p:nvSpPr>
          <p:cNvPr id="173" name="Google Shape;173;p9"/>
          <p:cNvSpPr/>
          <p:nvPr/>
        </p:nvSpPr>
        <p:spPr>
          <a:xfrm>
            <a:off x="15408771" y="6839248"/>
            <a:ext cx="740866" cy="384274"/>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
          <p:cNvSpPr/>
          <p:nvPr/>
        </p:nvSpPr>
        <p:spPr>
          <a:xfrm>
            <a:off x="15551646" y="6905923"/>
            <a:ext cx="531316"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 Otro</a:t>
            </a:r>
            <a:endParaRPr b="0" i="0" sz="1275" u="none" cap="none" strike="noStrike">
              <a:solidFill>
                <a:schemeClr val="dk1"/>
              </a:solidFill>
              <a:latin typeface="Calibri"/>
              <a:ea typeface="Calibri"/>
              <a:cs typeface="Calibri"/>
              <a:sym typeface="Calibri"/>
            </a:endParaRPr>
          </a:p>
        </p:txBody>
      </p:sp>
      <p:sp>
        <p:nvSpPr>
          <p:cNvPr id="175" name="Google Shape;175;p9"/>
          <p:cNvSpPr/>
          <p:nvPr/>
        </p:nvSpPr>
        <p:spPr>
          <a:xfrm>
            <a:off x="10604748" y="8934450"/>
            <a:ext cx="1364754" cy="40005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9"/>
          <p:cNvSpPr/>
          <p:nvPr/>
        </p:nvSpPr>
        <p:spPr>
          <a:xfrm>
            <a:off x="10766673" y="8943975"/>
            <a:ext cx="1117104" cy="419100"/>
          </a:xfrm>
          <a:prstGeom prst="rect">
            <a:avLst/>
          </a:prstGeom>
          <a:noFill/>
          <a:ln>
            <a:noFill/>
          </a:ln>
        </p:spPr>
        <p:txBody>
          <a:bodyPr anchorCtr="0" anchor="ctr"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1" i="0" lang="en-US" sz="1350" u="none" cap="none" strike="noStrike">
                <a:solidFill>
                  <a:srgbClr val="201E1D"/>
                </a:solidFill>
                <a:latin typeface="Archivo"/>
                <a:ea typeface="Archivo"/>
                <a:cs typeface="Archivo"/>
                <a:sym typeface="Archivo"/>
              </a:rPr>
              <a:t>Continuar →</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81" name="Shape 181"/>
        <p:cNvGrpSpPr/>
        <p:nvPr/>
      </p:nvGrpSpPr>
      <p:grpSpPr>
        <a:xfrm>
          <a:off x="0" y="0"/>
          <a:ext cx="0" cy="0"/>
          <a:chOff x="0" y="0"/>
          <a:chExt cx="0" cy="0"/>
        </a:xfrm>
      </p:grpSpPr>
      <p:sp>
        <p:nvSpPr>
          <p:cNvPr id="182" name="Google Shape;182;p10"/>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02 · DESKTOP</a:t>
            </a:r>
            <a:endParaRPr b="0" i="0" sz="1800" u="none" cap="none" strike="noStrike">
              <a:solidFill>
                <a:schemeClr val="dk1"/>
              </a:solidFill>
              <a:latin typeface="Calibri"/>
              <a:ea typeface="Calibri"/>
              <a:cs typeface="Calibri"/>
              <a:sym typeface="Calibri"/>
            </a:endParaRPr>
          </a:p>
        </p:txBody>
      </p:sp>
      <p:sp>
        <p:nvSpPr>
          <p:cNvPr id="183" name="Google Shape;183;p10"/>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Dashboard: el resumen del día</a:t>
            </a:r>
            <a:endParaRPr b="0" i="0" sz="4500" u="none" cap="none" strike="noStrike">
              <a:solidFill>
                <a:schemeClr val="dk1"/>
              </a:solidFill>
              <a:latin typeface="Calibri"/>
              <a:ea typeface="Calibri"/>
              <a:cs typeface="Calibri"/>
              <a:sym typeface="Calibri"/>
            </a:endParaRPr>
          </a:p>
        </p:txBody>
      </p:sp>
      <p:sp>
        <p:nvSpPr>
          <p:cNvPr id="184" name="Google Shape;184;p10"/>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0"/>
          <p:cNvSpPr/>
          <p:nvPr/>
        </p:nvSpPr>
        <p:spPr>
          <a:xfrm>
            <a:off x="838200" y="2194545"/>
            <a:ext cx="3453384" cy="153144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Tres números arriba, las licitaciones con mayor match al centro y el estado del monitor a la derecha.</a:t>
            </a:r>
            <a:endParaRPr b="0" i="0" sz="2100" u="none" cap="none" strike="noStrike">
              <a:solidFill>
                <a:schemeClr val="dk1"/>
              </a:solidFill>
              <a:latin typeface="Calibri"/>
              <a:ea typeface="Calibri"/>
              <a:cs typeface="Calibri"/>
              <a:sym typeface="Calibri"/>
            </a:endParaRPr>
          </a:p>
        </p:txBody>
      </p:sp>
      <p:sp>
        <p:nvSpPr>
          <p:cNvPr id="186" name="Google Shape;186;p10"/>
          <p:cNvSpPr/>
          <p:nvPr/>
        </p:nvSpPr>
        <p:spPr>
          <a:xfrm>
            <a:off x="838200" y="3916487"/>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838200" y="4154612"/>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Porcentaje de match </a:t>
            </a:r>
            <a:r>
              <a:rPr b="0" i="0" lang="en-US" sz="1875" u="none" cap="none" strike="noStrike">
                <a:solidFill>
                  <a:srgbClr val="201E1D"/>
                </a:solidFill>
                <a:latin typeface="Archivo"/>
                <a:ea typeface="Archivo"/>
                <a:cs typeface="Archivo"/>
                <a:sym typeface="Archivo"/>
              </a:rPr>
              <a:t>— calculado por el LLM contra el perfil.</a:t>
            </a:r>
            <a:endParaRPr b="0" i="0" sz="1875" u="none" cap="none" strike="noStrike">
              <a:solidFill>
                <a:schemeClr val="dk1"/>
              </a:solidFill>
              <a:latin typeface="Calibri"/>
              <a:ea typeface="Calibri"/>
              <a:cs typeface="Calibri"/>
              <a:sym typeface="Calibri"/>
            </a:endParaRPr>
          </a:p>
        </p:txBody>
      </p:sp>
      <p:sp>
        <p:nvSpPr>
          <p:cNvPr id="188" name="Google Shape;188;p10"/>
          <p:cNvSpPr/>
          <p:nvPr/>
        </p:nvSpPr>
        <p:spPr>
          <a:xfrm>
            <a:off x="838200" y="5383337"/>
            <a:ext cx="3453384" cy="704850"/>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Próximos cierres </a:t>
            </a:r>
            <a:r>
              <a:rPr b="0" i="0" lang="en-US" sz="1875" u="none" cap="none" strike="noStrike">
                <a:solidFill>
                  <a:srgbClr val="201E1D"/>
                </a:solidFill>
                <a:latin typeface="Archivo"/>
                <a:ea typeface="Archivo"/>
                <a:cs typeface="Archivo"/>
                <a:sym typeface="Archivo"/>
              </a:rPr>
              <a:t>— la urgencia siempre visible.</a:t>
            </a:r>
            <a:endParaRPr b="0" i="0" sz="1875" u="none" cap="none" strike="noStrike">
              <a:solidFill>
                <a:schemeClr val="dk1"/>
              </a:solidFill>
              <a:latin typeface="Calibri"/>
              <a:ea typeface="Calibri"/>
              <a:cs typeface="Calibri"/>
              <a:sym typeface="Calibri"/>
            </a:endParaRPr>
          </a:p>
        </p:txBody>
      </p:sp>
      <p:sp>
        <p:nvSpPr>
          <p:cNvPr id="189" name="Google Shape;189;p10"/>
          <p:cNvSpPr/>
          <p:nvPr/>
        </p:nvSpPr>
        <p:spPr>
          <a:xfrm>
            <a:off x="838200" y="6278687"/>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Estado del monitor </a:t>
            </a:r>
            <a:r>
              <a:rPr b="0" i="0" lang="en-US" sz="1875" u="none" cap="none" strike="noStrike">
                <a:solidFill>
                  <a:srgbClr val="201E1D"/>
                </a:solidFill>
                <a:latin typeface="Archivo"/>
                <a:ea typeface="Archivo"/>
                <a:cs typeface="Archivo"/>
                <a:sym typeface="Archivo"/>
              </a:rPr>
              <a:t>— el usuario sabe que el agente está vivo.</a:t>
            </a:r>
            <a:endParaRPr b="0" i="0" sz="1875" u="none" cap="none" strike="noStrike">
              <a:solidFill>
                <a:schemeClr val="dk1"/>
              </a:solidFill>
              <a:latin typeface="Calibri"/>
              <a:ea typeface="Calibri"/>
              <a:cs typeface="Calibri"/>
              <a:sym typeface="Calibri"/>
            </a:endParaRPr>
          </a:p>
        </p:txBody>
      </p:sp>
      <p:sp>
        <p:nvSpPr>
          <p:cNvPr id="190" name="Google Shape;190;p10"/>
          <p:cNvSpPr/>
          <p:nvPr/>
        </p:nvSpPr>
        <p:spPr>
          <a:xfrm>
            <a:off x="4610100" y="2194545"/>
            <a:ext cx="1283970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0"/>
          <p:cNvSpPr/>
          <p:nvPr/>
        </p:nvSpPr>
        <p:spPr>
          <a:xfrm>
            <a:off x="4629150" y="2213595"/>
            <a:ext cx="12801600" cy="381000"/>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p:nvPr/>
        </p:nvSpPr>
        <p:spPr>
          <a:xfrm>
            <a:off x="4629150" y="2575545"/>
            <a:ext cx="12801600" cy="1905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4781550" y="2342183"/>
            <a:ext cx="104775" cy="104775"/>
          </a:xfrm>
          <a:prstGeom prst="rect">
            <a:avLst/>
          </a:prstGeom>
          <a:solidFill>
            <a:srgbClr val="9B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0"/>
          <p:cNvSpPr/>
          <p:nvPr/>
        </p:nvSpPr>
        <p:spPr>
          <a:xfrm>
            <a:off x="4972050" y="2342183"/>
            <a:ext cx="104775" cy="104775"/>
          </a:xfrm>
          <a:prstGeom prst="rect">
            <a:avLst/>
          </a:prstGeom>
          <a:solidFill>
            <a:srgbClr val="BA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0"/>
          <p:cNvSpPr/>
          <p:nvPr/>
        </p:nvSpPr>
        <p:spPr>
          <a:xfrm>
            <a:off x="5162550" y="2342183"/>
            <a:ext cx="104775" cy="104775"/>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5505450" y="2276475"/>
            <a:ext cx="2225159"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app.mpwatcher.cl / dashboard</a:t>
            </a:r>
            <a:endParaRPr b="0" i="0" sz="1200" u="none" cap="none" strike="noStrike">
              <a:solidFill>
                <a:schemeClr val="dk1"/>
              </a:solidFill>
              <a:latin typeface="Calibri"/>
              <a:ea typeface="Calibri"/>
              <a:cs typeface="Calibri"/>
              <a:sym typeface="Calibri"/>
            </a:endParaRPr>
          </a:p>
        </p:txBody>
      </p:sp>
      <p:sp>
        <p:nvSpPr>
          <p:cNvPr id="197" name="Google Shape;197;p10"/>
          <p:cNvSpPr/>
          <p:nvPr/>
        </p:nvSpPr>
        <p:spPr>
          <a:xfrm>
            <a:off x="4629150" y="3070845"/>
            <a:ext cx="1280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p:nvPr/>
        </p:nvSpPr>
        <p:spPr>
          <a:xfrm>
            <a:off x="4876800" y="2677716"/>
            <a:ext cx="1236985" cy="348109"/>
          </a:xfrm>
          <a:prstGeom prst="rect">
            <a:avLst/>
          </a:prstGeom>
          <a:noFill/>
          <a:ln>
            <a:noFill/>
          </a:ln>
        </p:spPr>
        <p:txBody>
          <a:bodyPr anchorCtr="0" anchor="t" bIns="25400" lIns="25400" spcFirstLastPara="1" rIns="25400" wrap="square" tIns="25400">
            <a:noAutofit/>
          </a:bodyPr>
          <a:lstStyle/>
          <a:p>
            <a:pPr indent="0" lvl="0" marL="0" marR="0" rtl="0" algn="l">
              <a:lnSpc>
                <a:spcPct val="141522"/>
              </a:lnSpc>
              <a:spcBef>
                <a:spcPts val="0"/>
              </a:spcBef>
              <a:spcAft>
                <a:spcPts val="0"/>
              </a:spcAft>
              <a:buClr>
                <a:srgbClr val="201E1D"/>
              </a:buClr>
              <a:buSzPts val="1575"/>
              <a:buFont typeface="Archivo"/>
              <a:buNone/>
            </a:pPr>
            <a:r>
              <a:rPr b="1" i="0" lang="en-US" sz="1575" u="none" cap="none" strike="noStrike">
                <a:solidFill>
                  <a:srgbClr val="201E1D"/>
                </a:solidFill>
                <a:latin typeface="Archivo"/>
                <a:ea typeface="Archivo"/>
                <a:cs typeface="Archivo"/>
                <a:sym typeface="Archivo"/>
              </a:rPr>
              <a:t>MPWatcher</a:t>
            </a:r>
            <a:endParaRPr b="0" i="0" sz="1575" u="none" cap="none" strike="noStrike">
              <a:solidFill>
                <a:schemeClr val="dk1"/>
              </a:solidFill>
              <a:latin typeface="Calibri"/>
              <a:ea typeface="Calibri"/>
              <a:cs typeface="Calibri"/>
              <a:sym typeface="Calibri"/>
            </a:endParaRPr>
          </a:p>
        </p:txBody>
      </p:sp>
      <p:sp>
        <p:nvSpPr>
          <p:cNvPr id="199" name="Google Shape;199;p10"/>
          <p:cNvSpPr/>
          <p:nvPr/>
        </p:nvSpPr>
        <p:spPr>
          <a:xfrm>
            <a:off x="13105358" y="2699817"/>
            <a:ext cx="950491"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EC3013"/>
              </a:buClr>
              <a:buSzPts val="1350"/>
              <a:buFont typeface="Archivo"/>
              <a:buNone/>
            </a:pPr>
            <a:r>
              <a:rPr b="1" i="0" lang="en-US" sz="1350" u="none" cap="none" strike="noStrike">
                <a:solidFill>
                  <a:srgbClr val="EC3013"/>
                </a:solidFill>
                <a:latin typeface="Archivo"/>
                <a:ea typeface="Archivo"/>
                <a:cs typeface="Archivo"/>
                <a:sym typeface="Archivo"/>
              </a:rPr>
              <a:t>Dashboard</a:t>
            </a:r>
            <a:endParaRPr b="0" i="0" sz="1350" u="none" cap="none" strike="noStrike">
              <a:solidFill>
                <a:schemeClr val="dk1"/>
              </a:solidFill>
              <a:latin typeface="Calibri"/>
              <a:ea typeface="Calibri"/>
              <a:cs typeface="Calibri"/>
              <a:sym typeface="Calibri"/>
            </a:endParaRPr>
          </a:p>
        </p:txBody>
      </p:sp>
      <p:sp>
        <p:nvSpPr>
          <p:cNvPr id="200" name="Google Shape;200;p10"/>
          <p:cNvSpPr/>
          <p:nvPr/>
        </p:nvSpPr>
        <p:spPr>
          <a:xfrm>
            <a:off x="14246349" y="2699817"/>
            <a:ext cx="981596"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Licitaciones</a:t>
            </a:r>
            <a:endParaRPr b="0" i="0" sz="1350" u="none" cap="none" strike="noStrike">
              <a:solidFill>
                <a:schemeClr val="dk1"/>
              </a:solidFill>
              <a:latin typeface="Calibri"/>
              <a:ea typeface="Calibri"/>
              <a:cs typeface="Calibri"/>
              <a:sym typeface="Calibri"/>
            </a:endParaRPr>
          </a:p>
        </p:txBody>
      </p:sp>
      <p:sp>
        <p:nvSpPr>
          <p:cNvPr id="201" name="Google Shape;201;p10"/>
          <p:cNvSpPr/>
          <p:nvPr/>
        </p:nvSpPr>
        <p:spPr>
          <a:xfrm>
            <a:off x="15418445" y="2699817"/>
            <a:ext cx="614214"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Alertas</a:t>
            </a:r>
            <a:endParaRPr b="0" i="0" sz="1350" u="none" cap="none" strike="noStrike">
              <a:solidFill>
                <a:schemeClr val="dk1"/>
              </a:solidFill>
              <a:latin typeface="Calibri"/>
              <a:ea typeface="Calibri"/>
              <a:cs typeface="Calibri"/>
              <a:sym typeface="Calibri"/>
            </a:endParaRPr>
          </a:p>
        </p:txBody>
      </p:sp>
      <p:sp>
        <p:nvSpPr>
          <p:cNvPr id="202" name="Google Shape;202;p10"/>
          <p:cNvSpPr/>
          <p:nvPr/>
        </p:nvSpPr>
        <p:spPr>
          <a:xfrm>
            <a:off x="16223159" y="2699817"/>
            <a:ext cx="464641"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Perfil</a:t>
            </a:r>
            <a:endParaRPr b="0" i="0" sz="1350" u="none" cap="none" strike="noStrike">
              <a:solidFill>
                <a:schemeClr val="dk1"/>
              </a:solidFill>
              <a:latin typeface="Calibri"/>
              <a:ea typeface="Calibri"/>
              <a:cs typeface="Calibri"/>
              <a:sym typeface="Calibri"/>
            </a:endParaRPr>
          </a:p>
        </p:txBody>
      </p:sp>
      <p:sp>
        <p:nvSpPr>
          <p:cNvPr id="203" name="Google Shape;203;p10"/>
          <p:cNvSpPr/>
          <p:nvPr/>
        </p:nvSpPr>
        <p:spPr>
          <a:xfrm>
            <a:off x="16878300" y="2680320"/>
            <a:ext cx="304800" cy="30480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p:nvPr/>
        </p:nvSpPr>
        <p:spPr>
          <a:xfrm>
            <a:off x="16840200" y="2680320"/>
            <a:ext cx="381000" cy="342900"/>
          </a:xfrm>
          <a:prstGeom prst="rect">
            <a:avLst/>
          </a:prstGeom>
          <a:noFill/>
          <a:ln>
            <a:noFill/>
          </a:ln>
        </p:spPr>
        <p:txBody>
          <a:bodyPr anchorCtr="0" anchor="ctr" bIns="25400" lIns="25400" spcFirstLastPara="1" rIns="25400" wrap="square" tIns="25400">
            <a:noAutofit/>
          </a:bodyPr>
          <a:lstStyle/>
          <a:p>
            <a:pPr indent="0" lvl="0" marL="0" marR="0" rtl="0" algn="ctr">
              <a:lnSpc>
                <a:spcPct val="140000"/>
              </a:lnSpc>
              <a:spcBef>
                <a:spcPts val="0"/>
              </a:spcBef>
              <a:spcAft>
                <a:spcPts val="0"/>
              </a:spcAft>
              <a:buClr>
                <a:srgbClr val="F3F2F2"/>
              </a:buClr>
              <a:buSzPts val="1050"/>
              <a:buFont typeface="Archivo"/>
              <a:buNone/>
            </a:pPr>
            <a:r>
              <a:rPr b="1" i="0" lang="en-US" sz="1050" u="none" cap="none" strike="noStrike">
                <a:solidFill>
                  <a:srgbClr val="F3F2F2"/>
                </a:solidFill>
                <a:latin typeface="Archivo"/>
                <a:ea typeface="Archivo"/>
                <a:cs typeface="Archivo"/>
                <a:sym typeface="Archivo"/>
              </a:rPr>
              <a:t>PY</a:t>
            </a:r>
            <a:endParaRPr b="0" i="0" sz="1050" u="none" cap="none" strike="noStrike">
              <a:solidFill>
                <a:schemeClr val="dk1"/>
              </a:solidFill>
              <a:latin typeface="Calibri"/>
              <a:ea typeface="Calibri"/>
              <a:cs typeface="Calibri"/>
              <a:sym typeface="Calibri"/>
            </a:endParaRPr>
          </a:p>
        </p:txBody>
      </p:sp>
      <p:sp>
        <p:nvSpPr>
          <p:cNvPr id="205" name="Google Shape;205;p10"/>
          <p:cNvSpPr/>
          <p:nvPr/>
        </p:nvSpPr>
        <p:spPr>
          <a:xfrm>
            <a:off x="4876800" y="3337545"/>
            <a:ext cx="4427808"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Hola, Panadería Los Aromos</a:t>
            </a:r>
            <a:endParaRPr b="0" i="0" sz="2250" u="none" cap="none" strike="noStrike">
              <a:solidFill>
                <a:schemeClr val="dk1"/>
              </a:solidFill>
              <a:latin typeface="Calibri"/>
              <a:ea typeface="Calibri"/>
              <a:cs typeface="Calibri"/>
              <a:sym typeface="Calibri"/>
            </a:endParaRPr>
          </a:p>
        </p:txBody>
      </p:sp>
      <p:sp>
        <p:nvSpPr>
          <p:cNvPr id="206" name="Google Shape;206;p10"/>
          <p:cNvSpPr/>
          <p:nvPr/>
        </p:nvSpPr>
        <p:spPr>
          <a:xfrm>
            <a:off x="4876800" y="3818558"/>
            <a:ext cx="4427808"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605D5D"/>
              </a:buClr>
              <a:buSzPts val="1350"/>
              <a:buFont typeface="Archivo"/>
              <a:buNone/>
            </a:pPr>
            <a:r>
              <a:rPr b="0" i="0" lang="en-US" sz="1350" u="none" cap="none" strike="noStrike">
                <a:solidFill>
                  <a:srgbClr val="605D5D"/>
                </a:solidFill>
                <a:latin typeface="Archivo"/>
                <a:ea typeface="Archivo"/>
                <a:cs typeface="Archivo"/>
                <a:sym typeface="Archivo"/>
              </a:rPr>
              <a:t>Resumen de hoy, 4 de septiembre.</a:t>
            </a:r>
            <a:endParaRPr b="0" i="0" sz="1350" u="none" cap="none" strike="noStrike">
              <a:solidFill>
                <a:schemeClr val="dk1"/>
              </a:solidFill>
              <a:latin typeface="Calibri"/>
              <a:ea typeface="Calibri"/>
              <a:cs typeface="Calibri"/>
              <a:sym typeface="Calibri"/>
            </a:endParaRPr>
          </a:p>
        </p:txBody>
      </p:sp>
      <p:sp>
        <p:nvSpPr>
          <p:cNvPr id="207" name="Google Shape;207;p10"/>
          <p:cNvSpPr/>
          <p:nvPr/>
        </p:nvSpPr>
        <p:spPr>
          <a:xfrm>
            <a:off x="4876800" y="5167238"/>
            <a:ext cx="123063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p:nvPr/>
        </p:nvSpPr>
        <p:spPr>
          <a:xfrm>
            <a:off x="4876800" y="4255740"/>
            <a:ext cx="123063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8845525" y="4274790"/>
            <a:ext cx="9525" cy="89244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4876800" y="4408140"/>
            <a:ext cx="4156048"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NUEVAS HOY</a:t>
            </a:r>
            <a:endParaRPr b="0" i="0" sz="1050" u="none" cap="none" strike="noStrike">
              <a:solidFill>
                <a:schemeClr val="dk1"/>
              </a:solidFill>
              <a:latin typeface="Calibri"/>
              <a:ea typeface="Calibri"/>
              <a:cs typeface="Calibri"/>
              <a:sym typeface="Calibri"/>
            </a:endParaRPr>
          </a:p>
        </p:txBody>
      </p:sp>
      <p:sp>
        <p:nvSpPr>
          <p:cNvPr id="211" name="Google Shape;211;p10"/>
          <p:cNvSpPr/>
          <p:nvPr/>
        </p:nvSpPr>
        <p:spPr>
          <a:xfrm>
            <a:off x="4876800" y="4614788"/>
            <a:ext cx="4156048" cy="457200"/>
          </a:xfrm>
          <a:prstGeom prst="rect">
            <a:avLst/>
          </a:prstGeom>
          <a:noFill/>
          <a:ln>
            <a:noFill/>
          </a:ln>
        </p:spPr>
        <p:txBody>
          <a:bodyPr anchorCtr="0" anchor="t" bIns="25400" lIns="25400" spcFirstLastPara="1" rIns="25400" wrap="square" tIns="25400">
            <a:noAutofit/>
          </a:bodyPr>
          <a:lstStyle/>
          <a:p>
            <a:pPr indent="0" lvl="0" marL="0" marR="0" rtl="0" algn="l">
              <a:lnSpc>
                <a:spcPct val="101149"/>
              </a:lnSpc>
              <a:spcBef>
                <a:spcPts val="0"/>
              </a:spcBef>
              <a:spcAft>
                <a:spcPts val="0"/>
              </a:spcAft>
              <a:buClr>
                <a:srgbClr val="201E1D"/>
              </a:buClr>
              <a:buSzPts val="3000"/>
              <a:buFont typeface="Archivo"/>
              <a:buNone/>
            </a:pPr>
            <a:r>
              <a:rPr b="1" i="0" lang="en-US" sz="3000" u="none" cap="none" strike="noStrike">
                <a:solidFill>
                  <a:srgbClr val="201E1D"/>
                </a:solidFill>
                <a:latin typeface="Archivo"/>
                <a:ea typeface="Archivo"/>
                <a:cs typeface="Archivo"/>
                <a:sym typeface="Archivo"/>
              </a:rPr>
              <a:t>18</a:t>
            </a:r>
            <a:endParaRPr b="0" i="0" sz="3000" u="none" cap="none" strike="noStrike">
              <a:solidFill>
                <a:schemeClr val="dk1"/>
              </a:solidFill>
              <a:latin typeface="Calibri"/>
              <a:ea typeface="Calibri"/>
              <a:cs typeface="Calibri"/>
              <a:sym typeface="Calibri"/>
            </a:endParaRPr>
          </a:p>
        </p:txBody>
      </p:sp>
      <p:sp>
        <p:nvSpPr>
          <p:cNvPr id="212" name="Google Shape;212;p10"/>
          <p:cNvSpPr/>
          <p:nvPr/>
        </p:nvSpPr>
        <p:spPr>
          <a:xfrm>
            <a:off x="13014350" y="4274790"/>
            <a:ext cx="9525" cy="89244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9045550" y="4408140"/>
            <a:ext cx="4156130"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MATCHES RELEVANTES</a:t>
            </a:r>
            <a:endParaRPr b="0" i="0" sz="1050" u="none" cap="none" strike="noStrike">
              <a:solidFill>
                <a:schemeClr val="dk1"/>
              </a:solidFill>
              <a:latin typeface="Calibri"/>
              <a:ea typeface="Calibri"/>
              <a:cs typeface="Calibri"/>
              <a:sym typeface="Calibri"/>
            </a:endParaRPr>
          </a:p>
        </p:txBody>
      </p:sp>
      <p:sp>
        <p:nvSpPr>
          <p:cNvPr id="214" name="Google Shape;214;p10"/>
          <p:cNvSpPr/>
          <p:nvPr/>
        </p:nvSpPr>
        <p:spPr>
          <a:xfrm>
            <a:off x="9045550" y="4614788"/>
            <a:ext cx="4156130" cy="457200"/>
          </a:xfrm>
          <a:prstGeom prst="rect">
            <a:avLst/>
          </a:prstGeom>
          <a:noFill/>
          <a:ln>
            <a:noFill/>
          </a:ln>
        </p:spPr>
        <p:txBody>
          <a:bodyPr anchorCtr="0" anchor="t" bIns="25400" lIns="25400" spcFirstLastPara="1" rIns="25400" wrap="square" tIns="25400">
            <a:noAutofit/>
          </a:bodyPr>
          <a:lstStyle/>
          <a:p>
            <a:pPr indent="0" lvl="0" marL="0" marR="0" rtl="0" algn="l">
              <a:lnSpc>
                <a:spcPct val="101149"/>
              </a:lnSpc>
              <a:spcBef>
                <a:spcPts val="0"/>
              </a:spcBef>
              <a:spcAft>
                <a:spcPts val="0"/>
              </a:spcAft>
              <a:buClr>
                <a:srgbClr val="EC3013"/>
              </a:buClr>
              <a:buSzPts val="3000"/>
              <a:buFont typeface="Archivo"/>
              <a:buNone/>
            </a:pPr>
            <a:r>
              <a:rPr b="1" i="0" lang="en-US" sz="3000" u="none" cap="none" strike="noStrike">
                <a:solidFill>
                  <a:srgbClr val="EC3013"/>
                </a:solidFill>
                <a:latin typeface="Archivo"/>
                <a:ea typeface="Archivo"/>
                <a:cs typeface="Archivo"/>
                <a:sym typeface="Archivo"/>
              </a:rPr>
              <a:t>5</a:t>
            </a:r>
            <a:endParaRPr b="0" i="0" sz="3000" u="none" cap="none" strike="noStrike">
              <a:solidFill>
                <a:schemeClr val="dk1"/>
              </a:solidFill>
              <a:latin typeface="Calibri"/>
              <a:ea typeface="Calibri"/>
              <a:cs typeface="Calibri"/>
              <a:sym typeface="Calibri"/>
            </a:endParaRPr>
          </a:p>
        </p:txBody>
      </p:sp>
      <p:sp>
        <p:nvSpPr>
          <p:cNvPr id="215" name="Google Shape;215;p10"/>
          <p:cNvSpPr/>
          <p:nvPr/>
        </p:nvSpPr>
        <p:spPr>
          <a:xfrm>
            <a:off x="13214375" y="4408140"/>
            <a:ext cx="4156048"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ALERTAS ENVIADAS</a:t>
            </a:r>
            <a:endParaRPr b="0" i="0" sz="1050" u="none" cap="none" strike="noStrike">
              <a:solidFill>
                <a:schemeClr val="dk1"/>
              </a:solidFill>
              <a:latin typeface="Calibri"/>
              <a:ea typeface="Calibri"/>
              <a:cs typeface="Calibri"/>
              <a:sym typeface="Calibri"/>
            </a:endParaRPr>
          </a:p>
        </p:txBody>
      </p:sp>
      <p:sp>
        <p:nvSpPr>
          <p:cNvPr id="216" name="Google Shape;216;p10"/>
          <p:cNvSpPr/>
          <p:nvPr/>
        </p:nvSpPr>
        <p:spPr>
          <a:xfrm>
            <a:off x="13214375" y="4614788"/>
            <a:ext cx="4156048" cy="457200"/>
          </a:xfrm>
          <a:prstGeom prst="rect">
            <a:avLst/>
          </a:prstGeom>
          <a:noFill/>
          <a:ln>
            <a:noFill/>
          </a:ln>
        </p:spPr>
        <p:txBody>
          <a:bodyPr anchorCtr="0" anchor="t" bIns="25400" lIns="25400" spcFirstLastPara="1" rIns="25400" wrap="square" tIns="25400">
            <a:noAutofit/>
          </a:bodyPr>
          <a:lstStyle/>
          <a:p>
            <a:pPr indent="0" lvl="0" marL="0" marR="0" rtl="0" algn="l">
              <a:lnSpc>
                <a:spcPct val="101149"/>
              </a:lnSpc>
              <a:spcBef>
                <a:spcPts val="0"/>
              </a:spcBef>
              <a:spcAft>
                <a:spcPts val="0"/>
              </a:spcAft>
              <a:buClr>
                <a:srgbClr val="201E1D"/>
              </a:buClr>
              <a:buSzPts val="3000"/>
              <a:buFont typeface="Archivo"/>
              <a:buNone/>
            </a:pPr>
            <a:r>
              <a:rPr b="1" i="0" lang="en-US" sz="3000" u="none" cap="none" strike="noStrike">
                <a:solidFill>
                  <a:srgbClr val="201E1D"/>
                </a:solidFill>
                <a:latin typeface="Archivo"/>
                <a:ea typeface="Archivo"/>
                <a:cs typeface="Archivo"/>
                <a:sym typeface="Archivo"/>
              </a:rPr>
              <a:t>12</a:t>
            </a:r>
            <a:endParaRPr b="0" i="0" sz="3000" u="none" cap="none" strike="noStrike">
              <a:solidFill>
                <a:schemeClr val="dk1"/>
              </a:solidFill>
              <a:latin typeface="Calibri"/>
              <a:ea typeface="Calibri"/>
              <a:cs typeface="Calibri"/>
              <a:sym typeface="Calibri"/>
            </a:endParaRPr>
          </a:p>
        </p:txBody>
      </p:sp>
      <p:sp>
        <p:nvSpPr>
          <p:cNvPr id="217" name="Google Shape;217;p10"/>
          <p:cNvSpPr/>
          <p:nvPr/>
        </p:nvSpPr>
        <p:spPr>
          <a:xfrm>
            <a:off x="4876800" y="5357738"/>
            <a:ext cx="10561320" cy="333375"/>
          </a:xfrm>
          <a:prstGeom prst="rect">
            <a:avLst/>
          </a:prstGeom>
          <a:noFill/>
          <a:ln>
            <a:noFill/>
          </a:ln>
        </p:spPr>
        <p:txBody>
          <a:bodyPr anchorCtr="0" anchor="t" bIns="25400" lIns="25400" spcFirstLastPara="1" rIns="25400" wrap="square" tIns="25400">
            <a:noAutofit/>
          </a:bodyPr>
          <a:lstStyle/>
          <a:p>
            <a:pPr indent="0" lvl="0" marL="0" marR="0" rtl="0" algn="l">
              <a:lnSpc>
                <a:spcPct val="144186"/>
              </a:lnSpc>
              <a:spcBef>
                <a:spcPts val="0"/>
              </a:spcBef>
              <a:spcAft>
                <a:spcPts val="0"/>
              </a:spcAft>
              <a:buClr>
                <a:srgbClr val="201E1D"/>
              </a:buClr>
              <a:buSzPts val="1500"/>
              <a:buFont typeface="Archivo"/>
              <a:buNone/>
            </a:pPr>
            <a:r>
              <a:rPr b="1" i="0" lang="en-US" sz="1500" u="none" cap="none" strike="noStrike">
                <a:solidFill>
                  <a:srgbClr val="201E1D"/>
                </a:solidFill>
                <a:latin typeface="Archivo"/>
                <a:ea typeface="Archivo"/>
                <a:cs typeface="Archivo"/>
                <a:sym typeface="Archivo"/>
              </a:rPr>
              <a:t>Licitaciones con mayor match</a:t>
            </a:r>
            <a:endParaRPr b="0" i="0" sz="1500" u="none" cap="none" strike="noStrike">
              <a:solidFill>
                <a:schemeClr val="dk1"/>
              </a:solidFill>
              <a:latin typeface="Calibri"/>
              <a:ea typeface="Calibri"/>
              <a:cs typeface="Calibri"/>
              <a:sym typeface="Calibri"/>
            </a:endParaRPr>
          </a:p>
        </p:txBody>
      </p:sp>
      <p:sp>
        <p:nvSpPr>
          <p:cNvPr id="218" name="Google Shape;218;p10"/>
          <p:cNvSpPr/>
          <p:nvPr/>
        </p:nvSpPr>
        <p:spPr>
          <a:xfrm>
            <a:off x="4876800" y="5748263"/>
            <a:ext cx="96012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4876800" y="5872088"/>
            <a:ext cx="947663" cy="244748"/>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4962525" y="5891138"/>
            <a:ext cx="852413"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0" i="0" lang="en-US" sz="1050" u="none" cap="none" strike="noStrike">
                <a:solidFill>
                  <a:srgbClr val="7C1405"/>
                </a:solidFill>
                <a:latin typeface="Archivo"/>
                <a:ea typeface="Archivo"/>
                <a:cs typeface="Archivo"/>
                <a:sym typeface="Archivo"/>
              </a:rPr>
              <a:t>Alimentación</a:t>
            </a:r>
            <a:endParaRPr b="0" i="0" sz="1050" u="none" cap="none" strike="noStrike">
              <a:solidFill>
                <a:schemeClr val="dk1"/>
              </a:solidFill>
              <a:latin typeface="Calibri"/>
              <a:ea typeface="Calibri"/>
              <a:cs typeface="Calibri"/>
              <a:sym typeface="Calibri"/>
            </a:endParaRPr>
          </a:p>
        </p:txBody>
      </p:sp>
      <p:sp>
        <p:nvSpPr>
          <p:cNvPr id="221" name="Google Shape;221;p10"/>
          <p:cNvSpPr/>
          <p:nvPr/>
        </p:nvSpPr>
        <p:spPr>
          <a:xfrm>
            <a:off x="5900663" y="5872088"/>
            <a:ext cx="987475" cy="244748"/>
          </a:xfrm>
          <a:prstGeom prst="rect">
            <a:avLst/>
          </a:prstGeom>
          <a:solidFill>
            <a:srgbClr val="EA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0"/>
          <p:cNvSpPr/>
          <p:nvPr/>
        </p:nvSpPr>
        <p:spPr>
          <a:xfrm>
            <a:off x="5986388" y="5891138"/>
            <a:ext cx="89222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01E1D"/>
              </a:buClr>
              <a:buSzPts val="1050"/>
              <a:buFont typeface="Archivo"/>
              <a:buNone/>
            </a:pPr>
            <a:r>
              <a:rPr b="0" i="0" lang="en-US" sz="1050" u="none" cap="none" strike="noStrike">
                <a:solidFill>
                  <a:srgbClr val="201E1D"/>
                </a:solidFill>
                <a:latin typeface="Archivo"/>
                <a:ea typeface="Archivo"/>
                <a:cs typeface="Archivo"/>
                <a:sym typeface="Archivo"/>
              </a:rPr>
              <a:t>Metropolitana</a:t>
            </a:r>
            <a:endParaRPr b="0" i="0" sz="1050" u="none" cap="none" strike="noStrike">
              <a:solidFill>
                <a:schemeClr val="dk1"/>
              </a:solidFill>
              <a:latin typeface="Calibri"/>
              <a:ea typeface="Calibri"/>
              <a:cs typeface="Calibri"/>
              <a:sym typeface="Calibri"/>
            </a:endParaRPr>
          </a:p>
        </p:txBody>
      </p:sp>
      <p:sp>
        <p:nvSpPr>
          <p:cNvPr id="223" name="Google Shape;223;p10"/>
          <p:cNvSpPr/>
          <p:nvPr/>
        </p:nvSpPr>
        <p:spPr>
          <a:xfrm>
            <a:off x="4876800" y="6173986"/>
            <a:ext cx="9738018" cy="255240"/>
          </a:xfrm>
          <a:prstGeom prst="rect">
            <a:avLst/>
          </a:prstGeom>
          <a:noFill/>
          <a:ln>
            <a:noFill/>
          </a:ln>
        </p:spPr>
        <p:txBody>
          <a:bodyPr anchorCtr="0" anchor="t" bIns="25400" lIns="25400" spcFirstLastPara="1" rIns="25400" wrap="square" tIns="25400">
            <a:noAutofit/>
          </a:bodyPr>
          <a:lstStyle/>
          <a:p>
            <a:pPr indent="0" lvl="0" marL="0" marR="0" rtl="0" algn="l">
              <a:lnSpc>
                <a:spcPct val="111220"/>
              </a:lnSpc>
              <a:spcBef>
                <a:spcPts val="0"/>
              </a:spcBef>
              <a:spcAft>
                <a:spcPts val="0"/>
              </a:spcAft>
              <a:buClr>
                <a:srgbClr val="201E1D"/>
              </a:buClr>
              <a:buSzPts val="1425"/>
              <a:buFont typeface="Archivo"/>
              <a:buNone/>
            </a:pPr>
            <a:r>
              <a:rPr b="1" i="0" lang="en-US" sz="1425" u="none" cap="none" strike="noStrike">
                <a:solidFill>
                  <a:srgbClr val="201E1D"/>
                </a:solidFill>
                <a:latin typeface="Archivo"/>
                <a:ea typeface="Archivo"/>
                <a:cs typeface="Archivo"/>
                <a:sym typeface="Archivo"/>
              </a:rPr>
              <a:t>Suministro de pan y pastelería — Hospital Regional</a:t>
            </a:r>
            <a:endParaRPr b="0" i="0" sz="1425" u="none" cap="none" strike="noStrike">
              <a:solidFill>
                <a:schemeClr val="dk1"/>
              </a:solidFill>
              <a:latin typeface="Calibri"/>
              <a:ea typeface="Calibri"/>
              <a:cs typeface="Calibri"/>
              <a:sym typeface="Calibri"/>
            </a:endParaRPr>
          </a:p>
        </p:txBody>
      </p:sp>
      <p:sp>
        <p:nvSpPr>
          <p:cNvPr id="224" name="Google Shape;224;p10"/>
          <p:cNvSpPr/>
          <p:nvPr/>
        </p:nvSpPr>
        <p:spPr>
          <a:xfrm>
            <a:off x="4876800" y="6438751"/>
            <a:ext cx="9738018" cy="259556"/>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605D5D"/>
              </a:buClr>
              <a:buSzPts val="1125"/>
              <a:buFont typeface="Archivo"/>
              <a:buNone/>
            </a:pPr>
            <a:r>
              <a:rPr b="0" i="0" lang="en-US" sz="1125" u="none" cap="none" strike="noStrike">
                <a:solidFill>
                  <a:srgbClr val="605D5D"/>
                </a:solidFill>
                <a:latin typeface="Archivo"/>
                <a:ea typeface="Archivo"/>
                <a:cs typeface="Archivo"/>
                <a:sym typeface="Archivo"/>
              </a:rPr>
              <a:t>$14.500.000 · Cierra en 3 días · Hospital Regional</a:t>
            </a:r>
            <a:endParaRPr b="0" i="0" sz="1125" u="none" cap="none" strike="noStrike">
              <a:solidFill>
                <a:schemeClr val="dk1"/>
              </a:solidFill>
              <a:latin typeface="Calibri"/>
              <a:ea typeface="Calibri"/>
              <a:cs typeface="Calibri"/>
              <a:sym typeface="Calibri"/>
            </a:endParaRPr>
          </a:p>
        </p:txBody>
      </p:sp>
      <p:sp>
        <p:nvSpPr>
          <p:cNvPr id="225" name="Google Shape;225;p10"/>
          <p:cNvSpPr/>
          <p:nvPr/>
        </p:nvSpPr>
        <p:spPr>
          <a:xfrm>
            <a:off x="4876800" y="6717357"/>
            <a:ext cx="9738018" cy="230981"/>
          </a:xfrm>
          <a:prstGeom prst="rect">
            <a:avLst/>
          </a:prstGeom>
          <a:noFill/>
          <a:ln>
            <a:noFill/>
          </a:ln>
        </p:spPr>
        <p:txBody>
          <a:bodyPr anchorCtr="0" anchor="t" bIns="25400" lIns="25400" spcFirstLastPara="1" rIns="25400" wrap="square" tIns="25400">
            <a:noAutofit/>
          </a:bodyPr>
          <a:lstStyle/>
          <a:p>
            <a:pPr indent="0" lvl="0" marL="0" marR="0" rtl="0" algn="l">
              <a:lnSpc>
                <a:spcPct val="126563"/>
              </a:lnSpc>
              <a:spcBef>
                <a:spcPts val="0"/>
              </a:spcBef>
              <a:spcAft>
                <a:spcPts val="0"/>
              </a:spcAft>
              <a:buClr>
                <a:srgbClr val="EC3013"/>
              </a:buClr>
              <a:buSzPts val="1125"/>
              <a:buFont typeface="Archivo"/>
              <a:buNone/>
            </a:pPr>
            <a:r>
              <a:rPr b="1" i="0" lang="en-US" sz="1125" u="none" cap="none" strike="noStrike">
                <a:solidFill>
                  <a:srgbClr val="EC3013"/>
                </a:solidFill>
                <a:latin typeface="Archivo"/>
                <a:ea typeface="Archivo"/>
                <a:cs typeface="Archivo"/>
                <a:sym typeface="Archivo"/>
              </a:rPr>
              <a:t>IA: </a:t>
            </a:r>
            <a:r>
              <a:rPr b="0" i="0" lang="en-US" sz="1125" u="none" cap="none" strike="noStrike">
                <a:solidFill>
                  <a:srgbClr val="201E1D"/>
                </a:solidFill>
                <a:latin typeface="Archivo"/>
                <a:ea typeface="Archivo"/>
                <a:cs typeface="Archivo"/>
                <a:sym typeface="Archivo"/>
              </a:rPr>
              <a:t>Compra recurrente compatible con tu rubro; monto y plazos dentro de tu capacidad habitual de despacho.</a:t>
            </a:r>
            <a:endParaRPr b="0" i="0" sz="1125" u="none" cap="none" strike="noStrike">
              <a:solidFill>
                <a:schemeClr val="dk1"/>
              </a:solidFill>
              <a:latin typeface="Calibri"/>
              <a:ea typeface="Calibri"/>
              <a:cs typeface="Calibri"/>
              <a:sym typeface="Calibri"/>
            </a:endParaRPr>
          </a:p>
        </p:txBody>
      </p:sp>
      <p:sp>
        <p:nvSpPr>
          <p:cNvPr id="226" name="Google Shape;226;p10"/>
          <p:cNvSpPr/>
          <p:nvPr/>
        </p:nvSpPr>
        <p:spPr>
          <a:xfrm>
            <a:off x="13805743" y="5872088"/>
            <a:ext cx="672257" cy="451470"/>
          </a:xfrm>
          <a:prstGeom prst="rect">
            <a:avLst/>
          </a:prstGeom>
          <a:noFill/>
          <a:ln>
            <a:noFill/>
          </a:ln>
        </p:spPr>
        <p:txBody>
          <a:bodyPr anchorCtr="0" anchor="t" bIns="25400" lIns="25400" spcFirstLastPara="1" rIns="25400" wrap="square" tIns="25400">
            <a:noAutofit/>
          </a:bodyPr>
          <a:lstStyle/>
          <a:p>
            <a:pPr indent="0" lvl="0" marL="0" marR="0" rtl="0" algn="r">
              <a:lnSpc>
                <a:spcPct val="142295"/>
              </a:lnSpc>
              <a:spcBef>
                <a:spcPts val="0"/>
              </a:spcBef>
              <a:spcAft>
                <a:spcPts val="0"/>
              </a:spcAft>
              <a:buClr>
                <a:srgbClr val="EC3013"/>
              </a:buClr>
              <a:buSzPts val="2100"/>
              <a:buFont typeface="Archivo"/>
              <a:buNone/>
            </a:pPr>
            <a:r>
              <a:rPr b="1" i="0" lang="en-US" sz="2100" u="none" cap="none" strike="noStrike">
                <a:solidFill>
                  <a:srgbClr val="EC3013"/>
                </a:solidFill>
                <a:latin typeface="Archivo"/>
                <a:ea typeface="Archivo"/>
                <a:cs typeface="Archivo"/>
                <a:sym typeface="Archivo"/>
              </a:rPr>
              <a:t>92%</a:t>
            </a:r>
            <a:endParaRPr b="0" i="0" sz="2100" u="none" cap="none" strike="noStrike">
              <a:solidFill>
                <a:schemeClr val="dk1"/>
              </a:solidFill>
              <a:latin typeface="Calibri"/>
              <a:ea typeface="Calibri"/>
              <a:cs typeface="Calibri"/>
              <a:sym typeface="Calibri"/>
            </a:endParaRPr>
          </a:p>
        </p:txBody>
      </p:sp>
      <p:sp>
        <p:nvSpPr>
          <p:cNvPr id="227" name="Google Shape;227;p10"/>
          <p:cNvSpPr/>
          <p:nvPr/>
        </p:nvSpPr>
        <p:spPr>
          <a:xfrm>
            <a:off x="13805743" y="6285458"/>
            <a:ext cx="672257" cy="230014"/>
          </a:xfrm>
          <a:prstGeom prst="rect">
            <a:avLst/>
          </a:prstGeom>
          <a:noFill/>
          <a:ln>
            <a:noFill/>
          </a:ln>
        </p:spPr>
        <p:txBody>
          <a:bodyPr anchorCtr="0" anchor="t" bIns="25400" lIns="25400" spcFirstLastPara="1" rIns="25400" wrap="square" tIns="25400">
            <a:noAutofit/>
          </a:bodyPr>
          <a:lstStyle/>
          <a:p>
            <a:pPr indent="0" lvl="0" marL="0" marR="0" rtl="0" algn="r">
              <a:lnSpc>
                <a:spcPct val="143929"/>
              </a:lnSpc>
              <a:spcBef>
                <a:spcPts val="0"/>
              </a:spcBef>
              <a:spcAft>
                <a:spcPts val="0"/>
              </a:spcAft>
              <a:buClr>
                <a:srgbClr val="605D5D"/>
              </a:buClr>
              <a:buSzPts val="975"/>
              <a:buFont typeface="Archivo"/>
              <a:buNone/>
            </a:pPr>
            <a:r>
              <a:rPr b="0" i="0" lang="en-US" sz="975" u="none" cap="none" strike="noStrike">
                <a:solidFill>
                  <a:srgbClr val="605D5D"/>
                </a:solidFill>
                <a:latin typeface="Archivo"/>
                <a:ea typeface="Archivo"/>
                <a:cs typeface="Archivo"/>
                <a:sym typeface="Archivo"/>
              </a:rPr>
              <a:t>MATCH</a:t>
            </a:r>
            <a:endParaRPr b="0" i="0" sz="975" u="none" cap="none" strike="noStrike">
              <a:solidFill>
                <a:schemeClr val="dk1"/>
              </a:solidFill>
              <a:latin typeface="Calibri"/>
              <a:ea typeface="Calibri"/>
              <a:cs typeface="Calibri"/>
              <a:sym typeface="Calibri"/>
            </a:endParaRPr>
          </a:p>
        </p:txBody>
      </p:sp>
      <p:sp>
        <p:nvSpPr>
          <p:cNvPr id="228" name="Google Shape;228;p10"/>
          <p:cNvSpPr/>
          <p:nvPr/>
        </p:nvSpPr>
        <p:spPr>
          <a:xfrm>
            <a:off x="4876800" y="7119789"/>
            <a:ext cx="96012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0"/>
          <p:cNvSpPr/>
          <p:nvPr/>
        </p:nvSpPr>
        <p:spPr>
          <a:xfrm>
            <a:off x="4876800" y="7243614"/>
            <a:ext cx="947663" cy="244748"/>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0"/>
          <p:cNvSpPr/>
          <p:nvPr/>
        </p:nvSpPr>
        <p:spPr>
          <a:xfrm>
            <a:off x="4962525" y="7262664"/>
            <a:ext cx="852413"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0" i="0" lang="en-US" sz="1050" u="none" cap="none" strike="noStrike">
                <a:solidFill>
                  <a:srgbClr val="7C1405"/>
                </a:solidFill>
                <a:latin typeface="Archivo"/>
                <a:ea typeface="Archivo"/>
                <a:cs typeface="Archivo"/>
                <a:sym typeface="Archivo"/>
              </a:rPr>
              <a:t>Alimentación</a:t>
            </a:r>
            <a:endParaRPr b="0" i="0" sz="1050" u="none" cap="none" strike="noStrike">
              <a:solidFill>
                <a:schemeClr val="dk1"/>
              </a:solidFill>
              <a:latin typeface="Calibri"/>
              <a:ea typeface="Calibri"/>
              <a:cs typeface="Calibri"/>
              <a:sym typeface="Calibri"/>
            </a:endParaRPr>
          </a:p>
        </p:txBody>
      </p:sp>
      <p:sp>
        <p:nvSpPr>
          <p:cNvPr id="231" name="Google Shape;231;p10"/>
          <p:cNvSpPr/>
          <p:nvPr/>
        </p:nvSpPr>
        <p:spPr>
          <a:xfrm>
            <a:off x="5900663" y="7243614"/>
            <a:ext cx="792138" cy="244748"/>
          </a:xfrm>
          <a:prstGeom prst="rect">
            <a:avLst/>
          </a:prstGeom>
          <a:solidFill>
            <a:srgbClr val="EA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p:nvPr/>
        </p:nvSpPr>
        <p:spPr>
          <a:xfrm>
            <a:off x="5986388" y="7262664"/>
            <a:ext cx="696888"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01E1D"/>
              </a:buClr>
              <a:buSzPts val="1050"/>
              <a:buFont typeface="Archivo"/>
              <a:buNone/>
            </a:pPr>
            <a:r>
              <a:rPr b="0" i="0" lang="en-US" sz="1050" u="none" cap="none" strike="noStrike">
                <a:solidFill>
                  <a:srgbClr val="201E1D"/>
                </a:solidFill>
                <a:latin typeface="Archivo"/>
                <a:ea typeface="Archivo"/>
                <a:cs typeface="Archivo"/>
                <a:sym typeface="Archivo"/>
              </a:rPr>
              <a:t>Valparaíso</a:t>
            </a:r>
            <a:endParaRPr b="0" i="0" sz="1050" u="none" cap="none" strike="noStrike">
              <a:solidFill>
                <a:schemeClr val="dk1"/>
              </a:solidFill>
              <a:latin typeface="Calibri"/>
              <a:ea typeface="Calibri"/>
              <a:cs typeface="Calibri"/>
              <a:sym typeface="Calibri"/>
            </a:endParaRPr>
          </a:p>
        </p:txBody>
      </p:sp>
      <p:sp>
        <p:nvSpPr>
          <p:cNvPr id="233" name="Google Shape;233;p10"/>
          <p:cNvSpPr/>
          <p:nvPr/>
        </p:nvSpPr>
        <p:spPr>
          <a:xfrm>
            <a:off x="4876800" y="7545512"/>
            <a:ext cx="9738018" cy="255240"/>
          </a:xfrm>
          <a:prstGeom prst="rect">
            <a:avLst/>
          </a:prstGeom>
          <a:noFill/>
          <a:ln>
            <a:noFill/>
          </a:ln>
        </p:spPr>
        <p:txBody>
          <a:bodyPr anchorCtr="0" anchor="t" bIns="25400" lIns="25400" spcFirstLastPara="1" rIns="25400" wrap="square" tIns="25400">
            <a:noAutofit/>
          </a:bodyPr>
          <a:lstStyle/>
          <a:p>
            <a:pPr indent="0" lvl="0" marL="0" marR="0" rtl="0" algn="l">
              <a:lnSpc>
                <a:spcPct val="111220"/>
              </a:lnSpc>
              <a:spcBef>
                <a:spcPts val="0"/>
              </a:spcBef>
              <a:spcAft>
                <a:spcPts val="0"/>
              </a:spcAft>
              <a:buClr>
                <a:srgbClr val="201E1D"/>
              </a:buClr>
              <a:buSzPts val="1425"/>
              <a:buFont typeface="Archivo"/>
              <a:buNone/>
            </a:pPr>
            <a:r>
              <a:rPr b="1" i="0" lang="en-US" sz="1425" u="none" cap="none" strike="noStrike">
                <a:solidFill>
                  <a:srgbClr val="201E1D"/>
                </a:solidFill>
                <a:latin typeface="Archivo"/>
                <a:ea typeface="Archivo"/>
                <a:cs typeface="Archivo"/>
                <a:sym typeface="Archivo"/>
              </a:rPr>
              <a:t>Convenio de suministro de productos de panificación</a:t>
            </a:r>
            <a:endParaRPr b="0" i="0" sz="1425" u="none" cap="none" strike="noStrike">
              <a:solidFill>
                <a:schemeClr val="dk1"/>
              </a:solidFill>
              <a:latin typeface="Calibri"/>
              <a:ea typeface="Calibri"/>
              <a:cs typeface="Calibri"/>
              <a:sym typeface="Calibri"/>
            </a:endParaRPr>
          </a:p>
        </p:txBody>
      </p:sp>
      <p:sp>
        <p:nvSpPr>
          <p:cNvPr id="234" name="Google Shape;234;p10"/>
          <p:cNvSpPr/>
          <p:nvPr/>
        </p:nvSpPr>
        <p:spPr>
          <a:xfrm>
            <a:off x="4876800" y="7810277"/>
            <a:ext cx="9738018" cy="259556"/>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605D5D"/>
              </a:buClr>
              <a:buSzPts val="1125"/>
              <a:buFont typeface="Archivo"/>
              <a:buNone/>
            </a:pPr>
            <a:r>
              <a:rPr b="0" i="0" lang="en-US" sz="1125" u="none" cap="none" strike="noStrike">
                <a:solidFill>
                  <a:srgbClr val="605D5D"/>
                </a:solidFill>
                <a:latin typeface="Archivo"/>
                <a:ea typeface="Archivo"/>
                <a:cs typeface="Archivo"/>
                <a:sym typeface="Archivo"/>
              </a:rPr>
              <a:t>$8.200.000 · Cierra en 6 días · Municipalidad de Quilpué</a:t>
            </a:r>
            <a:endParaRPr b="0" i="0" sz="1125" u="none" cap="none" strike="noStrike">
              <a:solidFill>
                <a:schemeClr val="dk1"/>
              </a:solidFill>
              <a:latin typeface="Calibri"/>
              <a:ea typeface="Calibri"/>
              <a:cs typeface="Calibri"/>
              <a:sym typeface="Calibri"/>
            </a:endParaRPr>
          </a:p>
        </p:txBody>
      </p:sp>
      <p:sp>
        <p:nvSpPr>
          <p:cNvPr id="235" name="Google Shape;235;p10"/>
          <p:cNvSpPr/>
          <p:nvPr/>
        </p:nvSpPr>
        <p:spPr>
          <a:xfrm>
            <a:off x="4876800" y="8088883"/>
            <a:ext cx="9738018" cy="230981"/>
          </a:xfrm>
          <a:prstGeom prst="rect">
            <a:avLst/>
          </a:prstGeom>
          <a:noFill/>
          <a:ln>
            <a:noFill/>
          </a:ln>
        </p:spPr>
        <p:txBody>
          <a:bodyPr anchorCtr="0" anchor="t" bIns="25400" lIns="25400" spcFirstLastPara="1" rIns="25400" wrap="square" tIns="25400">
            <a:noAutofit/>
          </a:bodyPr>
          <a:lstStyle/>
          <a:p>
            <a:pPr indent="0" lvl="0" marL="0" marR="0" rtl="0" algn="l">
              <a:lnSpc>
                <a:spcPct val="126563"/>
              </a:lnSpc>
              <a:spcBef>
                <a:spcPts val="0"/>
              </a:spcBef>
              <a:spcAft>
                <a:spcPts val="0"/>
              </a:spcAft>
              <a:buClr>
                <a:srgbClr val="EC3013"/>
              </a:buClr>
              <a:buSzPts val="1125"/>
              <a:buFont typeface="Archivo"/>
              <a:buNone/>
            </a:pPr>
            <a:r>
              <a:rPr b="1" i="0" lang="en-US" sz="1125" u="none" cap="none" strike="noStrike">
                <a:solidFill>
                  <a:srgbClr val="EC3013"/>
                </a:solidFill>
                <a:latin typeface="Archivo"/>
                <a:ea typeface="Archivo"/>
                <a:cs typeface="Archivo"/>
                <a:sym typeface="Archivo"/>
              </a:rPr>
              <a:t>IA: </a:t>
            </a:r>
            <a:r>
              <a:rPr b="0" i="0" lang="en-US" sz="1125" u="none" cap="none" strike="noStrike">
                <a:solidFill>
                  <a:srgbClr val="201E1D"/>
                </a:solidFill>
                <a:latin typeface="Archivo"/>
                <a:ea typeface="Archivo"/>
                <a:cs typeface="Archivo"/>
                <a:sym typeface="Archivo"/>
              </a:rPr>
              <a:t>Contrato marco de 12 meses; requiere certificación sanitaria vigente y despacho semanal.</a:t>
            </a:r>
            <a:endParaRPr b="0" i="0" sz="1125" u="none" cap="none" strike="noStrike">
              <a:solidFill>
                <a:schemeClr val="dk1"/>
              </a:solidFill>
              <a:latin typeface="Calibri"/>
              <a:ea typeface="Calibri"/>
              <a:cs typeface="Calibri"/>
              <a:sym typeface="Calibri"/>
            </a:endParaRPr>
          </a:p>
        </p:txBody>
      </p:sp>
      <p:sp>
        <p:nvSpPr>
          <p:cNvPr id="236" name="Google Shape;236;p10"/>
          <p:cNvSpPr/>
          <p:nvPr/>
        </p:nvSpPr>
        <p:spPr>
          <a:xfrm>
            <a:off x="13805743" y="7243614"/>
            <a:ext cx="672257" cy="451470"/>
          </a:xfrm>
          <a:prstGeom prst="rect">
            <a:avLst/>
          </a:prstGeom>
          <a:noFill/>
          <a:ln>
            <a:noFill/>
          </a:ln>
        </p:spPr>
        <p:txBody>
          <a:bodyPr anchorCtr="0" anchor="t" bIns="25400" lIns="25400" spcFirstLastPara="1" rIns="25400" wrap="square" tIns="25400">
            <a:noAutofit/>
          </a:bodyPr>
          <a:lstStyle/>
          <a:p>
            <a:pPr indent="0" lvl="0" marL="0" marR="0" rtl="0" algn="r">
              <a:lnSpc>
                <a:spcPct val="142295"/>
              </a:lnSpc>
              <a:spcBef>
                <a:spcPts val="0"/>
              </a:spcBef>
              <a:spcAft>
                <a:spcPts val="0"/>
              </a:spcAft>
              <a:buClr>
                <a:srgbClr val="EC3013"/>
              </a:buClr>
              <a:buSzPts val="2100"/>
              <a:buFont typeface="Archivo"/>
              <a:buNone/>
            </a:pPr>
            <a:r>
              <a:rPr b="1" i="0" lang="en-US" sz="2100" u="none" cap="none" strike="noStrike">
                <a:solidFill>
                  <a:srgbClr val="EC3013"/>
                </a:solidFill>
                <a:latin typeface="Archivo"/>
                <a:ea typeface="Archivo"/>
                <a:cs typeface="Archivo"/>
                <a:sym typeface="Archivo"/>
              </a:rPr>
              <a:t>85%</a:t>
            </a:r>
            <a:endParaRPr b="0" i="0" sz="2100" u="none" cap="none" strike="noStrike">
              <a:solidFill>
                <a:schemeClr val="dk1"/>
              </a:solidFill>
              <a:latin typeface="Calibri"/>
              <a:ea typeface="Calibri"/>
              <a:cs typeface="Calibri"/>
              <a:sym typeface="Calibri"/>
            </a:endParaRPr>
          </a:p>
        </p:txBody>
      </p:sp>
      <p:sp>
        <p:nvSpPr>
          <p:cNvPr id="237" name="Google Shape;237;p10"/>
          <p:cNvSpPr/>
          <p:nvPr/>
        </p:nvSpPr>
        <p:spPr>
          <a:xfrm>
            <a:off x="13805743" y="7656984"/>
            <a:ext cx="672257" cy="230014"/>
          </a:xfrm>
          <a:prstGeom prst="rect">
            <a:avLst/>
          </a:prstGeom>
          <a:noFill/>
          <a:ln>
            <a:noFill/>
          </a:ln>
        </p:spPr>
        <p:txBody>
          <a:bodyPr anchorCtr="0" anchor="t" bIns="25400" lIns="25400" spcFirstLastPara="1" rIns="25400" wrap="square" tIns="25400">
            <a:noAutofit/>
          </a:bodyPr>
          <a:lstStyle/>
          <a:p>
            <a:pPr indent="0" lvl="0" marL="0" marR="0" rtl="0" algn="r">
              <a:lnSpc>
                <a:spcPct val="143929"/>
              </a:lnSpc>
              <a:spcBef>
                <a:spcPts val="0"/>
              </a:spcBef>
              <a:spcAft>
                <a:spcPts val="0"/>
              </a:spcAft>
              <a:buClr>
                <a:srgbClr val="605D5D"/>
              </a:buClr>
              <a:buSzPts val="975"/>
              <a:buFont typeface="Archivo"/>
              <a:buNone/>
            </a:pPr>
            <a:r>
              <a:rPr b="0" i="0" lang="en-US" sz="975" u="none" cap="none" strike="noStrike">
                <a:solidFill>
                  <a:srgbClr val="605D5D"/>
                </a:solidFill>
                <a:latin typeface="Archivo"/>
                <a:ea typeface="Archivo"/>
                <a:cs typeface="Archivo"/>
                <a:sym typeface="Archivo"/>
              </a:rPr>
              <a:t>MATCH</a:t>
            </a:r>
            <a:endParaRPr b="0" i="0" sz="975" u="none" cap="none" strike="noStrike">
              <a:solidFill>
                <a:schemeClr val="dk1"/>
              </a:solidFill>
              <a:latin typeface="Calibri"/>
              <a:ea typeface="Calibri"/>
              <a:cs typeface="Calibri"/>
              <a:sym typeface="Calibri"/>
            </a:endParaRPr>
          </a:p>
        </p:txBody>
      </p:sp>
      <p:sp>
        <p:nvSpPr>
          <p:cNvPr id="238" name="Google Shape;238;p10"/>
          <p:cNvSpPr/>
          <p:nvPr/>
        </p:nvSpPr>
        <p:spPr>
          <a:xfrm>
            <a:off x="4876800" y="8491314"/>
            <a:ext cx="96012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4876800" y="8615139"/>
            <a:ext cx="947663" cy="244748"/>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4962525" y="8634189"/>
            <a:ext cx="852413"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0" i="0" lang="en-US" sz="1050" u="none" cap="none" strike="noStrike">
                <a:solidFill>
                  <a:srgbClr val="7C1405"/>
                </a:solidFill>
                <a:latin typeface="Archivo"/>
                <a:ea typeface="Archivo"/>
                <a:cs typeface="Archivo"/>
                <a:sym typeface="Archivo"/>
              </a:rPr>
              <a:t>Alimentación</a:t>
            </a:r>
            <a:endParaRPr b="0" i="0" sz="1050" u="none" cap="none" strike="noStrike">
              <a:solidFill>
                <a:schemeClr val="dk1"/>
              </a:solidFill>
              <a:latin typeface="Calibri"/>
              <a:ea typeface="Calibri"/>
              <a:cs typeface="Calibri"/>
              <a:sym typeface="Calibri"/>
            </a:endParaRPr>
          </a:p>
        </p:txBody>
      </p:sp>
      <p:sp>
        <p:nvSpPr>
          <p:cNvPr id="241" name="Google Shape;241;p10"/>
          <p:cNvSpPr/>
          <p:nvPr/>
        </p:nvSpPr>
        <p:spPr>
          <a:xfrm>
            <a:off x="5900663" y="8615139"/>
            <a:ext cx="987475" cy="244748"/>
          </a:xfrm>
          <a:prstGeom prst="rect">
            <a:avLst/>
          </a:prstGeom>
          <a:solidFill>
            <a:srgbClr val="EA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0"/>
          <p:cNvSpPr/>
          <p:nvPr/>
        </p:nvSpPr>
        <p:spPr>
          <a:xfrm>
            <a:off x="5986388" y="8634189"/>
            <a:ext cx="89222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01E1D"/>
              </a:buClr>
              <a:buSzPts val="1050"/>
              <a:buFont typeface="Archivo"/>
              <a:buNone/>
            </a:pPr>
            <a:r>
              <a:rPr b="0" i="0" lang="en-US" sz="1050" u="none" cap="none" strike="noStrike">
                <a:solidFill>
                  <a:srgbClr val="201E1D"/>
                </a:solidFill>
                <a:latin typeface="Archivo"/>
                <a:ea typeface="Archivo"/>
                <a:cs typeface="Archivo"/>
                <a:sym typeface="Archivo"/>
              </a:rPr>
              <a:t>Metropolitana</a:t>
            </a:r>
            <a:endParaRPr b="0" i="0" sz="1050" u="none" cap="none" strike="noStrike">
              <a:solidFill>
                <a:schemeClr val="dk1"/>
              </a:solidFill>
              <a:latin typeface="Calibri"/>
              <a:ea typeface="Calibri"/>
              <a:cs typeface="Calibri"/>
              <a:sym typeface="Calibri"/>
            </a:endParaRPr>
          </a:p>
        </p:txBody>
      </p:sp>
      <p:sp>
        <p:nvSpPr>
          <p:cNvPr id="243" name="Google Shape;243;p10"/>
          <p:cNvSpPr/>
          <p:nvPr/>
        </p:nvSpPr>
        <p:spPr>
          <a:xfrm>
            <a:off x="4876800" y="8917037"/>
            <a:ext cx="9737854" cy="255240"/>
          </a:xfrm>
          <a:prstGeom prst="rect">
            <a:avLst/>
          </a:prstGeom>
          <a:noFill/>
          <a:ln>
            <a:noFill/>
          </a:ln>
        </p:spPr>
        <p:txBody>
          <a:bodyPr anchorCtr="0" anchor="t" bIns="25400" lIns="25400" spcFirstLastPara="1" rIns="25400" wrap="square" tIns="25400">
            <a:noAutofit/>
          </a:bodyPr>
          <a:lstStyle/>
          <a:p>
            <a:pPr indent="0" lvl="0" marL="0" marR="0" rtl="0" algn="l">
              <a:lnSpc>
                <a:spcPct val="111220"/>
              </a:lnSpc>
              <a:spcBef>
                <a:spcPts val="0"/>
              </a:spcBef>
              <a:spcAft>
                <a:spcPts val="0"/>
              </a:spcAft>
              <a:buClr>
                <a:srgbClr val="201E1D"/>
              </a:buClr>
              <a:buSzPts val="1425"/>
              <a:buFont typeface="Archivo"/>
              <a:buNone/>
            </a:pPr>
            <a:r>
              <a:rPr b="1" i="0" lang="en-US" sz="1425" u="none" cap="none" strike="noStrike">
                <a:solidFill>
                  <a:srgbClr val="201E1D"/>
                </a:solidFill>
                <a:latin typeface="Archivo"/>
                <a:ea typeface="Archivo"/>
                <a:cs typeface="Archivo"/>
                <a:sym typeface="Archivo"/>
              </a:rPr>
              <a:t>Servicio de coffee break para eventos institucionales</a:t>
            </a:r>
            <a:endParaRPr b="0" i="0" sz="1425" u="none" cap="none" strike="noStrike">
              <a:solidFill>
                <a:schemeClr val="dk1"/>
              </a:solidFill>
              <a:latin typeface="Calibri"/>
              <a:ea typeface="Calibri"/>
              <a:cs typeface="Calibri"/>
              <a:sym typeface="Calibri"/>
            </a:endParaRPr>
          </a:p>
        </p:txBody>
      </p:sp>
      <p:sp>
        <p:nvSpPr>
          <p:cNvPr id="244" name="Google Shape;244;p10"/>
          <p:cNvSpPr/>
          <p:nvPr/>
        </p:nvSpPr>
        <p:spPr>
          <a:xfrm>
            <a:off x="4876800" y="9181802"/>
            <a:ext cx="9737854" cy="259556"/>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605D5D"/>
              </a:buClr>
              <a:buSzPts val="1125"/>
              <a:buFont typeface="Archivo"/>
              <a:buNone/>
            </a:pPr>
            <a:r>
              <a:rPr b="0" i="0" lang="en-US" sz="1125" u="none" cap="none" strike="noStrike">
                <a:solidFill>
                  <a:srgbClr val="605D5D"/>
                </a:solidFill>
                <a:latin typeface="Archivo"/>
                <a:ea typeface="Archivo"/>
                <a:cs typeface="Archivo"/>
                <a:sym typeface="Archivo"/>
              </a:rPr>
              <a:t>$3.100.000 · Cierra en 9 días · SERNAC</a:t>
            </a:r>
            <a:endParaRPr b="0" i="0" sz="1125" u="none" cap="none" strike="noStrike">
              <a:solidFill>
                <a:schemeClr val="dk1"/>
              </a:solidFill>
              <a:latin typeface="Calibri"/>
              <a:ea typeface="Calibri"/>
              <a:cs typeface="Calibri"/>
              <a:sym typeface="Calibri"/>
            </a:endParaRPr>
          </a:p>
        </p:txBody>
      </p:sp>
      <p:sp>
        <p:nvSpPr>
          <p:cNvPr id="245" name="Google Shape;245;p10"/>
          <p:cNvSpPr/>
          <p:nvPr/>
        </p:nvSpPr>
        <p:spPr>
          <a:xfrm>
            <a:off x="4876800" y="9460409"/>
            <a:ext cx="9737854" cy="230981"/>
          </a:xfrm>
          <a:prstGeom prst="rect">
            <a:avLst/>
          </a:prstGeom>
          <a:noFill/>
          <a:ln>
            <a:noFill/>
          </a:ln>
        </p:spPr>
        <p:txBody>
          <a:bodyPr anchorCtr="0" anchor="t" bIns="25400" lIns="25400" spcFirstLastPara="1" rIns="25400" wrap="square" tIns="25400">
            <a:noAutofit/>
          </a:bodyPr>
          <a:lstStyle/>
          <a:p>
            <a:pPr indent="0" lvl="0" marL="0" marR="0" rtl="0" algn="l">
              <a:lnSpc>
                <a:spcPct val="126563"/>
              </a:lnSpc>
              <a:spcBef>
                <a:spcPts val="0"/>
              </a:spcBef>
              <a:spcAft>
                <a:spcPts val="0"/>
              </a:spcAft>
              <a:buClr>
                <a:srgbClr val="EC3013"/>
              </a:buClr>
              <a:buSzPts val="1125"/>
              <a:buFont typeface="Archivo"/>
              <a:buNone/>
            </a:pPr>
            <a:r>
              <a:rPr b="1" i="0" lang="en-US" sz="1125" u="none" cap="none" strike="noStrike">
                <a:solidFill>
                  <a:srgbClr val="EC3013"/>
                </a:solidFill>
                <a:latin typeface="Archivo"/>
                <a:ea typeface="Archivo"/>
                <a:cs typeface="Archivo"/>
                <a:sym typeface="Archivo"/>
              </a:rPr>
              <a:t>IA: </a:t>
            </a:r>
            <a:r>
              <a:rPr b="0" i="0" lang="en-US" sz="1125" u="none" cap="none" strike="noStrike">
                <a:solidFill>
                  <a:srgbClr val="201E1D"/>
                </a:solidFill>
                <a:latin typeface="Archivo"/>
                <a:ea typeface="Archivo"/>
                <a:cs typeface="Archivo"/>
                <a:sym typeface="Archivo"/>
              </a:rPr>
              <a:t>Fuera de tu capacidad declarada de despacho diario; revisar antes de postular.</a:t>
            </a:r>
            <a:endParaRPr b="0" i="0" sz="1125" u="none" cap="none" strike="noStrike">
              <a:solidFill>
                <a:schemeClr val="dk1"/>
              </a:solidFill>
              <a:latin typeface="Calibri"/>
              <a:ea typeface="Calibri"/>
              <a:cs typeface="Calibri"/>
              <a:sym typeface="Calibri"/>
            </a:endParaRPr>
          </a:p>
        </p:txBody>
      </p:sp>
      <p:sp>
        <p:nvSpPr>
          <p:cNvPr id="246" name="Google Shape;246;p10"/>
          <p:cNvSpPr/>
          <p:nvPr/>
        </p:nvSpPr>
        <p:spPr>
          <a:xfrm>
            <a:off x="13805595" y="8615139"/>
            <a:ext cx="672405" cy="451470"/>
          </a:xfrm>
          <a:prstGeom prst="rect">
            <a:avLst/>
          </a:prstGeom>
          <a:noFill/>
          <a:ln>
            <a:noFill/>
          </a:ln>
        </p:spPr>
        <p:txBody>
          <a:bodyPr anchorCtr="0" anchor="t" bIns="25400" lIns="25400" spcFirstLastPara="1" rIns="25400" wrap="square" tIns="25400">
            <a:noAutofit/>
          </a:bodyPr>
          <a:lstStyle/>
          <a:p>
            <a:pPr indent="0" lvl="0" marL="0" marR="0" rtl="0" algn="r">
              <a:lnSpc>
                <a:spcPct val="142295"/>
              </a:lnSpc>
              <a:spcBef>
                <a:spcPts val="0"/>
              </a:spcBef>
              <a:spcAft>
                <a:spcPts val="0"/>
              </a:spcAft>
              <a:buClr>
                <a:srgbClr val="605D5D"/>
              </a:buClr>
              <a:buSzPts val="2100"/>
              <a:buFont typeface="Archivo"/>
              <a:buNone/>
            </a:pPr>
            <a:r>
              <a:rPr b="1" i="0" lang="en-US" sz="2100" u="none" cap="none" strike="noStrike">
                <a:solidFill>
                  <a:srgbClr val="605D5D"/>
                </a:solidFill>
                <a:latin typeface="Archivo"/>
                <a:ea typeface="Archivo"/>
                <a:cs typeface="Archivo"/>
                <a:sym typeface="Archivo"/>
              </a:rPr>
              <a:t>61%</a:t>
            </a:r>
            <a:endParaRPr b="0" i="0" sz="2100" u="none" cap="none" strike="noStrike">
              <a:solidFill>
                <a:schemeClr val="dk1"/>
              </a:solidFill>
              <a:latin typeface="Calibri"/>
              <a:ea typeface="Calibri"/>
              <a:cs typeface="Calibri"/>
              <a:sym typeface="Calibri"/>
            </a:endParaRPr>
          </a:p>
        </p:txBody>
      </p:sp>
      <p:sp>
        <p:nvSpPr>
          <p:cNvPr id="247" name="Google Shape;247;p10"/>
          <p:cNvSpPr/>
          <p:nvPr/>
        </p:nvSpPr>
        <p:spPr>
          <a:xfrm>
            <a:off x="13805595" y="9028509"/>
            <a:ext cx="672405" cy="230014"/>
          </a:xfrm>
          <a:prstGeom prst="rect">
            <a:avLst/>
          </a:prstGeom>
          <a:noFill/>
          <a:ln>
            <a:noFill/>
          </a:ln>
        </p:spPr>
        <p:txBody>
          <a:bodyPr anchorCtr="0" anchor="t" bIns="25400" lIns="25400" spcFirstLastPara="1" rIns="25400" wrap="square" tIns="25400">
            <a:noAutofit/>
          </a:bodyPr>
          <a:lstStyle/>
          <a:p>
            <a:pPr indent="0" lvl="0" marL="0" marR="0" rtl="0" algn="r">
              <a:lnSpc>
                <a:spcPct val="143929"/>
              </a:lnSpc>
              <a:spcBef>
                <a:spcPts val="0"/>
              </a:spcBef>
              <a:spcAft>
                <a:spcPts val="0"/>
              </a:spcAft>
              <a:buClr>
                <a:srgbClr val="605D5D"/>
              </a:buClr>
              <a:buSzPts val="975"/>
              <a:buFont typeface="Archivo"/>
              <a:buNone/>
            </a:pPr>
            <a:r>
              <a:rPr b="0" i="0" lang="en-US" sz="975" u="none" cap="none" strike="noStrike">
                <a:solidFill>
                  <a:srgbClr val="605D5D"/>
                </a:solidFill>
                <a:latin typeface="Archivo"/>
                <a:ea typeface="Archivo"/>
                <a:cs typeface="Archivo"/>
                <a:sym typeface="Archivo"/>
              </a:rPr>
              <a:t>MATCH</a:t>
            </a:r>
            <a:endParaRPr b="0" i="0" sz="975" u="none" cap="none" strike="noStrike">
              <a:solidFill>
                <a:schemeClr val="dk1"/>
              </a:solidFill>
              <a:latin typeface="Calibri"/>
              <a:ea typeface="Calibri"/>
              <a:cs typeface="Calibri"/>
              <a:sym typeface="Calibri"/>
            </a:endParaRPr>
          </a:p>
        </p:txBody>
      </p:sp>
      <p:sp>
        <p:nvSpPr>
          <p:cNvPr id="248" name="Google Shape;248;p10"/>
          <p:cNvSpPr/>
          <p:nvPr/>
        </p:nvSpPr>
        <p:spPr>
          <a:xfrm>
            <a:off x="14706600" y="5357738"/>
            <a:ext cx="2724150"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PRÓXIMOS CIERRES</a:t>
            </a:r>
            <a:endParaRPr b="0" i="0" sz="1050" u="none" cap="none" strike="noStrike">
              <a:solidFill>
                <a:schemeClr val="dk1"/>
              </a:solidFill>
              <a:latin typeface="Calibri"/>
              <a:ea typeface="Calibri"/>
              <a:cs typeface="Calibri"/>
              <a:sym typeface="Calibri"/>
            </a:endParaRPr>
          </a:p>
        </p:txBody>
      </p:sp>
      <p:sp>
        <p:nvSpPr>
          <p:cNvPr id="249" name="Google Shape;249;p10"/>
          <p:cNvSpPr/>
          <p:nvPr/>
        </p:nvSpPr>
        <p:spPr>
          <a:xfrm>
            <a:off x="14706600" y="5640586"/>
            <a:ext cx="24765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0"/>
          <p:cNvSpPr/>
          <p:nvPr/>
        </p:nvSpPr>
        <p:spPr>
          <a:xfrm>
            <a:off x="14706600" y="5726311"/>
            <a:ext cx="1548132"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Pan hospital regional</a:t>
            </a:r>
            <a:endParaRPr b="0" i="0" sz="1200" u="none" cap="none" strike="noStrike">
              <a:solidFill>
                <a:schemeClr val="dk1"/>
              </a:solidFill>
              <a:latin typeface="Calibri"/>
              <a:ea typeface="Calibri"/>
              <a:cs typeface="Calibri"/>
              <a:sym typeface="Calibri"/>
            </a:endParaRPr>
          </a:p>
        </p:txBody>
      </p:sp>
      <p:sp>
        <p:nvSpPr>
          <p:cNvPr id="251" name="Google Shape;251;p10"/>
          <p:cNvSpPr/>
          <p:nvPr/>
        </p:nvSpPr>
        <p:spPr>
          <a:xfrm>
            <a:off x="16768986" y="5726311"/>
            <a:ext cx="490314"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EC3013"/>
              </a:buClr>
              <a:buSzPts val="1200"/>
              <a:buFont typeface="Archivo"/>
              <a:buNone/>
            </a:pPr>
            <a:r>
              <a:rPr b="1" i="0" lang="en-US" sz="1200" u="none" cap="none" strike="noStrike">
                <a:solidFill>
                  <a:srgbClr val="EC3013"/>
                </a:solidFill>
                <a:latin typeface="Archivo"/>
                <a:ea typeface="Archivo"/>
                <a:cs typeface="Archivo"/>
                <a:sym typeface="Archivo"/>
              </a:rPr>
              <a:t>3 días</a:t>
            </a:r>
            <a:endParaRPr b="0" i="0" sz="1200" u="none" cap="none" strike="noStrike">
              <a:solidFill>
                <a:schemeClr val="dk1"/>
              </a:solidFill>
              <a:latin typeface="Calibri"/>
              <a:ea typeface="Calibri"/>
              <a:cs typeface="Calibri"/>
              <a:sym typeface="Calibri"/>
            </a:endParaRPr>
          </a:p>
        </p:txBody>
      </p:sp>
      <p:sp>
        <p:nvSpPr>
          <p:cNvPr id="252" name="Google Shape;252;p10"/>
          <p:cNvSpPr/>
          <p:nvPr/>
        </p:nvSpPr>
        <p:spPr>
          <a:xfrm>
            <a:off x="14706600" y="6038701"/>
            <a:ext cx="24765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0"/>
          <p:cNvSpPr/>
          <p:nvPr/>
        </p:nvSpPr>
        <p:spPr>
          <a:xfrm>
            <a:off x="14706600" y="6124426"/>
            <a:ext cx="1333262"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Convenio Quilpué</a:t>
            </a:r>
            <a:endParaRPr b="0" i="0" sz="1200" u="none" cap="none" strike="noStrike">
              <a:solidFill>
                <a:schemeClr val="dk1"/>
              </a:solidFill>
              <a:latin typeface="Calibri"/>
              <a:ea typeface="Calibri"/>
              <a:cs typeface="Calibri"/>
              <a:sym typeface="Calibri"/>
            </a:endParaRPr>
          </a:p>
        </p:txBody>
      </p:sp>
      <p:sp>
        <p:nvSpPr>
          <p:cNvPr id="254" name="Google Shape;254;p10"/>
          <p:cNvSpPr/>
          <p:nvPr/>
        </p:nvSpPr>
        <p:spPr>
          <a:xfrm>
            <a:off x="16782455" y="6124426"/>
            <a:ext cx="476845"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6 días</a:t>
            </a:r>
            <a:endParaRPr b="0" i="0" sz="1200" u="none" cap="none" strike="noStrike">
              <a:solidFill>
                <a:schemeClr val="dk1"/>
              </a:solidFill>
              <a:latin typeface="Calibri"/>
              <a:ea typeface="Calibri"/>
              <a:cs typeface="Calibri"/>
              <a:sym typeface="Calibri"/>
            </a:endParaRPr>
          </a:p>
        </p:txBody>
      </p:sp>
      <p:sp>
        <p:nvSpPr>
          <p:cNvPr id="255" name="Google Shape;255;p10"/>
          <p:cNvSpPr/>
          <p:nvPr/>
        </p:nvSpPr>
        <p:spPr>
          <a:xfrm>
            <a:off x="14706600" y="6436816"/>
            <a:ext cx="24765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0"/>
          <p:cNvSpPr/>
          <p:nvPr/>
        </p:nvSpPr>
        <p:spPr>
          <a:xfrm>
            <a:off x="14706600" y="6522541"/>
            <a:ext cx="1679101"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Coffee break SERNAC</a:t>
            </a:r>
            <a:endParaRPr b="0" i="0" sz="1200" u="none" cap="none" strike="noStrike">
              <a:solidFill>
                <a:schemeClr val="dk1"/>
              </a:solidFill>
              <a:latin typeface="Calibri"/>
              <a:ea typeface="Calibri"/>
              <a:cs typeface="Calibri"/>
              <a:sym typeface="Calibri"/>
            </a:endParaRPr>
          </a:p>
        </p:txBody>
      </p:sp>
      <p:sp>
        <p:nvSpPr>
          <p:cNvPr id="257" name="Google Shape;257;p10"/>
          <p:cNvSpPr/>
          <p:nvPr/>
        </p:nvSpPr>
        <p:spPr>
          <a:xfrm>
            <a:off x="16782529" y="6522541"/>
            <a:ext cx="476771"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9 días</a:t>
            </a:r>
            <a:endParaRPr b="0" i="0" sz="1200" u="none" cap="none" strike="noStrike">
              <a:solidFill>
                <a:schemeClr val="dk1"/>
              </a:solidFill>
              <a:latin typeface="Calibri"/>
              <a:ea typeface="Calibri"/>
              <a:cs typeface="Calibri"/>
              <a:sym typeface="Calibri"/>
            </a:endParaRPr>
          </a:p>
        </p:txBody>
      </p:sp>
      <p:sp>
        <p:nvSpPr>
          <p:cNvPr id="258" name="Google Shape;258;p10"/>
          <p:cNvSpPr/>
          <p:nvPr/>
        </p:nvSpPr>
        <p:spPr>
          <a:xfrm>
            <a:off x="14706600" y="7025432"/>
            <a:ext cx="2476500" cy="1325835"/>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p:nvPr/>
        </p:nvSpPr>
        <p:spPr>
          <a:xfrm>
            <a:off x="14859000" y="7177832"/>
            <a:ext cx="2388870"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ESTADO DEL MONITOR</a:t>
            </a:r>
            <a:endParaRPr b="0" i="0" sz="1050" u="none" cap="none" strike="noStrike">
              <a:solidFill>
                <a:schemeClr val="dk1"/>
              </a:solidFill>
              <a:latin typeface="Calibri"/>
              <a:ea typeface="Calibri"/>
              <a:cs typeface="Calibri"/>
              <a:sym typeface="Calibri"/>
            </a:endParaRPr>
          </a:p>
        </p:txBody>
      </p:sp>
      <p:sp>
        <p:nvSpPr>
          <p:cNvPr id="260" name="Google Shape;260;p10"/>
          <p:cNvSpPr/>
          <p:nvPr/>
        </p:nvSpPr>
        <p:spPr>
          <a:xfrm>
            <a:off x="14859000" y="7460679"/>
            <a:ext cx="2388870" cy="333375"/>
          </a:xfrm>
          <a:prstGeom prst="rect">
            <a:avLst/>
          </a:prstGeom>
          <a:noFill/>
          <a:ln>
            <a:noFill/>
          </a:ln>
        </p:spPr>
        <p:txBody>
          <a:bodyPr anchorCtr="0" anchor="t" bIns="25400" lIns="25400" spcFirstLastPara="1" rIns="25400" wrap="square" tIns="25400">
            <a:noAutofit/>
          </a:bodyPr>
          <a:lstStyle/>
          <a:p>
            <a:pPr indent="0" lvl="0" marL="0" marR="0" rtl="0" algn="l">
              <a:lnSpc>
                <a:spcPct val="144186"/>
              </a:lnSpc>
              <a:spcBef>
                <a:spcPts val="0"/>
              </a:spcBef>
              <a:spcAft>
                <a:spcPts val="0"/>
              </a:spcAft>
              <a:buClr>
                <a:srgbClr val="EC3013"/>
              </a:buClr>
              <a:buSzPts val="1500"/>
              <a:buFont typeface="Archivo"/>
              <a:buNone/>
            </a:pPr>
            <a:r>
              <a:rPr b="1" i="0" lang="en-US" sz="1500" u="none" cap="none" strike="noStrike">
                <a:solidFill>
                  <a:srgbClr val="EC3013"/>
                </a:solidFill>
                <a:latin typeface="Archivo"/>
                <a:ea typeface="Archivo"/>
                <a:cs typeface="Archivo"/>
                <a:sym typeface="Archivo"/>
              </a:rPr>
              <a:t>Operativo</a:t>
            </a:r>
            <a:endParaRPr b="0" i="0" sz="1500" u="none" cap="none" strike="noStrike">
              <a:solidFill>
                <a:schemeClr val="dk1"/>
              </a:solidFill>
              <a:latin typeface="Calibri"/>
              <a:ea typeface="Calibri"/>
              <a:cs typeface="Calibri"/>
              <a:sym typeface="Calibri"/>
            </a:endParaRPr>
          </a:p>
        </p:txBody>
      </p:sp>
      <p:sp>
        <p:nvSpPr>
          <p:cNvPr id="261" name="Google Shape;261;p10"/>
          <p:cNvSpPr/>
          <p:nvPr/>
        </p:nvSpPr>
        <p:spPr>
          <a:xfrm>
            <a:off x="14859000" y="7813104"/>
            <a:ext cx="2247900" cy="423863"/>
          </a:xfrm>
          <a:prstGeom prst="rect">
            <a:avLst/>
          </a:prstGeom>
          <a:noFill/>
          <a:ln>
            <a:noFill/>
          </a:ln>
        </p:spPr>
        <p:txBody>
          <a:bodyPr anchorCtr="0" anchor="t" bIns="25400" lIns="25400" spcFirstLastPara="1" rIns="25400" wrap="square" tIns="25400">
            <a:noAutofit/>
          </a:bodyPr>
          <a:lstStyle/>
          <a:p>
            <a:pPr indent="0" lvl="0" marL="0" marR="0" rtl="0" algn="l">
              <a:lnSpc>
                <a:spcPct val="126563"/>
              </a:lnSpc>
              <a:spcBef>
                <a:spcPts val="0"/>
              </a:spcBef>
              <a:spcAft>
                <a:spcPts val="0"/>
              </a:spcAft>
              <a:buClr>
                <a:srgbClr val="201E1D"/>
              </a:buClr>
              <a:buSzPts val="1125"/>
              <a:buFont typeface="Archivo"/>
              <a:buNone/>
            </a:pPr>
            <a:r>
              <a:rPr b="0" i="0" lang="en-US" sz="1125" u="none" cap="none" strike="noStrike">
                <a:solidFill>
                  <a:srgbClr val="201E1D"/>
                </a:solidFill>
                <a:latin typeface="Archivo"/>
                <a:ea typeface="Archivo"/>
                <a:cs typeface="Archivo"/>
                <a:sym typeface="Archivo"/>
              </a:rPr>
              <a:t>Última sincronización con Mercado Público: hace 4 minutos.</a:t>
            </a:r>
            <a:endParaRPr b="0" i="0" sz="1125"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266" name="Shape 266"/>
        <p:cNvGrpSpPr/>
        <p:nvPr/>
      </p:nvGrpSpPr>
      <p:grpSpPr>
        <a:xfrm>
          <a:off x="0" y="0"/>
          <a:ext cx="0" cy="0"/>
          <a:chOff x="0" y="0"/>
          <a:chExt cx="0" cy="0"/>
        </a:xfrm>
      </p:grpSpPr>
      <p:sp>
        <p:nvSpPr>
          <p:cNvPr id="267" name="Google Shape;267;p11"/>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03 · DESKTOP</a:t>
            </a:r>
            <a:endParaRPr b="0" i="0" sz="1800" u="none" cap="none" strike="noStrike">
              <a:solidFill>
                <a:schemeClr val="dk1"/>
              </a:solidFill>
              <a:latin typeface="Calibri"/>
              <a:ea typeface="Calibri"/>
              <a:cs typeface="Calibri"/>
              <a:sym typeface="Calibri"/>
            </a:endParaRPr>
          </a:p>
        </p:txBody>
      </p:sp>
      <p:sp>
        <p:nvSpPr>
          <p:cNvPr id="268" name="Google Shape;268;p11"/>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Listado de licitaciones filtradas</a:t>
            </a:r>
            <a:endParaRPr b="0" i="0" sz="4500" u="none" cap="none" strike="noStrike">
              <a:solidFill>
                <a:schemeClr val="dk1"/>
              </a:solidFill>
              <a:latin typeface="Calibri"/>
              <a:ea typeface="Calibri"/>
              <a:cs typeface="Calibri"/>
              <a:sym typeface="Calibri"/>
            </a:endParaRPr>
          </a:p>
        </p:txBody>
      </p:sp>
      <p:sp>
        <p:nvSpPr>
          <p:cNvPr id="269" name="Google Shape;269;p11"/>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1"/>
          <p:cNvSpPr/>
          <p:nvPr/>
        </p:nvSpPr>
        <p:spPr>
          <a:xfrm>
            <a:off x="838200" y="2194545"/>
            <a:ext cx="3453384" cy="153144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Vista de exploración para cuando el usuario quiere buscar por su cuenta, no solo recibir avisos.</a:t>
            </a:r>
            <a:endParaRPr b="0" i="0" sz="2100" u="none" cap="none" strike="noStrike">
              <a:solidFill>
                <a:schemeClr val="dk1"/>
              </a:solidFill>
              <a:latin typeface="Calibri"/>
              <a:ea typeface="Calibri"/>
              <a:cs typeface="Calibri"/>
              <a:sym typeface="Calibri"/>
            </a:endParaRPr>
          </a:p>
        </p:txBody>
      </p:sp>
      <p:sp>
        <p:nvSpPr>
          <p:cNvPr id="271" name="Google Shape;271;p11"/>
          <p:cNvSpPr/>
          <p:nvPr/>
        </p:nvSpPr>
        <p:spPr>
          <a:xfrm>
            <a:off x="838200" y="3916487"/>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838200" y="4154612"/>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248 resultados </a:t>
            </a:r>
            <a:r>
              <a:rPr b="0" i="0" lang="en-US" sz="1875" u="none" cap="none" strike="noStrike">
                <a:solidFill>
                  <a:srgbClr val="201E1D"/>
                </a:solidFill>
                <a:latin typeface="Archivo"/>
                <a:ea typeface="Archivo"/>
                <a:cs typeface="Archivo"/>
                <a:sym typeface="Archivo"/>
              </a:rPr>
              <a:t>ya filtrados por el perfil, no el catálogo completo.</a:t>
            </a:r>
            <a:endParaRPr b="0" i="0" sz="1875" u="none" cap="none" strike="noStrike">
              <a:solidFill>
                <a:schemeClr val="dk1"/>
              </a:solidFill>
              <a:latin typeface="Calibri"/>
              <a:ea typeface="Calibri"/>
              <a:cs typeface="Calibri"/>
              <a:sym typeface="Calibri"/>
            </a:endParaRPr>
          </a:p>
        </p:txBody>
      </p:sp>
      <p:sp>
        <p:nvSpPr>
          <p:cNvPr id="273" name="Google Shape;273;p11"/>
          <p:cNvSpPr/>
          <p:nvPr/>
        </p:nvSpPr>
        <p:spPr>
          <a:xfrm>
            <a:off x="838200" y="5383337"/>
            <a:ext cx="3453384" cy="704850"/>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Match como columna </a:t>
            </a:r>
            <a:r>
              <a:rPr b="0" i="0" lang="en-US" sz="1875" u="none" cap="none" strike="noStrike">
                <a:solidFill>
                  <a:srgbClr val="201E1D"/>
                </a:solidFill>
                <a:latin typeface="Archivo"/>
                <a:ea typeface="Archivo"/>
                <a:cs typeface="Archivo"/>
                <a:sym typeface="Archivo"/>
              </a:rPr>
              <a:t>— se puede ordenar por relevancia.</a:t>
            </a:r>
            <a:endParaRPr b="0" i="0" sz="1875" u="none" cap="none" strike="noStrike">
              <a:solidFill>
                <a:schemeClr val="dk1"/>
              </a:solidFill>
              <a:latin typeface="Calibri"/>
              <a:ea typeface="Calibri"/>
              <a:cs typeface="Calibri"/>
              <a:sym typeface="Calibri"/>
            </a:endParaRPr>
          </a:p>
        </p:txBody>
      </p:sp>
      <p:sp>
        <p:nvSpPr>
          <p:cNvPr id="274" name="Google Shape;274;p11"/>
          <p:cNvSpPr/>
          <p:nvPr/>
        </p:nvSpPr>
        <p:spPr>
          <a:xfrm>
            <a:off x="4610100" y="2194545"/>
            <a:ext cx="1283970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1"/>
          <p:cNvSpPr/>
          <p:nvPr/>
        </p:nvSpPr>
        <p:spPr>
          <a:xfrm>
            <a:off x="4629150" y="2213595"/>
            <a:ext cx="12801600" cy="381000"/>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1"/>
          <p:cNvSpPr/>
          <p:nvPr/>
        </p:nvSpPr>
        <p:spPr>
          <a:xfrm>
            <a:off x="4629150" y="2575545"/>
            <a:ext cx="12801600" cy="1905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1"/>
          <p:cNvSpPr/>
          <p:nvPr/>
        </p:nvSpPr>
        <p:spPr>
          <a:xfrm>
            <a:off x="4781550" y="2342183"/>
            <a:ext cx="104775" cy="104775"/>
          </a:xfrm>
          <a:prstGeom prst="rect">
            <a:avLst/>
          </a:prstGeom>
          <a:solidFill>
            <a:srgbClr val="9B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1"/>
          <p:cNvSpPr/>
          <p:nvPr/>
        </p:nvSpPr>
        <p:spPr>
          <a:xfrm>
            <a:off x="4972050" y="2342183"/>
            <a:ext cx="104775" cy="104775"/>
          </a:xfrm>
          <a:prstGeom prst="rect">
            <a:avLst/>
          </a:prstGeom>
          <a:solidFill>
            <a:srgbClr val="BA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1"/>
          <p:cNvSpPr/>
          <p:nvPr/>
        </p:nvSpPr>
        <p:spPr>
          <a:xfrm>
            <a:off x="5162550" y="2342183"/>
            <a:ext cx="104775" cy="104775"/>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1"/>
          <p:cNvSpPr/>
          <p:nvPr/>
        </p:nvSpPr>
        <p:spPr>
          <a:xfrm>
            <a:off x="5505450" y="2276475"/>
            <a:ext cx="2261503"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app.mpwatcher.cl / licitaciones</a:t>
            </a:r>
            <a:endParaRPr b="0" i="0" sz="1200" u="none" cap="none" strike="noStrike">
              <a:solidFill>
                <a:schemeClr val="dk1"/>
              </a:solidFill>
              <a:latin typeface="Calibri"/>
              <a:ea typeface="Calibri"/>
              <a:cs typeface="Calibri"/>
              <a:sym typeface="Calibri"/>
            </a:endParaRPr>
          </a:p>
        </p:txBody>
      </p:sp>
      <p:sp>
        <p:nvSpPr>
          <p:cNvPr id="281" name="Google Shape;281;p11"/>
          <p:cNvSpPr/>
          <p:nvPr/>
        </p:nvSpPr>
        <p:spPr>
          <a:xfrm>
            <a:off x="4629150" y="3070845"/>
            <a:ext cx="1280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1"/>
          <p:cNvSpPr/>
          <p:nvPr/>
        </p:nvSpPr>
        <p:spPr>
          <a:xfrm>
            <a:off x="4876800" y="2677716"/>
            <a:ext cx="1236985" cy="348109"/>
          </a:xfrm>
          <a:prstGeom prst="rect">
            <a:avLst/>
          </a:prstGeom>
          <a:noFill/>
          <a:ln>
            <a:noFill/>
          </a:ln>
        </p:spPr>
        <p:txBody>
          <a:bodyPr anchorCtr="0" anchor="t" bIns="25400" lIns="25400" spcFirstLastPara="1" rIns="25400" wrap="square" tIns="25400">
            <a:noAutofit/>
          </a:bodyPr>
          <a:lstStyle/>
          <a:p>
            <a:pPr indent="0" lvl="0" marL="0" marR="0" rtl="0" algn="l">
              <a:lnSpc>
                <a:spcPct val="141522"/>
              </a:lnSpc>
              <a:spcBef>
                <a:spcPts val="0"/>
              </a:spcBef>
              <a:spcAft>
                <a:spcPts val="0"/>
              </a:spcAft>
              <a:buClr>
                <a:srgbClr val="201E1D"/>
              </a:buClr>
              <a:buSzPts val="1575"/>
              <a:buFont typeface="Archivo"/>
              <a:buNone/>
            </a:pPr>
            <a:r>
              <a:rPr b="1" i="0" lang="en-US" sz="1575" u="none" cap="none" strike="noStrike">
                <a:solidFill>
                  <a:srgbClr val="201E1D"/>
                </a:solidFill>
                <a:latin typeface="Archivo"/>
                <a:ea typeface="Archivo"/>
                <a:cs typeface="Archivo"/>
                <a:sym typeface="Archivo"/>
              </a:rPr>
              <a:t>MPWatcher</a:t>
            </a:r>
            <a:endParaRPr b="0" i="0" sz="1575" u="none" cap="none" strike="noStrike">
              <a:solidFill>
                <a:schemeClr val="dk1"/>
              </a:solidFill>
              <a:latin typeface="Calibri"/>
              <a:ea typeface="Calibri"/>
              <a:cs typeface="Calibri"/>
              <a:sym typeface="Calibri"/>
            </a:endParaRPr>
          </a:p>
        </p:txBody>
      </p:sp>
      <p:sp>
        <p:nvSpPr>
          <p:cNvPr id="283" name="Google Shape;283;p11"/>
          <p:cNvSpPr/>
          <p:nvPr/>
        </p:nvSpPr>
        <p:spPr>
          <a:xfrm>
            <a:off x="13657213" y="2699817"/>
            <a:ext cx="919832"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Dashboard</a:t>
            </a:r>
            <a:endParaRPr b="0" i="0" sz="1350" u="none" cap="none" strike="noStrike">
              <a:solidFill>
                <a:schemeClr val="dk1"/>
              </a:solidFill>
              <a:latin typeface="Calibri"/>
              <a:ea typeface="Calibri"/>
              <a:cs typeface="Calibri"/>
              <a:sym typeface="Calibri"/>
            </a:endParaRPr>
          </a:p>
        </p:txBody>
      </p:sp>
      <p:sp>
        <p:nvSpPr>
          <p:cNvPr id="284" name="Google Shape;284;p11"/>
          <p:cNvSpPr/>
          <p:nvPr/>
        </p:nvSpPr>
        <p:spPr>
          <a:xfrm>
            <a:off x="14767545" y="2699817"/>
            <a:ext cx="1031900"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EC3013"/>
              </a:buClr>
              <a:buSzPts val="1350"/>
              <a:buFont typeface="Archivo"/>
              <a:buNone/>
            </a:pPr>
            <a:r>
              <a:rPr b="1" i="0" lang="en-US" sz="1350" u="none" cap="none" strike="noStrike">
                <a:solidFill>
                  <a:srgbClr val="EC3013"/>
                </a:solidFill>
                <a:latin typeface="Archivo"/>
                <a:ea typeface="Archivo"/>
                <a:cs typeface="Archivo"/>
                <a:sym typeface="Archivo"/>
              </a:rPr>
              <a:t>Licitaciones</a:t>
            </a:r>
            <a:endParaRPr b="0" i="0" sz="1350" u="none" cap="none" strike="noStrike">
              <a:solidFill>
                <a:schemeClr val="dk1"/>
              </a:solidFill>
              <a:latin typeface="Calibri"/>
              <a:ea typeface="Calibri"/>
              <a:cs typeface="Calibri"/>
              <a:sym typeface="Calibri"/>
            </a:endParaRPr>
          </a:p>
        </p:txBody>
      </p:sp>
      <p:sp>
        <p:nvSpPr>
          <p:cNvPr id="285" name="Google Shape;285;p11"/>
          <p:cNvSpPr/>
          <p:nvPr/>
        </p:nvSpPr>
        <p:spPr>
          <a:xfrm>
            <a:off x="15989945" y="2699817"/>
            <a:ext cx="614214"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Alertas</a:t>
            </a:r>
            <a:endParaRPr b="0" i="0" sz="1350" u="none" cap="none" strike="noStrike">
              <a:solidFill>
                <a:schemeClr val="dk1"/>
              </a:solidFill>
              <a:latin typeface="Calibri"/>
              <a:ea typeface="Calibri"/>
              <a:cs typeface="Calibri"/>
              <a:sym typeface="Calibri"/>
            </a:endParaRPr>
          </a:p>
        </p:txBody>
      </p:sp>
      <p:sp>
        <p:nvSpPr>
          <p:cNvPr id="286" name="Google Shape;286;p11"/>
          <p:cNvSpPr/>
          <p:nvPr/>
        </p:nvSpPr>
        <p:spPr>
          <a:xfrm>
            <a:off x="16794659" y="2699817"/>
            <a:ext cx="464641"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Perfil</a:t>
            </a:r>
            <a:endParaRPr b="0" i="0" sz="1350" u="none" cap="none" strike="noStrike">
              <a:solidFill>
                <a:schemeClr val="dk1"/>
              </a:solidFill>
              <a:latin typeface="Calibri"/>
              <a:ea typeface="Calibri"/>
              <a:cs typeface="Calibri"/>
              <a:sym typeface="Calibri"/>
            </a:endParaRPr>
          </a:p>
        </p:txBody>
      </p:sp>
      <p:sp>
        <p:nvSpPr>
          <p:cNvPr id="287" name="Google Shape;287;p11"/>
          <p:cNvSpPr/>
          <p:nvPr/>
        </p:nvSpPr>
        <p:spPr>
          <a:xfrm>
            <a:off x="4876800" y="3318495"/>
            <a:ext cx="1941202"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Licitaciones</a:t>
            </a:r>
            <a:endParaRPr b="0" i="0" sz="2250" u="none" cap="none" strike="noStrike">
              <a:solidFill>
                <a:schemeClr val="dk1"/>
              </a:solidFill>
              <a:latin typeface="Calibri"/>
              <a:ea typeface="Calibri"/>
              <a:cs typeface="Calibri"/>
              <a:sym typeface="Calibri"/>
            </a:endParaRPr>
          </a:p>
        </p:txBody>
      </p:sp>
      <p:sp>
        <p:nvSpPr>
          <p:cNvPr id="288" name="Google Shape;288;p11"/>
          <p:cNvSpPr/>
          <p:nvPr/>
        </p:nvSpPr>
        <p:spPr>
          <a:xfrm>
            <a:off x="6793929" y="3456608"/>
            <a:ext cx="2752636"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248 resultados · filtrado por tu perfil</a:t>
            </a:r>
            <a:endParaRPr b="0" i="0" sz="1275" u="none" cap="none" strike="noStrike">
              <a:solidFill>
                <a:schemeClr val="dk1"/>
              </a:solidFill>
              <a:latin typeface="Calibri"/>
              <a:ea typeface="Calibri"/>
              <a:cs typeface="Calibri"/>
              <a:sym typeface="Calibri"/>
            </a:endParaRPr>
          </a:p>
        </p:txBody>
      </p:sp>
      <p:sp>
        <p:nvSpPr>
          <p:cNvPr id="289" name="Google Shape;289;p11"/>
          <p:cNvSpPr/>
          <p:nvPr/>
        </p:nvSpPr>
        <p:spPr>
          <a:xfrm>
            <a:off x="4876800" y="3913808"/>
            <a:ext cx="6929438" cy="361950"/>
          </a:xfrm>
          <a:prstGeom prst="rect">
            <a:avLst/>
          </a:prstGeom>
          <a:solidFill>
            <a:srgbClr val="EAE9E9"/>
          </a:solid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1"/>
          <p:cNvSpPr/>
          <p:nvPr/>
        </p:nvSpPr>
        <p:spPr>
          <a:xfrm>
            <a:off x="5000625" y="3923333"/>
            <a:ext cx="6889671" cy="38100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Buscar por palabra clave o ID</a:t>
            </a:r>
            <a:endParaRPr b="0" i="0" sz="1200" u="none" cap="none" strike="noStrike">
              <a:solidFill>
                <a:schemeClr val="dk1"/>
              </a:solidFill>
              <a:latin typeface="Calibri"/>
              <a:ea typeface="Calibri"/>
              <a:cs typeface="Calibri"/>
              <a:sym typeface="Calibri"/>
            </a:endParaRPr>
          </a:p>
        </p:txBody>
      </p:sp>
      <p:sp>
        <p:nvSpPr>
          <p:cNvPr id="291" name="Google Shape;291;p11"/>
          <p:cNvSpPr/>
          <p:nvPr/>
        </p:nvSpPr>
        <p:spPr>
          <a:xfrm>
            <a:off x="11901488" y="3913808"/>
            <a:ext cx="1260351" cy="36195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1"/>
          <p:cNvSpPr/>
          <p:nvPr/>
        </p:nvSpPr>
        <p:spPr>
          <a:xfrm>
            <a:off x="12025313" y="3923333"/>
            <a:ext cx="1088901" cy="38100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Rubro: Todos ▾</a:t>
            </a:r>
            <a:endParaRPr b="0" i="0" sz="1200" u="none" cap="none" strike="noStrike">
              <a:solidFill>
                <a:schemeClr val="dk1"/>
              </a:solidFill>
              <a:latin typeface="Calibri"/>
              <a:ea typeface="Calibri"/>
              <a:cs typeface="Calibri"/>
              <a:sym typeface="Calibri"/>
            </a:endParaRPr>
          </a:p>
        </p:txBody>
      </p:sp>
      <p:sp>
        <p:nvSpPr>
          <p:cNvPr id="293" name="Google Shape;293;p11"/>
          <p:cNvSpPr/>
          <p:nvPr/>
        </p:nvSpPr>
        <p:spPr>
          <a:xfrm>
            <a:off x="13257088" y="3913808"/>
            <a:ext cx="1323752" cy="36195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1"/>
          <p:cNvSpPr/>
          <p:nvPr/>
        </p:nvSpPr>
        <p:spPr>
          <a:xfrm>
            <a:off x="13380913" y="3923333"/>
            <a:ext cx="1152302" cy="38100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Región: Todas ▾</a:t>
            </a:r>
            <a:endParaRPr b="0" i="0" sz="1200" u="none" cap="none" strike="noStrike">
              <a:solidFill>
                <a:schemeClr val="dk1"/>
              </a:solidFill>
              <a:latin typeface="Calibri"/>
              <a:ea typeface="Calibri"/>
              <a:cs typeface="Calibri"/>
              <a:sym typeface="Calibri"/>
            </a:endParaRPr>
          </a:p>
        </p:txBody>
      </p:sp>
      <p:sp>
        <p:nvSpPr>
          <p:cNvPr id="295" name="Google Shape;295;p11"/>
          <p:cNvSpPr/>
          <p:nvPr/>
        </p:nvSpPr>
        <p:spPr>
          <a:xfrm>
            <a:off x="14676090" y="3913808"/>
            <a:ext cx="1472208" cy="36195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14799915" y="3923333"/>
            <a:ext cx="1300758" cy="38100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Estado: Abiertas ▾</a:t>
            </a:r>
            <a:endParaRPr b="0" i="0" sz="1200" u="none" cap="none" strike="noStrike">
              <a:solidFill>
                <a:schemeClr val="dk1"/>
              </a:solidFill>
              <a:latin typeface="Calibri"/>
              <a:ea typeface="Calibri"/>
              <a:cs typeface="Calibri"/>
              <a:sym typeface="Calibri"/>
            </a:endParaRPr>
          </a:p>
        </p:txBody>
      </p:sp>
      <p:sp>
        <p:nvSpPr>
          <p:cNvPr id="297" name="Google Shape;297;p11"/>
          <p:cNvSpPr/>
          <p:nvPr/>
        </p:nvSpPr>
        <p:spPr>
          <a:xfrm>
            <a:off x="16243548" y="3913808"/>
            <a:ext cx="939552" cy="361950"/>
          </a:xfrm>
          <a:prstGeom prst="rect">
            <a:avLst/>
          </a:prstGeom>
          <a:noFill/>
          <a:ln cap="flat" cmpd="sng" w="9525">
            <a:solidFill>
              <a:srgbClr val="EC30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1"/>
          <p:cNvSpPr/>
          <p:nvPr/>
        </p:nvSpPr>
        <p:spPr>
          <a:xfrm>
            <a:off x="16367373" y="3923333"/>
            <a:ext cx="768102" cy="38100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EC3013"/>
              </a:buClr>
              <a:buSzPts val="1200"/>
              <a:buFont typeface="Archivo"/>
              <a:buNone/>
            </a:pPr>
            <a:r>
              <a:rPr b="0" i="0" lang="en-US" sz="1200" u="none" cap="none" strike="noStrike">
                <a:solidFill>
                  <a:srgbClr val="EC3013"/>
                </a:solidFill>
                <a:latin typeface="Archivo"/>
                <a:ea typeface="Archivo"/>
                <a:cs typeface="Archivo"/>
                <a:sym typeface="Archivo"/>
              </a:rPr>
              <a:t>Más filtros</a:t>
            </a:r>
            <a:endParaRPr b="0" i="0" sz="1200" u="none" cap="none" strike="noStrike">
              <a:solidFill>
                <a:schemeClr val="dk1"/>
              </a:solidFill>
              <a:latin typeface="Calibri"/>
              <a:ea typeface="Calibri"/>
              <a:cs typeface="Calibri"/>
              <a:sym typeface="Calibri"/>
            </a:endParaRPr>
          </a:p>
        </p:txBody>
      </p:sp>
      <p:sp>
        <p:nvSpPr>
          <p:cNvPr id="299" name="Google Shape;299;p11"/>
          <p:cNvSpPr/>
          <p:nvPr/>
        </p:nvSpPr>
        <p:spPr>
          <a:xfrm>
            <a:off x="4876800" y="4762946"/>
            <a:ext cx="3421112"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1"/>
          <p:cNvSpPr/>
          <p:nvPr/>
        </p:nvSpPr>
        <p:spPr>
          <a:xfrm>
            <a:off x="4876800" y="4504358"/>
            <a:ext cx="3428495"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LICITACIÓN</a:t>
            </a:r>
            <a:endParaRPr b="0" i="0" sz="975" u="none" cap="none" strike="noStrike">
              <a:solidFill>
                <a:schemeClr val="dk1"/>
              </a:solidFill>
              <a:latin typeface="Calibri"/>
              <a:ea typeface="Calibri"/>
              <a:cs typeface="Calibri"/>
              <a:sym typeface="Calibri"/>
            </a:endParaRPr>
          </a:p>
        </p:txBody>
      </p:sp>
      <p:sp>
        <p:nvSpPr>
          <p:cNvPr id="301" name="Google Shape;301;p11"/>
          <p:cNvSpPr/>
          <p:nvPr/>
        </p:nvSpPr>
        <p:spPr>
          <a:xfrm>
            <a:off x="8297912" y="4762946"/>
            <a:ext cx="1882378"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8393162" y="4504358"/>
            <a:ext cx="1768078"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ORGANISMO</a:t>
            </a:r>
            <a:endParaRPr b="0" i="0" sz="975" u="none" cap="none" strike="noStrike">
              <a:solidFill>
                <a:schemeClr val="dk1"/>
              </a:solidFill>
              <a:latin typeface="Calibri"/>
              <a:ea typeface="Calibri"/>
              <a:cs typeface="Calibri"/>
              <a:sym typeface="Calibri"/>
            </a:endParaRPr>
          </a:p>
        </p:txBody>
      </p:sp>
      <p:sp>
        <p:nvSpPr>
          <p:cNvPr id="303" name="Google Shape;303;p11"/>
          <p:cNvSpPr/>
          <p:nvPr/>
        </p:nvSpPr>
        <p:spPr>
          <a:xfrm>
            <a:off x="10180290" y="4762946"/>
            <a:ext cx="1429792"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1"/>
          <p:cNvSpPr/>
          <p:nvPr/>
        </p:nvSpPr>
        <p:spPr>
          <a:xfrm>
            <a:off x="10275540" y="4504358"/>
            <a:ext cx="1315492"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RUBRO</a:t>
            </a:r>
            <a:endParaRPr b="0" i="0" sz="975" u="none" cap="none" strike="noStrike">
              <a:solidFill>
                <a:schemeClr val="dk1"/>
              </a:solidFill>
              <a:latin typeface="Calibri"/>
              <a:ea typeface="Calibri"/>
              <a:cs typeface="Calibri"/>
              <a:sym typeface="Calibri"/>
            </a:endParaRPr>
          </a:p>
        </p:txBody>
      </p:sp>
      <p:sp>
        <p:nvSpPr>
          <p:cNvPr id="305" name="Google Shape;305;p11"/>
          <p:cNvSpPr/>
          <p:nvPr/>
        </p:nvSpPr>
        <p:spPr>
          <a:xfrm>
            <a:off x="11610082" y="4762946"/>
            <a:ext cx="1462013"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1"/>
          <p:cNvSpPr/>
          <p:nvPr/>
        </p:nvSpPr>
        <p:spPr>
          <a:xfrm>
            <a:off x="11705332" y="4504358"/>
            <a:ext cx="1347713"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REGIÓN</a:t>
            </a:r>
            <a:endParaRPr b="0" i="0" sz="975" u="none" cap="none" strike="noStrike">
              <a:solidFill>
                <a:schemeClr val="dk1"/>
              </a:solidFill>
              <a:latin typeface="Calibri"/>
              <a:ea typeface="Calibri"/>
              <a:cs typeface="Calibri"/>
              <a:sym typeface="Calibri"/>
            </a:endParaRPr>
          </a:p>
        </p:txBody>
      </p:sp>
      <p:sp>
        <p:nvSpPr>
          <p:cNvPr id="307" name="Google Shape;307;p11"/>
          <p:cNvSpPr/>
          <p:nvPr/>
        </p:nvSpPr>
        <p:spPr>
          <a:xfrm>
            <a:off x="13072095" y="4762946"/>
            <a:ext cx="1365945"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1"/>
          <p:cNvSpPr/>
          <p:nvPr/>
        </p:nvSpPr>
        <p:spPr>
          <a:xfrm>
            <a:off x="13091145" y="4504358"/>
            <a:ext cx="1251645" cy="220489"/>
          </a:xfrm>
          <a:prstGeom prst="rect">
            <a:avLst/>
          </a:prstGeom>
          <a:noFill/>
          <a:ln>
            <a:noFill/>
          </a:ln>
        </p:spPr>
        <p:txBody>
          <a:bodyPr anchorCtr="0" anchor="ctr" bIns="25400" lIns="25400" spcFirstLastPara="1" rIns="25400" wrap="square" tIns="25400">
            <a:noAutofit/>
          </a:bodyPr>
          <a:lstStyle/>
          <a:p>
            <a:pPr indent="0" lvl="0" marL="0" marR="0" rtl="0" algn="r">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MONTO</a:t>
            </a:r>
            <a:endParaRPr b="0" i="0" sz="975" u="none" cap="none" strike="noStrike">
              <a:solidFill>
                <a:schemeClr val="dk1"/>
              </a:solidFill>
              <a:latin typeface="Calibri"/>
              <a:ea typeface="Calibri"/>
              <a:cs typeface="Calibri"/>
              <a:sym typeface="Calibri"/>
            </a:endParaRPr>
          </a:p>
        </p:txBody>
      </p:sp>
      <p:sp>
        <p:nvSpPr>
          <p:cNvPr id="309" name="Google Shape;309;p11"/>
          <p:cNvSpPr/>
          <p:nvPr/>
        </p:nvSpPr>
        <p:spPr>
          <a:xfrm>
            <a:off x="14438040" y="4762946"/>
            <a:ext cx="95741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14533290" y="4504358"/>
            <a:ext cx="843111"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CIERRE</a:t>
            </a:r>
            <a:endParaRPr b="0" i="0" sz="975" u="none" cap="none" strike="noStrike">
              <a:solidFill>
                <a:schemeClr val="dk1"/>
              </a:solidFill>
              <a:latin typeface="Calibri"/>
              <a:ea typeface="Calibri"/>
              <a:cs typeface="Calibri"/>
              <a:sym typeface="Calibri"/>
            </a:endParaRPr>
          </a:p>
        </p:txBody>
      </p:sp>
      <p:sp>
        <p:nvSpPr>
          <p:cNvPr id="311" name="Google Shape;311;p11"/>
          <p:cNvSpPr/>
          <p:nvPr/>
        </p:nvSpPr>
        <p:spPr>
          <a:xfrm>
            <a:off x="15395451" y="4762946"/>
            <a:ext cx="903238"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1"/>
          <p:cNvSpPr/>
          <p:nvPr/>
        </p:nvSpPr>
        <p:spPr>
          <a:xfrm>
            <a:off x="15414501" y="4504358"/>
            <a:ext cx="788938" cy="220489"/>
          </a:xfrm>
          <a:prstGeom prst="rect">
            <a:avLst/>
          </a:prstGeom>
          <a:noFill/>
          <a:ln>
            <a:noFill/>
          </a:ln>
        </p:spPr>
        <p:txBody>
          <a:bodyPr anchorCtr="0" anchor="ctr" bIns="25400" lIns="25400" spcFirstLastPara="1" rIns="25400" wrap="square" tIns="25400">
            <a:noAutofit/>
          </a:bodyPr>
          <a:lstStyle/>
          <a:p>
            <a:pPr indent="0" lvl="0" marL="0" marR="0" rtl="0" algn="r">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MATCH</a:t>
            </a:r>
            <a:endParaRPr b="0" i="0" sz="975" u="none" cap="none" strike="noStrike">
              <a:solidFill>
                <a:schemeClr val="dk1"/>
              </a:solidFill>
              <a:latin typeface="Calibri"/>
              <a:ea typeface="Calibri"/>
              <a:cs typeface="Calibri"/>
              <a:sym typeface="Calibri"/>
            </a:endParaRPr>
          </a:p>
        </p:txBody>
      </p:sp>
      <p:sp>
        <p:nvSpPr>
          <p:cNvPr id="313" name="Google Shape;313;p11"/>
          <p:cNvSpPr/>
          <p:nvPr/>
        </p:nvSpPr>
        <p:spPr>
          <a:xfrm>
            <a:off x="16298689" y="4762946"/>
            <a:ext cx="884411"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1"/>
          <p:cNvSpPr/>
          <p:nvPr/>
        </p:nvSpPr>
        <p:spPr>
          <a:xfrm>
            <a:off x="16393939" y="4504358"/>
            <a:ext cx="865361"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ESTADO</a:t>
            </a:r>
            <a:endParaRPr b="0" i="0" sz="975" u="none" cap="none" strike="noStrike">
              <a:solidFill>
                <a:schemeClr val="dk1"/>
              </a:solidFill>
              <a:latin typeface="Calibri"/>
              <a:ea typeface="Calibri"/>
              <a:cs typeface="Calibri"/>
              <a:sym typeface="Calibri"/>
            </a:endParaRPr>
          </a:p>
        </p:txBody>
      </p:sp>
      <p:sp>
        <p:nvSpPr>
          <p:cNvPr id="315" name="Google Shape;315;p11"/>
          <p:cNvSpPr/>
          <p:nvPr/>
        </p:nvSpPr>
        <p:spPr>
          <a:xfrm>
            <a:off x="4876800" y="5232499"/>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1"/>
          <p:cNvSpPr/>
          <p:nvPr/>
        </p:nvSpPr>
        <p:spPr>
          <a:xfrm>
            <a:off x="4876800" y="4886771"/>
            <a:ext cx="3428495" cy="279053"/>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Suministro de pan y pastelería</a:t>
            </a:r>
            <a:endParaRPr b="0" i="0" sz="1200" u="none" cap="none" strike="noStrike">
              <a:solidFill>
                <a:schemeClr val="dk1"/>
              </a:solidFill>
              <a:latin typeface="Calibri"/>
              <a:ea typeface="Calibri"/>
              <a:cs typeface="Calibri"/>
              <a:sym typeface="Calibri"/>
            </a:endParaRPr>
          </a:p>
        </p:txBody>
      </p:sp>
      <p:sp>
        <p:nvSpPr>
          <p:cNvPr id="317" name="Google Shape;317;p11"/>
          <p:cNvSpPr/>
          <p:nvPr/>
        </p:nvSpPr>
        <p:spPr>
          <a:xfrm>
            <a:off x="8297912" y="5232499"/>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1"/>
          <p:cNvSpPr/>
          <p:nvPr/>
        </p:nvSpPr>
        <p:spPr>
          <a:xfrm>
            <a:off x="8393162" y="4886771"/>
            <a:ext cx="1768078" cy="279053"/>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Hospital Regional</a:t>
            </a:r>
            <a:endParaRPr b="0" i="0" sz="1200" u="none" cap="none" strike="noStrike">
              <a:solidFill>
                <a:schemeClr val="dk1"/>
              </a:solidFill>
              <a:latin typeface="Calibri"/>
              <a:ea typeface="Calibri"/>
              <a:cs typeface="Calibri"/>
              <a:sym typeface="Calibri"/>
            </a:endParaRPr>
          </a:p>
        </p:txBody>
      </p:sp>
      <p:sp>
        <p:nvSpPr>
          <p:cNvPr id="319" name="Google Shape;319;p11"/>
          <p:cNvSpPr/>
          <p:nvPr/>
        </p:nvSpPr>
        <p:spPr>
          <a:xfrm>
            <a:off x="10180290" y="5232499"/>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1"/>
          <p:cNvSpPr/>
          <p:nvPr/>
        </p:nvSpPr>
        <p:spPr>
          <a:xfrm>
            <a:off x="10275540" y="4886771"/>
            <a:ext cx="1315492" cy="279053"/>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Alimentación</a:t>
            </a:r>
            <a:endParaRPr b="0" i="0" sz="1200" u="none" cap="none" strike="noStrike">
              <a:solidFill>
                <a:schemeClr val="dk1"/>
              </a:solidFill>
              <a:latin typeface="Calibri"/>
              <a:ea typeface="Calibri"/>
              <a:cs typeface="Calibri"/>
              <a:sym typeface="Calibri"/>
            </a:endParaRPr>
          </a:p>
        </p:txBody>
      </p:sp>
      <p:sp>
        <p:nvSpPr>
          <p:cNvPr id="321" name="Google Shape;321;p11"/>
          <p:cNvSpPr/>
          <p:nvPr/>
        </p:nvSpPr>
        <p:spPr>
          <a:xfrm>
            <a:off x="11610082" y="5232499"/>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1"/>
          <p:cNvSpPr/>
          <p:nvPr/>
        </p:nvSpPr>
        <p:spPr>
          <a:xfrm>
            <a:off x="11705332" y="4886771"/>
            <a:ext cx="1347713" cy="279053"/>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Metropolitana</a:t>
            </a:r>
            <a:endParaRPr b="0" i="0" sz="1200" u="none" cap="none" strike="noStrike">
              <a:solidFill>
                <a:schemeClr val="dk1"/>
              </a:solidFill>
              <a:latin typeface="Calibri"/>
              <a:ea typeface="Calibri"/>
              <a:cs typeface="Calibri"/>
              <a:sym typeface="Calibri"/>
            </a:endParaRPr>
          </a:p>
        </p:txBody>
      </p:sp>
      <p:sp>
        <p:nvSpPr>
          <p:cNvPr id="323" name="Google Shape;323;p11"/>
          <p:cNvSpPr/>
          <p:nvPr/>
        </p:nvSpPr>
        <p:spPr>
          <a:xfrm>
            <a:off x="13072095" y="5232499"/>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
          <p:cNvSpPr/>
          <p:nvPr/>
        </p:nvSpPr>
        <p:spPr>
          <a:xfrm>
            <a:off x="13091145" y="4886771"/>
            <a:ext cx="1251645" cy="279053"/>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$14.500.000</a:t>
            </a:r>
            <a:endParaRPr b="0" i="0" sz="1200" u="none" cap="none" strike="noStrike">
              <a:solidFill>
                <a:schemeClr val="dk1"/>
              </a:solidFill>
              <a:latin typeface="Calibri"/>
              <a:ea typeface="Calibri"/>
              <a:cs typeface="Calibri"/>
              <a:sym typeface="Calibri"/>
            </a:endParaRPr>
          </a:p>
        </p:txBody>
      </p:sp>
      <p:sp>
        <p:nvSpPr>
          <p:cNvPr id="325" name="Google Shape;325;p11"/>
          <p:cNvSpPr/>
          <p:nvPr/>
        </p:nvSpPr>
        <p:spPr>
          <a:xfrm>
            <a:off x="14438040" y="5232499"/>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1"/>
          <p:cNvSpPr/>
          <p:nvPr/>
        </p:nvSpPr>
        <p:spPr>
          <a:xfrm>
            <a:off x="14533290" y="4886771"/>
            <a:ext cx="843111" cy="279053"/>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07-09</a:t>
            </a:r>
            <a:endParaRPr b="0" i="0" sz="1200" u="none" cap="none" strike="noStrike">
              <a:solidFill>
                <a:schemeClr val="dk1"/>
              </a:solidFill>
              <a:latin typeface="Calibri"/>
              <a:ea typeface="Calibri"/>
              <a:cs typeface="Calibri"/>
              <a:sym typeface="Calibri"/>
            </a:endParaRPr>
          </a:p>
        </p:txBody>
      </p:sp>
      <p:sp>
        <p:nvSpPr>
          <p:cNvPr id="327" name="Google Shape;327;p11"/>
          <p:cNvSpPr/>
          <p:nvPr/>
        </p:nvSpPr>
        <p:spPr>
          <a:xfrm>
            <a:off x="15395451" y="5232499"/>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p:nvPr/>
        </p:nvSpPr>
        <p:spPr>
          <a:xfrm>
            <a:off x="15414501" y="4886771"/>
            <a:ext cx="788938" cy="279053"/>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EC3013"/>
              </a:buClr>
              <a:buSzPts val="1200"/>
              <a:buFont typeface="Archivo"/>
              <a:buNone/>
            </a:pPr>
            <a:r>
              <a:rPr b="1" i="0" lang="en-US" sz="1200" u="none" cap="none" strike="noStrike">
                <a:solidFill>
                  <a:srgbClr val="EC3013"/>
                </a:solidFill>
                <a:latin typeface="Archivo"/>
                <a:ea typeface="Archivo"/>
                <a:cs typeface="Archivo"/>
                <a:sym typeface="Archivo"/>
              </a:rPr>
              <a:t>92%</a:t>
            </a:r>
            <a:endParaRPr b="0" i="0" sz="1200" u="none" cap="none" strike="noStrike">
              <a:solidFill>
                <a:schemeClr val="dk1"/>
              </a:solidFill>
              <a:latin typeface="Calibri"/>
              <a:ea typeface="Calibri"/>
              <a:cs typeface="Calibri"/>
              <a:sym typeface="Calibri"/>
            </a:endParaRPr>
          </a:p>
        </p:txBody>
      </p:sp>
      <p:sp>
        <p:nvSpPr>
          <p:cNvPr id="329" name="Google Shape;329;p11"/>
          <p:cNvSpPr/>
          <p:nvPr/>
        </p:nvSpPr>
        <p:spPr>
          <a:xfrm>
            <a:off x="16298689" y="5232499"/>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11"/>
          <p:cNvSpPr/>
          <p:nvPr/>
        </p:nvSpPr>
        <p:spPr>
          <a:xfrm>
            <a:off x="16393939" y="4886771"/>
            <a:ext cx="865361" cy="279053"/>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Abierta</a:t>
            </a:r>
            <a:endParaRPr b="0" i="0" sz="1200" u="none" cap="none" strike="noStrike">
              <a:solidFill>
                <a:schemeClr val="dk1"/>
              </a:solidFill>
              <a:latin typeface="Calibri"/>
              <a:ea typeface="Calibri"/>
              <a:cs typeface="Calibri"/>
              <a:sym typeface="Calibri"/>
            </a:endParaRPr>
          </a:p>
        </p:txBody>
      </p:sp>
      <p:sp>
        <p:nvSpPr>
          <p:cNvPr id="331" name="Google Shape;331;p11"/>
          <p:cNvSpPr/>
          <p:nvPr/>
        </p:nvSpPr>
        <p:spPr>
          <a:xfrm>
            <a:off x="4876800" y="5687764"/>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1"/>
          <p:cNvSpPr/>
          <p:nvPr/>
        </p:nvSpPr>
        <p:spPr>
          <a:xfrm>
            <a:off x="4876800" y="5346799"/>
            <a:ext cx="3428495"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Convenio suministro panificación</a:t>
            </a:r>
            <a:endParaRPr b="0" i="0" sz="1200" u="none" cap="none" strike="noStrike">
              <a:solidFill>
                <a:schemeClr val="dk1"/>
              </a:solidFill>
              <a:latin typeface="Calibri"/>
              <a:ea typeface="Calibri"/>
              <a:cs typeface="Calibri"/>
              <a:sym typeface="Calibri"/>
            </a:endParaRPr>
          </a:p>
        </p:txBody>
      </p:sp>
      <p:sp>
        <p:nvSpPr>
          <p:cNvPr id="333" name="Google Shape;333;p11"/>
          <p:cNvSpPr/>
          <p:nvPr/>
        </p:nvSpPr>
        <p:spPr>
          <a:xfrm>
            <a:off x="8297912" y="5687764"/>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p:nvPr/>
        </p:nvSpPr>
        <p:spPr>
          <a:xfrm>
            <a:off x="8393162" y="5346799"/>
            <a:ext cx="1768078"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 de Quilpué</a:t>
            </a:r>
            <a:endParaRPr b="0" i="0" sz="1200" u="none" cap="none" strike="noStrike">
              <a:solidFill>
                <a:schemeClr val="dk1"/>
              </a:solidFill>
              <a:latin typeface="Calibri"/>
              <a:ea typeface="Calibri"/>
              <a:cs typeface="Calibri"/>
              <a:sym typeface="Calibri"/>
            </a:endParaRPr>
          </a:p>
        </p:txBody>
      </p:sp>
      <p:sp>
        <p:nvSpPr>
          <p:cNvPr id="335" name="Google Shape;335;p11"/>
          <p:cNvSpPr/>
          <p:nvPr/>
        </p:nvSpPr>
        <p:spPr>
          <a:xfrm>
            <a:off x="10180290" y="5687764"/>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1"/>
          <p:cNvSpPr/>
          <p:nvPr/>
        </p:nvSpPr>
        <p:spPr>
          <a:xfrm>
            <a:off x="10275540" y="5346799"/>
            <a:ext cx="1315492"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Alimentación</a:t>
            </a:r>
            <a:endParaRPr b="0" i="0" sz="1200" u="none" cap="none" strike="noStrike">
              <a:solidFill>
                <a:schemeClr val="dk1"/>
              </a:solidFill>
              <a:latin typeface="Calibri"/>
              <a:ea typeface="Calibri"/>
              <a:cs typeface="Calibri"/>
              <a:sym typeface="Calibri"/>
            </a:endParaRPr>
          </a:p>
        </p:txBody>
      </p:sp>
      <p:sp>
        <p:nvSpPr>
          <p:cNvPr id="337" name="Google Shape;337;p11"/>
          <p:cNvSpPr/>
          <p:nvPr/>
        </p:nvSpPr>
        <p:spPr>
          <a:xfrm>
            <a:off x="11610082" y="5687764"/>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
          <p:cNvSpPr/>
          <p:nvPr/>
        </p:nvSpPr>
        <p:spPr>
          <a:xfrm>
            <a:off x="11705332" y="5346799"/>
            <a:ext cx="1347713"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Valparaíso</a:t>
            </a:r>
            <a:endParaRPr b="0" i="0" sz="1200" u="none" cap="none" strike="noStrike">
              <a:solidFill>
                <a:schemeClr val="dk1"/>
              </a:solidFill>
              <a:latin typeface="Calibri"/>
              <a:ea typeface="Calibri"/>
              <a:cs typeface="Calibri"/>
              <a:sym typeface="Calibri"/>
            </a:endParaRPr>
          </a:p>
        </p:txBody>
      </p:sp>
      <p:sp>
        <p:nvSpPr>
          <p:cNvPr id="339" name="Google Shape;339;p11"/>
          <p:cNvSpPr/>
          <p:nvPr/>
        </p:nvSpPr>
        <p:spPr>
          <a:xfrm>
            <a:off x="13072095" y="5687764"/>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1"/>
          <p:cNvSpPr/>
          <p:nvPr/>
        </p:nvSpPr>
        <p:spPr>
          <a:xfrm>
            <a:off x="13091145" y="5346799"/>
            <a:ext cx="1251645"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$8.200.000</a:t>
            </a:r>
            <a:endParaRPr b="0" i="0" sz="1200" u="none" cap="none" strike="noStrike">
              <a:solidFill>
                <a:schemeClr val="dk1"/>
              </a:solidFill>
              <a:latin typeface="Calibri"/>
              <a:ea typeface="Calibri"/>
              <a:cs typeface="Calibri"/>
              <a:sym typeface="Calibri"/>
            </a:endParaRPr>
          </a:p>
        </p:txBody>
      </p:sp>
      <p:sp>
        <p:nvSpPr>
          <p:cNvPr id="341" name="Google Shape;341;p11"/>
          <p:cNvSpPr/>
          <p:nvPr/>
        </p:nvSpPr>
        <p:spPr>
          <a:xfrm>
            <a:off x="14438040" y="5687764"/>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1"/>
          <p:cNvSpPr/>
          <p:nvPr/>
        </p:nvSpPr>
        <p:spPr>
          <a:xfrm>
            <a:off x="14533290" y="5346799"/>
            <a:ext cx="84311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10-09</a:t>
            </a:r>
            <a:endParaRPr b="0" i="0" sz="1200" u="none" cap="none" strike="noStrike">
              <a:solidFill>
                <a:schemeClr val="dk1"/>
              </a:solidFill>
              <a:latin typeface="Calibri"/>
              <a:ea typeface="Calibri"/>
              <a:cs typeface="Calibri"/>
              <a:sym typeface="Calibri"/>
            </a:endParaRPr>
          </a:p>
        </p:txBody>
      </p:sp>
      <p:sp>
        <p:nvSpPr>
          <p:cNvPr id="343" name="Google Shape;343;p11"/>
          <p:cNvSpPr/>
          <p:nvPr/>
        </p:nvSpPr>
        <p:spPr>
          <a:xfrm>
            <a:off x="15395451" y="5687764"/>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1"/>
          <p:cNvSpPr/>
          <p:nvPr/>
        </p:nvSpPr>
        <p:spPr>
          <a:xfrm>
            <a:off x="15414501" y="5346799"/>
            <a:ext cx="788938"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EC3013"/>
              </a:buClr>
              <a:buSzPts val="1200"/>
              <a:buFont typeface="Archivo"/>
              <a:buNone/>
            </a:pPr>
            <a:r>
              <a:rPr b="1" i="0" lang="en-US" sz="1200" u="none" cap="none" strike="noStrike">
                <a:solidFill>
                  <a:srgbClr val="EC3013"/>
                </a:solidFill>
                <a:latin typeface="Archivo"/>
                <a:ea typeface="Archivo"/>
                <a:cs typeface="Archivo"/>
                <a:sym typeface="Archivo"/>
              </a:rPr>
              <a:t>85%</a:t>
            </a:r>
            <a:endParaRPr b="0" i="0" sz="1200" u="none" cap="none" strike="noStrike">
              <a:solidFill>
                <a:schemeClr val="dk1"/>
              </a:solidFill>
              <a:latin typeface="Calibri"/>
              <a:ea typeface="Calibri"/>
              <a:cs typeface="Calibri"/>
              <a:sym typeface="Calibri"/>
            </a:endParaRPr>
          </a:p>
        </p:txBody>
      </p:sp>
      <p:sp>
        <p:nvSpPr>
          <p:cNvPr id="345" name="Google Shape;345;p11"/>
          <p:cNvSpPr/>
          <p:nvPr/>
        </p:nvSpPr>
        <p:spPr>
          <a:xfrm>
            <a:off x="16298689" y="5687764"/>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1"/>
          <p:cNvSpPr/>
          <p:nvPr/>
        </p:nvSpPr>
        <p:spPr>
          <a:xfrm>
            <a:off x="16393939" y="5346799"/>
            <a:ext cx="86536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Abierta</a:t>
            </a:r>
            <a:endParaRPr b="0" i="0" sz="1200" u="none" cap="none" strike="noStrike">
              <a:solidFill>
                <a:schemeClr val="dk1"/>
              </a:solidFill>
              <a:latin typeface="Calibri"/>
              <a:ea typeface="Calibri"/>
              <a:cs typeface="Calibri"/>
              <a:sym typeface="Calibri"/>
            </a:endParaRPr>
          </a:p>
        </p:txBody>
      </p:sp>
      <p:sp>
        <p:nvSpPr>
          <p:cNvPr id="347" name="Google Shape;347;p11"/>
          <p:cNvSpPr/>
          <p:nvPr/>
        </p:nvSpPr>
        <p:spPr>
          <a:xfrm>
            <a:off x="4876800" y="6143030"/>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1"/>
          <p:cNvSpPr/>
          <p:nvPr/>
        </p:nvSpPr>
        <p:spPr>
          <a:xfrm>
            <a:off x="4876800" y="5802064"/>
            <a:ext cx="3428495"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Coffee break eventos institucionales</a:t>
            </a:r>
            <a:endParaRPr b="0" i="0" sz="1200" u="none" cap="none" strike="noStrike">
              <a:solidFill>
                <a:schemeClr val="dk1"/>
              </a:solidFill>
              <a:latin typeface="Calibri"/>
              <a:ea typeface="Calibri"/>
              <a:cs typeface="Calibri"/>
              <a:sym typeface="Calibri"/>
            </a:endParaRPr>
          </a:p>
        </p:txBody>
      </p:sp>
      <p:sp>
        <p:nvSpPr>
          <p:cNvPr id="349" name="Google Shape;349;p11"/>
          <p:cNvSpPr/>
          <p:nvPr/>
        </p:nvSpPr>
        <p:spPr>
          <a:xfrm>
            <a:off x="8297912" y="6143030"/>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1"/>
          <p:cNvSpPr/>
          <p:nvPr/>
        </p:nvSpPr>
        <p:spPr>
          <a:xfrm>
            <a:off x="8393162" y="5802064"/>
            <a:ext cx="1768078"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SERNAC</a:t>
            </a:r>
            <a:endParaRPr b="0" i="0" sz="1200" u="none" cap="none" strike="noStrike">
              <a:solidFill>
                <a:schemeClr val="dk1"/>
              </a:solidFill>
              <a:latin typeface="Calibri"/>
              <a:ea typeface="Calibri"/>
              <a:cs typeface="Calibri"/>
              <a:sym typeface="Calibri"/>
            </a:endParaRPr>
          </a:p>
        </p:txBody>
      </p:sp>
      <p:sp>
        <p:nvSpPr>
          <p:cNvPr id="351" name="Google Shape;351;p11"/>
          <p:cNvSpPr/>
          <p:nvPr/>
        </p:nvSpPr>
        <p:spPr>
          <a:xfrm>
            <a:off x="10180290" y="6143030"/>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p:nvPr/>
        </p:nvSpPr>
        <p:spPr>
          <a:xfrm>
            <a:off x="10275540" y="5802064"/>
            <a:ext cx="1315492"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Alimentación</a:t>
            </a:r>
            <a:endParaRPr b="0" i="0" sz="1200" u="none" cap="none" strike="noStrike">
              <a:solidFill>
                <a:schemeClr val="dk1"/>
              </a:solidFill>
              <a:latin typeface="Calibri"/>
              <a:ea typeface="Calibri"/>
              <a:cs typeface="Calibri"/>
              <a:sym typeface="Calibri"/>
            </a:endParaRPr>
          </a:p>
        </p:txBody>
      </p:sp>
      <p:sp>
        <p:nvSpPr>
          <p:cNvPr id="353" name="Google Shape;353;p11"/>
          <p:cNvSpPr/>
          <p:nvPr/>
        </p:nvSpPr>
        <p:spPr>
          <a:xfrm>
            <a:off x="11610082" y="6143030"/>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1"/>
          <p:cNvSpPr/>
          <p:nvPr/>
        </p:nvSpPr>
        <p:spPr>
          <a:xfrm>
            <a:off x="11705332" y="5802064"/>
            <a:ext cx="1347713"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Metropolitana</a:t>
            </a:r>
            <a:endParaRPr b="0" i="0" sz="1200" u="none" cap="none" strike="noStrike">
              <a:solidFill>
                <a:schemeClr val="dk1"/>
              </a:solidFill>
              <a:latin typeface="Calibri"/>
              <a:ea typeface="Calibri"/>
              <a:cs typeface="Calibri"/>
              <a:sym typeface="Calibri"/>
            </a:endParaRPr>
          </a:p>
        </p:txBody>
      </p:sp>
      <p:sp>
        <p:nvSpPr>
          <p:cNvPr id="355" name="Google Shape;355;p11"/>
          <p:cNvSpPr/>
          <p:nvPr/>
        </p:nvSpPr>
        <p:spPr>
          <a:xfrm>
            <a:off x="13072095" y="6143030"/>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1"/>
          <p:cNvSpPr/>
          <p:nvPr/>
        </p:nvSpPr>
        <p:spPr>
          <a:xfrm>
            <a:off x="13091145" y="5802064"/>
            <a:ext cx="1251645"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$3.100.000</a:t>
            </a:r>
            <a:endParaRPr b="0" i="0" sz="1200" u="none" cap="none" strike="noStrike">
              <a:solidFill>
                <a:schemeClr val="dk1"/>
              </a:solidFill>
              <a:latin typeface="Calibri"/>
              <a:ea typeface="Calibri"/>
              <a:cs typeface="Calibri"/>
              <a:sym typeface="Calibri"/>
            </a:endParaRPr>
          </a:p>
        </p:txBody>
      </p:sp>
      <p:sp>
        <p:nvSpPr>
          <p:cNvPr id="357" name="Google Shape;357;p11"/>
          <p:cNvSpPr/>
          <p:nvPr/>
        </p:nvSpPr>
        <p:spPr>
          <a:xfrm>
            <a:off x="14438040" y="6143030"/>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
          <p:cNvSpPr/>
          <p:nvPr/>
        </p:nvSpPr>
        <p:spPr>
          <a:xfrm>
            <a:off x="14533290" y="5802064"/>
            <a:ext cx="84311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13-09</a:t>
            </a:r>
            <a:endParaRPr b="0" i="0" sz="1200" u="none" cap="none" strike="noStrike">
              <a:solidFill>
                <a:schemeClr val="dk1"/>
              </a:solidFill>
              <a:latin typeface="Calibri"/>
              <a:ea typeface="Calibri"/>
              <a:cs typeface="Calibri"/>
              <a:sym typeface="Calibri"/>
            </a:endParaRPr>
          </a:p>
        </p:txBody>
      </p:sp>
      <p:sp>
        <p:nvSpPr>
          <p:cNvPr id="359" name="Google Shape;359;p11"/>
          <p:cNvSpPr/>
          <p:nvPr/>
        </p:nvSpPr>
        <p:spPr>
          <a:xfrm>
            <a:off x="15395451" y="6143030"/>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1"/>
          <p:cNvSpPr/>
          <p:nvPr/>
        </p:nvSpPr>
        <p:spPr>
          <a:xfrm>
            <a:off x="15414501" y="5802064"/>
            <a:ext cx="788938"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61%</a:t>
            </a:r>
            <a:endParaRPr b="0" i="0" sz="1200" u="none" cap="none" strike="noStrike">
              <a:solidFill>
                <a:schemeClr val="dk1"/>
              </a:solidFill>
              <a:latin typeface="Calibri"/>
              <a:ea typeface="Calibri"/>
              <a:cs typeface="Calibri"/>
              <a:sym typeface="Calibri"/>
            </a:endParaRPr>
          </a:p>
        </p:txBody>
      </p:sp>
      <p:sp>
        <p:nvSpPr>
          <p:cNvPr id="361" name="Google Shape;361;p11"/>
          <p:cNvSpPr/>
          <p:nvPr/>
        </p:nvSpPr>
        <p:spPr>
          <a:xfrm>
            <a:off x="16298689" y="6143030"/>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1"/>
          <p:cNvSpPr/>
          <p:nvPr/>
        </p:nvSpPr>
        <p:spPr>
          <a:xfrm>
            <a:off x="16393939" y="5802064"/>
            <a:ext cx="86536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Abierta</a:t>
            </a:r>
            <a:endParaRPr b="0" i="0" sz="1200" u="none" cap="none" strike="noStrike">
              <a:solidFill>
                <a:schemeClr val="dk1"/>
              </a:solidFill>
              <a:latin typeface="Calibri"/>
              <a:ea typeface="Calibri"/>
              <a:cs typeface="Calibri"/>
              <a:sym typeface="Calibri"/>
            </a:endParaRPr>
          </a:p>
        </p:txBody>
      </p:sp>
      <p:sp>
        <p:nvSpPr>
          <p:cNvPr id="363" name="Google Shape;363;p11"/>
          <p:cNvSpPr/>
          <p:nvPr/>
        </p:nvSpPr>
        <p:spPr>
          <a:xfrm>
            <a:off x="4876800" y="6598295"/>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1"/>
          <p:cNvSpPr/>
          <p:nvPr/>
        </p:nvSpPr>
        <p:spPr>
          <a:xfrm>
            <a:off x="4876800" y="6257330"/>
            <a:ext cx="3428495"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Adquisición insumos de aseo</a:t>
            </a:r>
            <a:endParaRPr b="0" i="0" sz="1200" u="none" cap="none" strike="noStrike">
              <a:solidFill>
                <a:schemeClr val="dk1"/>
              </a:solidFill>
              <a:latin typeface="Calibri"/>
              <a:ea typeface="Calibri"/>
              <a:cs typeface="Calibri"/>
              <a:sym typeface="Calibri"/>
            </a:endParaRPr>
          </a:p>
        </p:txBody>
      </p:sp>
      <p:sp>
        <p:nvSpPr>
          <p:cNvPr id="365" name="Google Shape;365;p11"/>
          <p:cNvSpPr/>
          <p:nvPr/>
        </p:nvSpPr>
        <p:spPr>
          <a:xfrm>
            <a:off x="8297912" y="6598295"/>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1"/>
          <p:cNvSpPr/>
          <p:nvPr/>
        </p:nvSpPr>
        <p:spPr>
          <a:xfrm>
            <a:off x="8393162" y="6257330"/>
            <a:ext cx="1768078"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 de Ñuñoa</a:t>
            </a:r>
            <a:endParaRPr b="0" i="0" sz="1200" u="none" cap="none" strike="noStrike">
              <a:solidFill>
                <a:schemeClr val="dk1"/>
              </a:solidFill>
              <a:latin typeface="Calibri"/>
              <a:ea typeface="Calibri"/>
              <a:cs typeface="Calibri"/>
              <a:sym typeface="Calibri"/>
            </a:endParaRPr>
          </a:p>
        </p:txBody>
      </p:sp>
      <p:sp>
        <p:nvSpPr>
          <p:cNvPr id="367" name="Google Shape;367;p11"/>
          <p:cNvSpPr/>
          <p:nvPr/>
        </p:nvSpPr>
        <p:spPr>
          <a:xfrm>
            <a:off x="10180290" y="6598295"/>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1"/>
          <p:cNvSpPr/>
          <p:nvPr/>
        </p:nvSpPr>
        <p:spPr>
          <a:xfrm>
            <a:off x="10275540" y="6257330"/>
            <a:ext cx="1315492"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Servicios</a:t>
            </a:r>
            <a:endParaRPr b="0" i="0" sz="1200" u="none" cap="none" strike="noStrike">
              <a:solidFill>
                <a:schemeClr val="dk1"/>
              </a:solidFill>
              <a:latin typeface="Calibri"/>
              <a:ea typeface="Calibri"/>
              <a:cs typeface="Calibri"/>
              <a:sym typeface="Calibri"/>
            </a:endParaRPr>
          </a:p>
        </p:txBody>
      </p:sp>
      <p:sp>
        <p:nvSpPr>
          <p:cNvPr id="369" name="Google Shape;369;p11"/>
          <p:cNvSpPr/>
          <p:nvPr/>
        </p:nvSpPr>
        <p:spPr>
          <a:xfrm>
            <a:off x="11610082" y="6598295"/>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1"/>
          <p:cNvSpPr/>
          <p:nvPr/>
        </p:nvSpPr>
        <p:spPr>
          <a:xfrm>
            <a:off x="11705332" y="6257330"/>
            <a:ext cx="1347713"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Metropolitana</a:t>
            </a:r>
            <a:endParaRPr b="0" i="0" sz="1200" u="none" cap="none" strike="noStrike">
              <a:solidFill>
                <a:schemeClr val="dk1"/>
              </a:solidFill>
              <a:latin typeface="Calibri"/>
              <a:ea typeface="Calibri"/>
              <a:cs typeface="Calibri"/>
              <a:sym typeface="Calibri"/>
            </a:endParaRPr>
          </a:p>
        </p:txBody>
      </p:sp>
      <p:sp>
        <p:nvSpPr>
          <p:cNvPr id="371" name="Google Shape;371;p11"/>
          <p:cNvSpPr/>
          <p:nvPr/>
        </p:nvSpPr>
        <p:spPr>
          <a:xfrm>
            <a:off x="13072095" y="6598295"/>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1"/>
          <p:cNvSpPr/>
          <p:nvPr/>
        </p:nvSpPr>
        <p:spPr>
          <a:xfrm>
            <a:off x="13091145" y="6257330"/>
            <a:ext cx="1251645"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$1.900.000</a:t>
            </a:r>
            <a:endParaRPr b="0" i="0" sz="1200" u="none" cap="none" strike="noStrike">
              <a:solidFill>
                <a:schemeClr val="dk1"/>
              </a:solidFill>
              <a:latin typeface="Calibri"/>
              <a:ea typeface="Calibri"/>
              <a:cs typeface="Calibri"/>
              <a:sym typeface="Calibri"/>
            </a:endParaRPr>
          </a:p>
        </p:txBody>
      </p:sp>
      <p:sp>
        <p:nvSpPr>
          <p:cNvPr id="373" name="Google Shape;373;p11"/>
          <p:cNvSpPr/>
          <p:nvPr/>
        </p:nvSpPr>
        <p:spPr>
          <a:xfrm>
            <a:off x="14438040" y="6598295"/>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1"/>
          <p:cNvSpPr/>
          <p:nvPr/>
        </p:nvSpPr>
        <p:spPr>
          <a:xfrm>
            <a:off x="14533290" y="6257330"/>
            <a:ext cx="84311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05-09</a:t>
            </a:r>
            <a:endParaRPr b="0" i="0" sz="1200" u="none" cap="none" strike="noStrike">
              <a:solidFill>
                <a:schemeClr val="dk1"/>
              </a:solidFill>
              <a:latin typeface="Calibri"/>
              <a:ea typeface="Calibri"/>
              <a:cs typeface="Calibri"/>
              <a:sym typeface="Calibri"/>
            </a:endParaRPr>
          </a:p>
        </p:txBody>
      </p:sp>
      <p:sp>
        <p:nvSpPr>
          <p:cNvPr id="375" name="Google Shape;375;p11"/>
          <p:cNvSpPr/>
          <p:nvPr/>
        </p:nvSpPr>
        <p:spPr>
          <a:xfrm>
            <a:off x="15395451" y="6598295"/>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1"/>
          <p:cNvSpPr/>
          <p:nvPr/>
        </p:nvSpPr>
        <p:spPr>
          <a:xfrm>
            <a:off x="15414501" y="6257330"/>
            <a:ext cx="788938"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44%</a:t>
            </a:r>
            <a:endParaRPr b="0" i="0" sz="1200" u="none" cap="none" strike="noStrike">
              <a:solidFill>
                <a:schemeClr val="dk1"/>
              </a:solidFill>
              <a:latin typeface="Calibri"/>
              <a:ea typeface="Calibri"/>
              <a:cs typeface="Calibri"/>
              <a:sym typeface="Calibri"/>
            </a:endParaRPr>
          </a:p>
        </p:txBody>
      </p:sp>
      <p:sp>
        <p:nvSpPr>
          <p:cNvPr id="377" name="Google Shape;377;p11"/>
          <p:cNvSpPr/>
          <p:nvPr/>
        </p:nvSpPr>
        <p:spPr>
          <a:xfrm>
            <a:off x="16298689" y="6598295"/>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1"/>
          <p:cNvSpPr/>
          <p:nvPr/>
        </p:nvSpPr>
        <p:spPr>
          <a:xfrm>
            <a:off x="16393939" y="6257330"/>
            <a:ext cx="86536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Abierta</a:t>
            </a:r>
            <a:endParaRPr b="0" i="0" sz="1200" u="none" cap="none" strike="noStrike">
              <a:solidFill>
                <a:schemeClr val="dk1"/>
              </a:solidFill>
              <a:latin typeface="Calibri"/>
              <a:ea typeface="Calibri"/>
              <a:cs typeface="Calibri"/>
              <a:sym typeface="Calibri"/>
            </a:endParaRPr>
          </a:p>
        </p:txBody>
      </p:sp>
      <p:sp>
        <p:nvSpPr>
          <p:cNvPr id="379" name="Google Shape;379;p11"/>
          <p:cNvSpPr/>
          <p:nvPr/>
        </p:nvSpPr>
        <p:spPr>
          <a:xfrm>
            <a:off x="4876800" y="7053560"/>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1"/>
          <p:cNvSpPr/>
          <p:nvPr/>
        </p:nvSpPr>
        <p:spPr>
          <a:xfrm>
            <a:off x="4876800" y="6712595"/>
            <a:ext cx="3428495"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Servicio de casino institucional</a:t>
            </a:r>
            <a:endParaRPr b="0" i="0" sz="1200" u="none" cap="none" strike="noStrike">
              <a:solidFill>
                <a:schemeClr val="dk1"/>
              </a:solidFill>
              <a:latin typeface="Calibri"/>
              <a:ea typeface="Calibri"/>
              <a:cs typeface="Calibri"/>
              <a:sym typeface="Calibri"/>
            </a:endParaRPr>
          </a:p>
        </p:txBody>
      </p:sp>
      <p:sp>
        <p:nvSpPr>
          <p:cNvPr id="381" name="Google Shape;381;p11"/>
          <p:cNvSpPr/>
          <p:nvPr/>
        </p:nvSpPr>
        <p:spPr>
          <a:xfrm>
            <a:off x="8297912" y="7053560"/>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1"/>
          <p:cNvSpPr/>
          <p:nvPr/>
        </p:nvSpPr>
        <p:spPr>
          <a:xfrm>
            <a:off x="8393162" y="6712595"/>
            <a:ext cx="1768078"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Liceo Bicentenario</a:t>
            </a:r>
            <a:endParaRPr b="0" i="0" sz="1200" u="none" cap="none" strike="noStrike">
              <a:solidFill>
                <a:schemeClr val="dk1"/>
              </a:solidFill>
              <a:latin typeface="Calibri"/>
              <a:ea typeface="Calibri"/>
              <a:cs typeface="Calibri"/>
              <a:sym typeface="Calibri"/>
            </a:endParaRPr>
          </a:p>
        </p:txBody>
      </p:sp>
      <p:sp>
        <p:nvSpPr>
          <p:cNvPr id="383" name="Google Shape;383;p11"/>
          <p:cNvSpPr/>
          <p:nvPr/>
        </p:nvSpPr>
        <p:spPr>
          <a:xfrm>
            <a:off x="10180290" y="7053560"/>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1"/>
          <p:cNvSpPr/>
          <p:nvPr/>
        </p:nvSpPr>
        <p:spPr>
          <a:xfrm>
            <a:off x="10275540" y="6712595"/>
            <a:ext cx="1315492"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Alimentación</a:t>
            </a:r>
            <a:endParaRPr b="0" i="0" sz="1200" u="none" cap="none" strike="noStrike">
              <a:solidFill>
                <a:schemeClr val="dk1"/>
              </a:solidFill>
              <a:latin typeface="Calibri"/>
              <a:ea typeface="Calibri"/>
              <a:cs typeface="Calibri"/>
              <a:sym typeface="Calibri"/>
            </a:endParaRPr>
          </a:p>
        </p:txBody>
      </p:sp>
      <p:sp>
        <p:nvSpPr>
          <p:cNvPr id="385" name="Google Shape;385;p11"/>
          <p:cNvSpPr/>
          <p:nvPr/>
        </p:nvSpPr>
        <p:spPr>
          <a:xfrm>
            <a:off x="11610082" y="7053560"/>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1"/>
          <p:cNvSpPr/>
          <p:nvPr/>
        </p:nvSpPr>
        <p:spPr>
          <a:xfrm>
            <a:off x="11705332" y="6712595"/>
            <a:ext cx="1347713"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Metropolitana</a:t>
            </a:r>
            <a:endParaRPr b="0" i="0" sz="1200" u="none" cap="none" strike="noStrike">
              <a:solidFill>
                <a:schemeClr val="dk1"/>
              </a:solidFill>
              <a:latin typeface="Calibri"/>
              <a:ea typeface="Calibri"/>
              <a:cs typeface="Calibri"/>
              <a:sym typeface="Calibri"/>
            </a:endParaRPr>
          </a:p>
        </p:txBody>
      </p:sp>
      <p:sp>
        <p:nvSpPr>
          <p:cNvPr id="387" name="Google Shape;387;p11"/>
          <p:cNvSpPr/>
          <p:nvPr/>
        </p:nvSpPr>
        <p:spPr>
          <a:xfrm>
            <a:off x="13072095" y="7053560"/>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1"/>
          <p:cNvSpPr/>
          <p:nvPr/>
        </p:nvSpPr>
        <p:spPr>
          <a:xfrm>
            <a:off x="13091145" y="6712595"/>
            <a:ext cx="1251645"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$6.400.000</a:t>
            </a:r>
            <a:endParaRPr b="0" i="0" sz="1200" u="none" cap="none" strike="noStrike">
              <a:solidFill>
                <a:schemeClr val="dk1"/>
              </a:solidFill>
              <a:latin typeface="Calibri"/>
              <a:ea typeface="Calibri"/>
              <a:cs typeface="Calibri"/>
              <a:sym typeface="Calibri"/>
            </a:endParaRPr>
          </a:p>
        </p:txBody>
      </p:sp>
      <p:sp>
        <p:nvSpPr>
          <p:cNvPr id="389" name="Google Shape;389;p11"/>
          <p:cNvSpPr/>
          <p:nvPr/>
        </p:nvSpPr>
        <p:spPr>
          <a:xfrm>
            <a:off x="14438040" y="7053560"/>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1"/>
          <p:cNvSpPr/>
          <p:nvPr/>
        </p:nvSpPr>
        <p:spPr>
          <a:xfrm>
            <a:off x="14533290" y="6712595"/>
            <a:ext cx="84311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16-09</a:t>
            </a:r>
            <a:endParaRPr b="0" i="0" sz="1200" u="none" cap="none" strike="noStrike">
              <a:solidFill>
                <a:schemeClr val="dk1"/>
              </a:solidFill>
              <a:latin typeface="Calibri"/>
              <a:ea typeface="Calibri"/>
              <a:cs typeface="Calibri"/>
              <a:sym typeface="Calibri"/>
            </a:endParaRPr>
          </a:p>
        </p:txBody>
      </p:sp>
      <p:sp>
        <p:nvSpPr>
          <p:cNvPr id="391" name="Google Shape;391;p11"/>
          <p:cNvSpPr/>
          <p:nvPr/>
        </p:nvSpPr>
        <p:spPr>
          <a:xfrm>
            <a:off x="15395451" y="7053560"/>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1"/>
          <p:cNvSpPr/>
          <p:nvPr/>
        </p:nvSpPr>
        <p:spPr>
          <a:xfrm>
            <a:off x="15414501" y="6712595"/>
            <a:ext cx="788938"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58%</a:t>
            </a:r>
            <a:endParaRPr b="0" i="0" sz="1200" u="none" cap="none" strike="noStrike">
              <a:solidFill>
                <a:schemeClr val="dk1"/>
              </a:solidFill>
              <a:latin typeface="Calibri"/>
              <a:ea typeface="Calibri"/>
              <a:cs typeface="Calibri"/>
              <a:sym typeface="Calibri"/>
            </a:endParaRPr>
          </a:p>
        </p:txBody>
      </p:sp>
      <p:sp>
        <p:nvSpPr>
          <p:cNvPr id="393" name="Google Shape;393;p11"/>
          <p:cNvSpPr/>
          <p:nvPr/>
        </p:nvSpPr>
        <p:spPr>
          <a:xfrm>
            <a:off x="16298689" y="7053560"/>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1"/>
          <p:cNvSpPr/>
          <p:nvPr/>
        </p:nvSpPr>
        <p:spPr>
          <a:xfrm>
            <a:off x="16393939" y="6712595"/>
            <a:ext cx="86536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Abierta</a:t>
            </a:r>
            <a:endParaRPr b="0" i="0" sz="1200" u="none" cap="none" strike="noStrike">
              <a:solidFill>
                <a:schemeClr val="dk1"/>
              </a:solidFill>
              <a:latin typeface="Calibri"/>
              <a:ea typeface="Calibri"/>
              <a:cs typeface="Calibri"/>
              <a:sym typeface="Calibri"/>
            </a:endParaRPr>
          </a:p>
        </p:txBody>
      </p:sp>
      <p:sp>
        <p:nvSpPr>
          <p:cNvPr id="395" name="Google Shape;395;p11"/>
          <p:cNvSpPr/>
          <p:nvPr/>
        </p:nvSpPr>
        <p:spPr>
          <a:xfrm>
            <a:off x="4876800" y="7508825"/>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1"/>
          <p:cNvSpPr/>
          <p:nvPr/>
        </p:nvSpPr>
        <p:spPr>
          <a:xfrm>
            <a:off x="4876800" y="7167860"/>
            <a:ext cx="3428495"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Suministro de colaciones escolares</a:t>
            </a:r>
            <a:endParaRPr b="0" i="0" sz="1200" u="none" cap="none" strike="noStrike">
              <a:solidFill>
                <a:schemeClr val="dk1"/>
              </a:solidFill>
              <a:latin typeface="Calibri"/>
              <a:ea typeface="Calibri"/>
              <a:cs typeface="Calibri"/>
              <a:sym typeface="Calibri"/>
            </a:endParaRPr>
          </a:p>
        </p:txBody>
      </p:sp>
      <p:sp>
        <p:nvSpPr>
          <p:cNvPr id="397" name="Google Shape;397;p11"/>
          <p:cNvSpPr/>
          <p:nvPr/>
        </p:nvSpPr>
        <p:spPr>
          <a:xfrm>
            <a:off x="8297912" y="7508825"/>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1"/>
          <p:cNvSpPr/>
          <p:nvPr/>
        </p:nvSpPr>
        <p:spPr>
          <a:xfrm>
            <a:off x="8393162" y="7167860"/>
            <a:ext cx="1768078"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JUNAEB</a:t>
            </a:r>
            <a:endParaRPr b="0" i="0" sz="1200" u="none" cap="none" strike="noStrike">
              <a:solidFill>
                <a:schemeClr val="dk1"/>
              </a:solidFill>
              <a:latin typeface="Calibri"/>
              <a:ea typeface="Calibri"/>
              <a:cs typeface="Calibri"/>
              <a:sym typeface="Calibri"/>
            </a:endParaRPr>
          </a:p>
        </p:txBody>
      </p:sp>
      <p:sp>
        <p:nvSpPr>
          <p:cNvPr id="399" name="Google Shape;399;p11"/>
          <p:cNvSpPr/>
          <p:nvPr/>
        </p:nvSpPr>
        <p:spPr>
          <a:xfrm>
            <a:off x="10180290" y="7508825"/>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1"/>
          <p:cNvSpPr/>
          <p:nvPr/>
        </p:nvSpPr>
        <p:spPr>
          <a:xfrm>
            <a:off x="10275540" y="7167860"/>
            <a:ext cx="1315492"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Alimentación</a:t>
            </a:r>
            <a:endParaRPr b="0" i="0" sz="1200" u="none" cap="none" strike="noStrike">
              <a:solidFill>
                <a:schemeClr val="dk1"/>
              </a:solidFill>
              <a:latin typeface="Calibri"/>
              <a:ea typeface="Calibri"/>
              <a:cs typeface="Calibri"/>
              <a:sym typeface="Calibri"/>
            </a:endParaRPr>
          </a:p>
        </p:txBody>
      </p:sp>
      <p:sp>
        <p:nvSpPr>
          <p:cNvPr id="401" name="Google Shape;401;p11"/>
          <p:cNvSpPr/>
          <p:nvPr/>
        </p:nvSpPr>
        <p:spPr>
          <a:xfrm>
            <a:off x="11610082" y="7508825"/>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1"/>
          <p:cNvSpPr/>
          <p:nvPr/>
        </p:nvSpPr>
        <p:spPr>
          <a:xfrm>
            <a:off x="11705332" y="7167860"/>
            <a:ext cx="1347713"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Biobío</a:t>
            </a:r>
            <a:endParaRPr b="0" i="0" sz="1200" u="none" cap="none" strike="noStrike">
              <a:solidFill>
                <a:schemeClr val="dk1"/>
              </a:solidFill>
              <a:latin typeface="Calibri"/>
              <a:ea typeface="Calibri"/>
              <a:cs typeface="Calibri"/>
              <a:sym typeface="Calibri"/>
            </a:endParaRPr>
          </a:p>
        </p:txBody>
      </p:sp>
      <p:sp>
        <p:nvSpPr>
          <p:cNvPr id="403" name="Google Shape;403;p11"/>
          <p:cNvSpPr/>
          <p:nvPr/>
        </p:nvSpPr>
        <p:spPr>
          <a:xfrm>
            <a:off x="13072095" y="7508825"/>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1"/>
          <p:cNvSpPr/>
          <p:nvPr/>
        </p:nvSpPr>
        <p:spPr>
          <a:xfrm>
            <a:off x="13091145" y="7167860"/>
            <a:ext cx="1251645"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$11.800.000</a:t>
            </a:r>
            <a:endParaRPr b="0" i="0" sz="1200" u="none" cap="none" strike="noStrike">
              <a:solidFill>
                <a:schemeClr val="dk1"/>
              </a:solidFill>
              <a:latin typeface="Calibri"/>
              <a:ea typeface="Calibri"/>
              <a:cs typeface="Calibri"/>
              <a:sym typeface="Calibri"/>
            </a:endParaRPr>
          </a:p>
        </p:txBody>
      </p:sp>
      <p:sp>
        <p:nvSpPr>
          <p:cNvPr id="405" name="Google Shape;405;p11"/>
          <p:cNvSpPr/>
          <p:nvPr/>
        </p:nvSpPr>
        <p:spPr>
          <a:xfrm>
            <a:off x="14438040" y="7508825"/>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1"/>
          <p:cNvSpPr/>
          <p:nvPr/>
        </p:nvSpPr>
        <p:spPr>
          <a:xfrm>
            <a:off x="14533290" y="7167860"/>
            <a:ext cx="84311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18-09</a:t>
            </a:r>
            <a:endParaRPr b="0" i="0" sz="1200" u="none" cap="none" strike="noStrike">
              <a:solidFill>
                <a:schemeClr val="dk1"/>
              </a:solidFill>
              <a:latin typeface="Calibri"/>
              <a:ea typeface="Calibri"/>
              <a:cs typeface="Calibri"/>
              <a:sym typeface="Calibri"/>
            </a:endParaRPr>
          </a:p>
        </p:txBody>
      </p:sp>
      <p:sp>
        <p:nvSpPr>
          <p:cNvPr id="407" name="Google Shape;407;p11"/>
          <p:cNvSpPr/>
          <p:nvPr/>
        </p:nvSpPr>
        <p:spPr>
          <a:xfrm>
            <a:off x="15395451" y="7508825"/>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1"/>
          <p:cNvSpPr/>
          <p:nvPr/>
        </p:nvSpPr>
        <p:spPr>
          <a:xfrm>
            <a:off x="15414501" y="7167860"/>
            <a:ext cx="788938"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53%</a:t>
            </a:r>
            <a:endParaRPr b="0" i="0" sz="1200" u="none" cap="none" strike="noStrike">
              <a:solidFill>
                <a:schemeClr val="dk1"/>
              </a:solidFill>
              <a:latin typeface="Calibri"/>
              <a:ea typeface="Calibri"/>
              <a:cs typeface="Calibri"/>
              <a:sym typeface="Calibri"/>
            </a:endParaRPr>
          </a:p>
        </p:txBody>
      </p:sp>
      <p:sp>
        <p:nvSpPr>
          <p:cNvPr id="409" name="Google Shape;409;p11"/>
          <p:cNvSpPr/>
          <p:nvPr/>
        </p:nvSpPr>
        <p:spPr>
          <a:xfrm>
            <a:off x="16298689" y="7508825"/>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1"/>
          <p:cNvSpPr/>
          <p:nvPr/>
        </p:nvSpPr>
        <p:spPr>
          <a:xfrm>
            <a:off x="16393939" y="7167860"/>
            <a:ext cx="86536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Abierta</a:t>
            </a:r>
            <a:endParaRPr b="0" i="0" sz="1200" u="none" cap="none" strike="noStrike">
              <a:solidFill>
                <a:schemeClr val="dk1"/>
              </a:solidFill>
              <a:latin typeface="Calibri"/>
              <a:ea typeface="Calibri"/>
              <a:cs typeface="Calibri"/>
              <a:sym typeface="Calibri"/>
            </a:endParaRPr>
          </a:p>
        </p:txBody>
      </p:sp>
      <p:sp>
        <p:nvSpPr>
          <p:cNvPr id="411" name="Google Shape;411;p11"/>
          <p:cNvSpPr/>
          <p:nvPr/>
        </p:nvSpPr>
        <p:spPr>
          <a:xfrm>
            <a:off x="4876800" y="7964091"/>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1"/>
          <p:cNvSpPr/>
          <p:nvPr/>
        </p:nvSpPr>
        <p:spPr>
          <a:xfrm>
            <a:off x="4876800" y="7623125"/>
            <a:ext cx="3428495"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Mantención de equipos de cocina</a:t>
            </a:r>
            <a:endParaRPr b="0" i="0" sz="1200" u="none" cap="none" strike="noStrike">
              <a:solidFill>
                <a:schemeClr val="dk1"/>
              </a:solidFill>
              <a:latin typeface="Calibri"/>
              <a:ea typeface="Calibri"/>
              <a:cs typeface="Calibri"/>
              <a:sym typeface="Calibri"/>
            </a:endParaRPr>
          </a:p>
        </p:txBody>
      </p:sp>
      <p:sp>
        <p:nvSpPr>
          <p:cNvPr id="413" name="Google Shape;413;p11"/>
          <p:cNvSpPr/>
          <p:nvPr/>
        </p:nvSpPr>
        <p:spPr>
          <a:xfrm>
            <a:off x="8297912" y="7964091"/>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1"/>
          <p:cNvSpPr/>
          <p:nvPr/>
        </p:nvSpPr>
        <p:spPr>
          <a:xfrm>
            <a:off x="8393162" y="7623125"/>
            <a:ext cx="1768078"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 de La Florida</a:t>
            </a:r>
            <a:endParaRPr b="0" i="0" sz="1200" u="none" cap="none" strike="noStrike">
              <a:solidFill>
                <a:schemeClr val="dk1"/>
              </a:solidFill>
              <a:latin typeface="Calibri"/>
              <a:ea typeface="Calibri"/>
              <a:cs typeface="Calibri"/>
              <a:sym typeface="Calibri"/>
            </a:endParaRPr>
          </a:p>
        </p:txBody>
      </p:sp>
      <p:sp>
        <p:nvSpPr>
          <p:cNvPr id="415" name="Google Shape;415;p11"/>
          <p:cNvSpPr/>
          <p:nvPr/>
        </p:nvSpPr>
        <p:spPr>
          <a:xfrm>
            <a:off x="10180290" y="7964091"/>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1"/>
          <p:cNvSpPr/>
          <p:nvPr/>
        </p:nvSpPr>
        <p:spPr>
          <a:xfrm>
            <a:off x="10275540" y="7623125"/>
            <a:ext cx="1315492"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Servicios</a:t>
            </a:r>
            <a:endParaRPr b="0" i="0" sz="1200" u="none" cap="none" strike="noStrike">
              <a:solidFill>
                <a:schemeClr val="dk1"/>
              </a:solidFill>
              <a:latin typeface="Calibri"/>
              <a:ea typeface="Calibri"/>
              <a:cs typeface="Calibri"/>
              <a:sym typeface="Calibri"/>
            </a:endParaRPr>
          </a:p>
        </p:txBody>
      </p:sp>
      <p:sp>
        <p:nvSpPr>
          <p:cNvPr id="417" name="Google Shape;417;p11"/>
          <p:cNvSpPr/>
          <p:nvPr/>
        </p:nvSpPr>
        <p:spPr>
          <a:xfrm>
            <a:off x="11610082" y="7964091"/>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1"/>
          <p:cNvSpPr/>
          <p:nvPr/>
        </p:nvSpPr>
        <p:spPr>
          <a:xfrm>
            <a:off x="11705332" y="7623125"/>
            <a:ext cx="1347713"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Metropolitana</a:t>
            </a:r>
            <a:endParaRPr b="0" i="0" sz="1200" u="none" cap="none" strike="noStrike">
              <a:solidFill>
                <a:schemeClr val="dk1"/>
              </a:solidFill>
              <a:latin typeface="Calibri"/>
              <a:ea typeface="Calibri"/>
              <a:cs typeface="Calibri"/>
              <a:sym typeface="Calibri"/>
            </a:endParaRPr>
          </a:p>
        </p:txBody>
      </p:sp>
      <p:sp>
        <p:nvSpPr>
          <p:cNvPr id="419" name="Google Shape;419;p11"/>
          <p:cNvSpPr/>
          <p:nvPr/>
        </p:nvSpPr>
        <p:spPr>
          <a:xfrm>
            <a:off x="13072095" y="7964091"/>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1"/>
          <p:cNvSpPr/>
          <p:nvPr/>
        </p:nvSpPr>
        <p:spPr>
          <a:xfrm>
            <a:off x="13091145" y="7623125"/>
            <a:ext cx="1251645"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$2.600.000</a:t>
            </a:r>
            <a:endParaRPr b="0" i="0" sz="1200" u="none" cap="none" strike="noStrike">
              <a:solidFill>
                <a:schemeClr val="dk1"/>
              </a:solidFill>
              <a:latin typeface="Calibri"/>
              <a:ea typeface="Calibri"/>
              <a:cs typeface="Calibri"/>
              <a:sym typeface="Calibri"/>
            </a:endParaRPr>
          </a:p>
        </p:txBody>
      </p:sp>
      <p:sp>
        <p:nvSpPr>
          <p:cNvPr id="421" name="Google Shape;421;p11"/>
          <p:cNvSpPr/>
          <p:nvPr/>
        </p:nvSpPr>
        <p:spPr>
          <a:xfrm>
            <a:off x="14438040" y="7964091"/>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1"/>
          <p:cNvSpPr/>
          <p:nvPr/>
        </p:nvSpPr>
        <p:spPr>
          <a:xfrm>
            <a:off x="14533290" y="7623125"/>
            <a:ext cx="84311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20-09</a:t>
            </a:r>
            <a:endParaRPr b="0" i="0" sz="1200" u="none" cap="none" strike="noStrike">
              <a:solidFill>
                <a:schemeClr val="dk1"/>
              </a:solidFill>
              <a:latin typeface="Calibri"/>
              <a:ea typeface="Calibri"/>
              <a:cs typeface="Calibri"/>
              <a:sym typeface="Calibri"/>
            </a:endParaRPr>
          </a:p>
        </p:txBody>
      </p:sp>
      <p:sp>
        <p:nvSpPr>
          <p:cNvPr id="423" name="Google Shape;423;p11"/>
          <p:cNvSpPr/>
          <p:nvPr/>
        </p:nvSpPr>
        <p:spPr>
          <a:xfrm>
            <a:off x="15395451" y="7964091"/>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1"/>
          <p:cNvSpPr/>
          <p:nvPr/>
        </p:nvSpPr>
        <p:spPr>
          <a:xfrm>
            <a:off x="15414501" y="7623125"/>
            <a:ext cx="788938"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38%</a:t>
            </a:r>
            <a:endParaRPr b="0" i="0" sz="1200" u="none" cap="none" strike="noStrike">
              <a:solidFill>
                <a:schemeClr val="dk1"/>
              </a:solidFill>
              <a:latin typeface="Calibri"/>
              <a:ea typeface="Calibri"/>
              <a:cs typeface="Calibri"/>
              <a:sym typeface="Calibri"/>
            </a:endParaRPr>
          </a:p>
        </p:txBody>
      </p:sp>
      <p:sp>
        <p:nvSpPr>
          <p:cNvPr id="425" name="Google Shape;425;p11"/>
          <p:cNvSpPr/>
          <p:nvPr/>
        </p:nvSpPr>
        <p:spPr>
          <a:xfrm>
            <a:off x="16298689" y="7964091"/>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1"/>
          <p:cNvSpPr/>
          <p:nvPr/>
        </p:nvSpPr>
        <p:spPr>
          <a:xfrm>
            <a:off x="16393939" y="7623125"/>
            <a:ext cx="86536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Abierta</a:t>
            </a:r>
            <a:endParaRPr b="0" i="0" sz="1200" u="none" cap="none" strike="noStrike">
              <a:solidFill>
                <a:schemeClr val="dk1"/>
              </a:solidFill>
              <a:latin typeface="Calibri"/>
              <a:ea typeface="Calibri"/>
              <a:cs typeface="Calibri"/>
              <a:sym typeface="Calibri"/>
            </a:endParaRPr>
          </a:p>
        </p:txBody>
      </p:sp>
      <p:sp>
        <p:nvSpPr>
          <p:cNvPr id="427" name="Google Shape;427;p11"/>
          <p:cNvSpPr/>
          <p:nvPr/>
        </p:nvSpPr>
        <p:spPr>
          <a:xfrm>
            <a:off x="4876800" y="8419356"/>
            <a:ext cx="342111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1"/>
          <p:cNvSpPr/>
          <p:nvPr/>
        </p:nvSpPr>
        <p:spPr>
          <a:xfrm>
            <a:off x="4876800" y="8078391"/>
            <a:ext cx="3428495"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7D7979"/>
              </a:buClr>
              <a:buSzPts val="1200"/>
              <a:buFont typeface="Archivo"/>
              <a:buNone/>
            </a:pPr>
            <a:r>
              <a:rPr b="1" i="0" lang="en-US" sz="1200" u="none" cap="none" strike="noStrike">
                <a:solidFill>
                  <a:srgbClr val="7D7979"/>
                </a:solidFill>
                <a:latin typeface="Archivo"/>
                <a:ea typeface="Archivo"/>
                <a:cs typeface="Archivo"/>
                <a:sym typeface="Archivo"/>
              </a:rPr>
              <a:t>Mantención de áreas verdes</a:t>
            </a:r>
            <a:endParaRPr b="0" i="0" sz="1200" u="none" cap="none" strike="noStrike">
              <a:solidFill>
                <a:schemeClr val="dk1"/>
              </a:solidFill>
              <a:latin typeface="Calibri"/>
              <a:ea typeface="Calibri"/>
              <a:cs typeface="Calibri"/>
              <a:sym typeface="Calibri"/>
            </a:endParaRPr>
          </a:p>
        </p:txBody>
      </p:sp>
      <p:sp>
        <p:nvSpPr>
          <p:cNvPr id="429" name="Google Shape;429;p11"/>
          <p:cNvSpPr/>
          <p:nvPr/>
        </p:nvSpPr>
        <p:spPr>
          <a:xfrm>
            <a:off x="8297912" y="8419356"/>
            <a:ext cx="188237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1"/>
          <p:cNvSpPr/>
          <p:nvPr/>
        </p:nvSpPr>
        <p:spPr>
          <a:xfrm>
            <a:off x="8393162" y="8078391"/>
            <a:ext cx="1768078"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M. de Peñalolén</a:t>
            </a:r>
            <a:endParaRPr b="0" i="0" sz="1200" u="none" cap="none" strike="noStrike">
              <a:solidFill>
                <a:schemeClr val="dk1"/>
              </a:solidFill>
              <a:latin typeface="Calibri"/>
              <a:ea typeface="Calibri"/>
              <a:cs typeface="Calibri"/>
              <a:sym typeface="Calibri"/>
            </a:endParaRPr>
          </a:p>
        </p:txBody>
      </p:sp>
      <p:sp>
        <p:nvSpPr>
          <p:cNvPr id="431" name="Google Shape;431;p11"/>
          <p:cNvSpPr/>
          <p:nvPr/>
        </p:nvSpPr>
        <p:spPr>
          <a:xfrm>
            <a:off x="10180290" y="8419356"/>
            <a:ext cx="1429792"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1"/>
          <p:cNvSpPr/>
          <p:nvPr/>
        </p:nvSpPr>
        <p:spPr>
          <a:xfrm>
            <a:off x="10275540" y="8078391"/>
            <a:ext cx="1315492"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Construcción</a:t>
            </a:r>
            <a:endParaRPr b="0" i="0" sz="1200" u="none" cap="none" strike="noStrike">
              <a:solidFill>
                <a:schemeClr val="dk1"/>
              </a:solidFill>
              <a:latin typeface="Calibri"/>
              <a:ea typeface="Calibri"/>
              <a:cs typeface="Calibri"/>
              <a:sym typeface="Calibri"/>
            </a:endParaRPr>
          </a:p>
        </p:txBody>
      </p:sp>
      <p:sp>
        <p:nvSpPr>
          <p:cNvPr id="433" name="Google Shape;433;p11"/>
          <p:cNvSpPr/>
          <p:nvPr/>
        </p:nvSpPr>
        <p:spPr>
          <a:xfrm>
            <a:off x="11610082" y="8419356"/>
            <a:ext cx="146201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1"/>
          <p:cNvSpPr/>
          <p:nvPr/>
        </p:nvSpPr>
        <p:spPr>
          <a:xfrm>
            <a:off x="11705332" y="8078391"/>
            <a:ext cx="1347713"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Metropolitana</a:t>
            </a:r>
            <a:endParaRPr b="0" i="0" sz="1200" u="none" cap="none" strike="noStrike">
              <a:solidFill>
                <a:schemeClr val="dk1"/>
              </a:solidFill>
              <a:latin typeface="Calibri"/>
              <a:ea typeface="Calibri"/>
              <a:cs typeface="Calibri"/>
              <a:sym typeface="Calibri"/>
            </a:endParaRPr>
          </a:p>
        </p:txBody>
      </p:sp>
      <p:sp>
        <p:nvSpPr>
          <p:cNvPr id="435" name="Google Shape;435;p11"/>
          <p:cNvSpPr/>
          <p:nvPr/>
        </p:nvSpPr>
        <p:spPr>
          <a:xfrm>
            <a:off x="13072095" y="8419356"/>
            <a:ext cx="1365945"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a:off x="13091145" y="8078391"/>
            <a:ext cx="1251645"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$22.000.000</a:t>
            </a:r>
            <a:endParaRPr b="0" i="0" sz="1200" u="none" cap="none" strike="noStrike">
              <a:solidFill>
                <a:schemeClr val="dk1"/>
              </a:solidFill>
              <a:latin typeface="Calibri"/>
              <a:ea typeface="Calibri"/>
              <a:cs typeface="Calibri"/>
              <a:sym typeface="Calibri"/>
            </a:endParaRPr>
          </a:p>
        </p:txBody>
      </p:sp>
      <p:sp>
        <p:nvSpPr>
          <p:cNvPr id="437" name="Google Shape;437;p11"/>
          <p:cNvSpPr/>
          <p:nvPr/>
        </p:nvSpPr>
        <p:spPr>
          <a:xfrm>
            <a:off x="14438040" y="8419356"/>
            <a:ext cx="957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14533290" y="8078391"/>
            <a:ext cx="84311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28-08</a:t>
            </a:r>
            <a:endParaRPr b="0" i="0" sz="1200" u="none" cap="none" strike="noStrike">
              <a:solidFill>
                <a:schemeClr val="dk1"/>
              </a:solidFill>
              <a:latin typeface="Calibri"/>
              <a:ea typeface="Calibri"/>
              <a:cs typeface="Calibri"/>
              <a:sym typeface="Calibri"/>
            </a:endParaRPr>
          </a:p>
        </p:txBody>
      </p:sp>
      <p:sp>
        <p:nvSpPr>
          <p:cNvPr id="439" name="Google Shape;439;p11"/>
          <p:cNvSpPr/>
          <p:nvPr/>
        </p:nvSpPr>
        <p:spPr>
          <a:xfrm>
            <a:off x="15395451" y="8419356"/>
            <a:ext cx="90323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15414501" y="8078391"/>
            <a:ext cx="788938" cy="274290"/>
          </a:xfrm>
          <a:prstGeom prst="rect">
            <a:avLst/>
          </a:prstGeom>
          <a:noFill/>
          <a:ln>
            <a:noFill/>
          </a:ln>
        </p:spPr>
        <p:txBody>
          <a:bodyPr anchorCtr="0" anchor="ctr" bIns="25400" lIns="25400" spcFirstLastPara="1" rIns="25400" wrap="square" tIns="25400">
            <a:noAutofit/>
          </a:bodyPr>
          <a:lstStyle/>
          <a:p>
            <a:pPr indent="0" lvl="0" marL="0" marR="0" rtl="0" algn="r">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30%</a:t>
            </a:r>
            <a:endParaRPr b="0" i="0" sz="1200" u="none" cap="none" strike="noStrike">
              <a:solidFill>
                <a:schemeClr val="dk1"/>
              </a:solidFill>
              <a:latin typeface="Calibri"/>
              <a:ea typeface="Calibri"/>
              <a:cs typeface="Calibri"/>
              <a:sym typeface="Calibri"/>
            </a:endParaRPr>
          </a:p>
        </p:txBody>
      </p:sp>
      <p:sp>
        <p:nvSpPr>
          <p:cNvPr id="441" name="Google Shape;441;p11"/>
          <p:cNvSpPr/>
          <p:nvPr/>
        </p:nvSpPr>
        <p:spPr>
          <a:xfrm>
            <a:off x="16298689" y="8419356"/>
            <a:ext cx="884411"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1"/>
          <p:cNvSpPr/>
          <p:nvPr/>
        </p:nvSpPr>
        <p:spPr>
          <a:xfrm>
            <a:off x="16393939" y="8078391"/>
            <a:ext cx="865361" cy="27429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7D7979"/>
              </a:buClr>
              <a:buSzPts val="1200"/>
              <a:buFont typeface="Archivo"/>
              <a:buNone/>
            </a:pPr>
            <a:r>
              <a:rPr b="0" i="0" lang="en-US" sz="1200" u="none" cap="none" strike="noStrike">
                <a:solidFill>
                  <a:srgbClr val="7D7979"/>
                </a:solidFill>
                <a:latin typeface="Archivo"/>
                <a:ea typeface="Archivo"/>
                <a:cs typeface="Archivo"/>
                <a:sym typeface="Archivo"/>
              </a:rPr>
              <a:t>Cerrada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447" name="Shape 447"/>
        <p:cNvGrpSpPr/>
        <p:nvPr/>
      </p:nvGrpSpPr>
      <p:grpSpPr>
        <a:xfrm>
          <a:off x="0" y="0"/>
          <a:ext cx="0" cy="0"/>
          <a:chOff x="0" y="0"/>
          <a:chExt cx="0" cy="0"/>
        </a:xfrm>
      </p:grpSpPr>
      <p:sp>
        <p:nvSpPr>
          <p:cNvPr id="448" name="Google Shape;448;p12"/>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04 · DESKTOP</a:t>
            </a:r>
            <a:endParaRPr b="0" i="0" sz="1800" u="none" cap="none" strike="noStrike">
              <a:solidFill>
                <a:schemeClr val="dk1"/>
              </a:solidFill>
              <a:latin typeface="Calibri"/>
              <a:ea typeface="Calibri"/>
              <a:cs typeface="Calibri"/>
              <a:sym typeface="Calibri"/>
            </a:endParaRPr>
          </a:p>
        </p:txBody>
      </p:sp>
      <p:sp>
        <p:nvSpPr>
          <p:cNvPr id="449" name="Google Shape;449;p12"/>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Detalle con resumen generado por IA</a:t>
            </a:r>
            <a:endParaRPr b="0" i="0" sz="4500" u="none" cap="none" strike="noStrike">
              <a:solidFill>
                <a:schemeClr val="dk1"/>
              </a:solidFill>
              <a:latin typeface="Calibri"/>
              <a:ea typeface="Calibri"/>
              <a:cs typeface="Calibri"/>
              <a:sym typeface="Calibri"/>
            </a:endParaRPr>
          </a:p>
        </p:txBody>
      </p:sp>
      <p:sp>
        <p:nvSpPr>
          <p:cNvPr id="450" name="Google Shape;450;p12"/>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2"/>
          <p:cNvSpPr/>
          <p:nvPr/>
        </p:nvSpPr>
        <p:spPr>
          <a:xfrm>
            <a:off x="838200" y="2194545"/>
            <a:ext cx="3453384" cy="1158106"/>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La pantalla donde el LLM reemplaza la lectura de las bases completas en PDF.</a:t>
            </a:r>
            <a:endParaRPr b="0" i="0" sz="2100" u="none" cap="none" strike="noStrike">
              <a:solidFill>
                <a:schemeClr val="dk1"/>
              </a:solidFill>
              <a:latin typeface="Calibri"/>
              <a:ea typeface="Calibri"/>
              <a:cs typeface="Calibri"/>
              <a:sym typeface="Calibri"/>
            </a:endParaRPr>
          </a:p>
        </p:txBody>
      </p:sp>
      <p:sp>
        <p:nvSpPr>
          <p:cNvPr id="452" name="Google Shape;452;p12"/>
          <p:cNvSpPr/>
          <p:nvPr/>
        </p:nvSpPr>
        <p:spPr>
          <a:xfrm>
            <a:off x="838200" y="3543151"/>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2"/>
          <p:cNvSpPr/>
          <p:nvPr/>
        </p:nvSpPr>
        <p:spPr>
          <a:xfrm>
            <a:off x="838200" y="3781276"/>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Resumen y requisitos </a:t>
            </a:r>
            <a:r>
              <a:rPr b="0" i="0" lang="en-US" sz="1875" u="none" cap="none" strike="noStrike">
                <a:solidFill>
                  <a:srgbClr val="201E1D"/>
                </a:solidFill>
                <a:latin typeface="Archivo"/>
                <a:ea typeface="Archivo"/>
                <a:cs typeface="Archivo"/>
                <a:sym typeface="Archivo"/>
              </a:rPr>
              <a:t>extraídos del documento original.</a:t>
            </a:r>
            <a:endParaRPr b="0" i="0" sz="1875" u="none" cap="none" strike="noStrike">
              <a:solidFill>
                <a:schemeClr val="dk1"/>
              </a:solidFill>
              <a:latin typeface="Calibri"/>
              <a:ea typeface="Calibri"/>
              <a:cs typeface="Calibri"/>
              <a:sym typeface="Calibri"/>
            </a:endParaRPr>
          </a:p>
        </p:txBody>
      </p:sp>
      <p:sp>
        <p:nvSpPr>
          <p:cNvPr id="454" name="Google Shape;454;p12"/>
          <p:cNvSpPr/>
          <p:nvPr/>
        </p:nvSpPr>
        <p:spPr>
          <a:xfrm>
            <a:off x="838200" y="5010001"/>
            <a:ext cx="3453384" cy="1371600"/>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Enlace a la ficha oficial </a:t>
            </a:r>
            <a:r>
              <a:rPr b="0" i="0" lang="en-US" sz="1875" u="none" cap="none" strike="noStrike">
                <a:solidFill>
                  <a:srgbClr val="201E1D"/>
                </a:solidFill>
                <a:latin typeface="Archivo"/>
                <a:ea typeface="Archivo"/>
                <a:cs typeface="Archivo"/>
                <a:sym typeface="Archivo"/>
              </a:rPr>
              <a:t>— MPWatcher no reemplaza a Mercado Público, lo hace navegable.</a:t>
            </a:r>
            <a:endParaRPr b="0" i="0" sz="1875" u="none" cap="none" strike="noStrike">
              <a:solidFill>
                <a:schemeClr val="dk1"/>
              </a:solidFill>
              <a:latin typeface="Calibri"/>
              <a:ea typeface="Calibri"/>
              <a:cs typeface="Calibri"/>
              <a:sym typeface="Calibri"/>
            </a:endParaRPr>
          </a:p>
        </p:txBody>
      </p:sp>
      <p:sp>
        <p:nvSpPr>
          <p:cNvPr id="455" name="Google Shape;455;p12"/>
          <p:cNvSpPr/>
          <p:nvPr/>
        </p:nvSpPr>
        <p:spPr>
          <a:xfrm>
            <a:off x="4610100" y="2194545"/>
            <a:ext cx="1283970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2"/>
          <p:cNvSpPr/>
          <p:nvPr/>
        </p:nvSpPr>
        <p:spPr>
          <a:xfrm>
            <a:off x="4629150" y="2213595"/>
            <a:ext cx="12801600" cy="381000"/>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2"/>
          <p:cNvSpPr/>
          <p:nvPr/>
        </p:nvSpPr>
        <p:spPr>
          <a:xfrm>
            <a:off x="4629150" y="2575545"/>
            <a:ext cx="12801600" cy="1905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2"/>
          <p:cNvSpPr/>
          <p:nvPr/>
        </p:nvSpPr>
        <p:spPr>
          <a:xfrm>
            <a:off x="4781550" y="2342183"/>
            <a:ext cx="104775" cy="104775"/>
          </a:xfrm>
          <a:prstGeom prst="rect">
            <a:avLst/>
          </a:prstGeom>
          <a:solidFill>
            <a:srgbClr val="9B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2"/>
          <p:cNvSpPr/>
          <p:nvPr/>
        </p:nvSpPr>
        <p:spPr>
          <a:xfrm>
            <a:off x="4972050" y="2342183"/>
            <a:ext cx="104775" cy="104775"/>
          </a:xfrm>
          <a:prstGeom prst="rect">
            <a:avLst/>
          </a:prstGeom>
          <a:solidFill>
            <a:srgbClr val="BA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2"/>
          <p:cNvSpPr/>
          <p:nvPr/>
        </p:nvSpPr>
        <p:spPr>
          <a:xfrm>
            <a:off x="5162550" y="2342183"/>
            <a:ext cx="104775" cy="104775"/>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2"/>
          <p:cNvSpPr/>
          <p:nvPr/>
        </p:nvSpPr>
        <p:spPr>
          <a:xfrm>
            <a:off x="5505450" y="2276475"/>
            <a:ext cx="3276674"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app.mpwatcher.cl / licitacion / 2847-15-LE26</a:t>
            </a:r>
            <a:endParaRPr b="0" i="0" sz="1200" u="none" cap="none" strike="noStrike">
              <a:solidFill>
                <a:schemeClr val="dk1"/>
              </a:solidFill>
              <a:latin typeface="Calibri"/>
              <a:ea typeface="Calibri"/>
              <a:cs typeface="Calibri"/>
              <a:sym typeface="Calibri"/>
            </a:endParaRPr>
          </a:p>
        </p:txBody>
      </p:sp>
      <p:sp>
        <p:nvSpPr>
          <p:cNvPr id="462" name="Google Shape;462;p12"/>
          <p:cNvSpPr/>
          <p:nvPr/>
        </p:nvSpPr>
        <p:spPr>
          <a:xfrm>
            <a:off x="4629150" y="3070845"/>
            <a:ext cx="1280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2"/>
          <p:cNvSpPr/>
          <p:nvPr/>
        </p:nvSpPr>
        <p:spPr>
          <a:xfrm>
            <a:off x="4876800" y="2677716"/>
            <a:ext cx="1236985" cy="348109"/>
          </a:xfrm>
          <a:prstGeom prst="rect">
            <a:avLst/>
          </a:prstGeom>
          <a:noFill/>
          <a:ln>
            <a:noFill/>
          </a:ln>
        </p:spPr>
        <p:txBody>
          <a:bodyPr anchorCtr="0" anchor="t" bIns="25400" lIns="25400" spcFirstLastPara="1" rIns="25400" wrap="square" tIns="25400">
            <a:noAutofit/>
          </a:bodyPr>
          <a:lstStyle/>
          <a:p>
            <a:pPr indent="0" lvl="0" marL="0" marR="0" rtl="0" algn="l">
              <a:lnSpc>
                <a:spcPct val="141522"/>
              </a:lnSpc>
              <a:spcBef>
                <a:spcPts val="0"/>
              </a:spcBef>
              <a:spcAft>
                <a:spcPts val="0"/>
              </a:spcAft>
              <a:buClr>
                <a:srgbClr val="201E1D"/>
              </a:buClr>
              <a:buSzPts val="1575"/>
              <a:buFont typeface="Archivo"/>
              <a:buNone/>
            </a:pPr>
            <a:r>
              <a:rPr b="1" i="0" lang="en-US" sz="1575" u="none" cap="none" strike="noStrike">
                <a:solidFill>
                  <a:srgbClr val="201E1D"/>
                </a:solidFill>
                <a:latin typeface="Archivo"/>
                <a:ea typeface="Archivo"/>
                <a:cs typeface="Archivo"/>
                <a:sym typeface="Archivo"/>
              </a:rPr>
              <a:t>MPWatcher</a:t>
            </a:r>
            <a:endParaRPr b="0" i="0" sz="1575" u="none" cap="none" strike="noStrike">
              <a:solidFill>
                <a:schemeClr val="dk1"/>
              </a:solidFill>
              <a:latin typeface="Calibri"/>
              <a:ea typeface="Calibri"/>
              <a:cs typeface="Calibri"/>
              <a:sym typeface="Calibri"/>
            </a:endParaRPr>
          </a:p>
        </p:txBody>
      </p:sp>
      <p:sp>
        <p:nvSpPr>
          <p:cNvPr id="464" name="Google Shape;464;p12"/>
          <p:cNvSpPr/>
          <p:nvPr/>
        </p:nvSpPr>
        <p:spPr>
          <a:xfrm>
            <a:off x="13657213" y="2699817"/>
            <a:ext cx="919832"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Dashboard</a:t>
            </a:r>
            <a:endParaRPr b="0" i="0" sz="1350" u="none" cap="none" strike="noStrike">
              <a:solidFill>
                <a:schemeClr val="dk1"/>
              </a:solidFill>
              <a:latin typeface="Calibri"/>
              <a:ea typeface="Calibri"/>
              <a:cs typeface="Calibri"/>
              <a:sym typeface="Calibri"/>
            </a:endParaRPr>
          </a:p>
        </p:txBody>
      </p:sp>
      <p:sp>
        <p:nvSpPr>
          <p:cNvPr id="465" name="Google Shape;465;p12"/>
          <p:cNvSpPr/>
          <p:nvPr/>
        </p:nvSpPr>
        <p:spPr>
          <a:xfrm>
            <a:off x="14767545" y="2699817"/>
            <a:ext cx="1031900"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EC3013"/>
              </a:buClr>
              <a:buSzPts val="1350"/>
              <a:buFont typeface="Archivo"/>
              <a:buNone/>
            </a:pPr>
            <a:r>
              <a:rPr b="1" i="0" lang="en-US" sz="1350" u="none" cap="none" strike="noStrike">
                <a:solidFill>
                  <a:srgbClr val="EC3013"/>
                </a:solidFill>
                <a:latin typeface="Archivo"/>
                <a:ea typeface="Archivo"/>
                <a:cs typeface="Archivo"/>
                <a:sym typeface="Archivo"/>
              </a:rPr>
              <a:t>Licitaciones</a:t>
            </a:r>
            <a:endParaRPr b="0" i="0" sz="1350" u="none" cap="none" strike="noStrike">
              <a:solidFill>
                <a:schemeClr val="dk1"/>
              </a:solidFill>
              <a:latin typeface="Calibri"/>
              <a:ea typeface="Calibri"/>
              <a:cs typeface="Calibri"/>
              <a:sym typeface="Calibri"/>
            </a:endParaRPr>
          </a:p>
        </p:txBody>
      </p:sp>
      <p:sp>
        <p:nvSpPr>
          <p:cNvPr id="466" name="Google Shape;466;p12"/>
          <p:cNvSpPr/>
          <p:nvPr/>
        </p:nvSpPr>
        <p:spPr>
          <a:xfrm>
            <a:off x="15989945" y="2699817"/>
            <a:ext cx="614214"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Alertas</a:t>
            </a:r>
            <a:endParaRPr b="0" i="0" sz="1350" u="none" cap="none" strike="noStrike">
              <a:solidFill>
                <a:schemeClr val="dk1"/>
              </a:solidFill>
              <a:latin typeface="Calibri"/>
              <a:ea typeface="Calibri"/>
              <a:cs typeface="Calibri"/>
              <a:sym typeface="Calibri"/>
            </a:endParaRPr>
          </a:p>
        </p:txBody>
      </p:sp>
      <p:sp>
        <p:nvSpPr>
          <p:cNvPr id="467" name="Google Shape;467;p12"/>
          <p:cNvSpPr/>
          <p:nvPr/>
        </p:nvSpPr>
        <p:spPr>
          <a:xfrm>
            <a:off x="16794659" y="2699817"/>
            <a:ext cx="464641"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Perfil</a:t>
            </a:r>
            <a:endParaRPr b="0" i="0" sz="1350" u="none" cap="none" strike="noStrike">
              <a:solidFill>
                <a:schemeClr val="dk1"/>
              </a:solidFill>
              <a:latin typeface="Calibri"/>
              <a:ea typeface="Calibri"/>
              <a:cs typeface="Calibri"/>
              <a:sym typeface="Calibri"/>
            </a:endParaRPr>
          </a:p>
        </p:txBody>
      </p:sp>
      <p:sp>
        <p:nvSpPr>
          <p:cNvPr id="468" name="Google Shape;468;p12"/>
          <p:cNvSpPr/>
          <p:nvPr/>
        </p:nvSpPr>
        <p:spPr>
          <a:xfrm>
            <a:off x="4876800" y="3318495"/>
            <a:ext cx="966713" cy="282848"/>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2"/>
          <p:cNvSpPr/>
          <p:nvPr/>
        </p:nvSpPr>
        <p:spPr>
          <a:xfrm>
            <a:off x="4972050" y="3347070"/>
            <a:ext cx="852413" cy="26379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0" i="0" lang="en-US" sz="1050" u="none" cap="none" strike="noStrike">
                <a:solidFill>
                  <a:srgbClr val="7C1405"/>
                </a:solidFill>
                <a:latin typeface="Archivo"/>
                <a:ea typeface="Archivo"/>
                <a:cs typeface="Archivo"/>
                <a:sym typeface="Archivo"/>
              </a:rPr>
              <a:t>Alimentación</a:t>
            </a:r>
            <a:endParaRPr b="0" i="0" sz="1050" u="none" cap="none" strike="noStrike">
              <a:solidFill>
                <a:schemeClr val="dk1"/>
              </a:solidFill>
              <a:latin typeface="Calibri"/>
              <a:ea typeface="Calibri"/>
              <a:cs typeface="Calibri"/>
              <a:sym typeface="Calibri"/>
            </a:endParaRPr>
          </a:p>
        </p:txBody>
      </p:sp>
      <p:sp>
        <p:nvSpPr>
          <p:cNvPr id="470" name="Google Shape;470;p12"/>
          <p:cNvSpPr/>
          <p:nvPr/>
        </p:nvSpPr>
        <p:spPr>
          <a:xfrm>
            <a:off x="5919713" y="3318495"/>
            <a:ext cx="1006525" cy="282848"/>
          </a:xfrm>
          <a:prstGeom prst="rect">
            <a:avLst/>
          </a:prstGeom>
          <a:solidFill>
            <a:srgbClr val="EA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2"/>
          <p:cNvSpPr/>
          <p:nvPr/>
        </p:nvSpPr>
        <p:spPr>
          <a:xfrm>
            <a:off x="6014963" y="3347070"/>
            <a:ext cx="892225" cy="26379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01E1D"/>
              </a:buClr>
              <a:buSzPts val="1050"/>
              <a:buFont typeface="Archivo"/>
              <a:buNone/>
            </a:pPr>
            <a:r>
              <a:rPr b="0" i="0" lang="en-US" sz="1050" u="none" cap="none" strike="noStrike">
                <a:solidFill>
                  <a:srgbClr val="201E1D"/>
                </a:solidFill>
                <a:latin typeface="Archivo"/>
                <a:ea typeface="Archivo"/>
                <a:cs typeface="Archivo"/>
                <a:sym typeface="Archivo"/>
              </a:rPr>
              <a:t>Metropolitana</a:t>
            </a:r>
            <a:endParaRPr b="0" i="0" sz="1050" u="none" cap="none" strike="noStrike">
              <a:solidFill>
                <a:schemeClr val="dk1"/>
              </a:solidFill>
              <a:latin typeface="Calibri"/>
              <a:ea typeface="Calibri"/>
              <a:cs typeface="Calibri"/>
              <a:sym typeface="Calibri"/>
            </a:endParaRPr>
          </a:p>
        </p:txBody>
      </p:sp>
      <p:sp>
        <p:nvSpPr>
          <p:cNvPr id="472" name="Google Shape;472;p12"/>
          <p:cNvSpPr/>
          <p:nvPr/>
        </p:nvSpPr>
        <p:spPr>
          <a:xfrm>
            <a:off x="7002438" y="3318495"/>
            <a:ext cx="635645" cy="282848"/>
          </a:xfrm>
          <a:prstGeom prst="rect">
            <a:avLst/>
          </a:prstGeom>
          <a:noFill/>
          <a:ln cap="flat" cmpd="sng" w="9525">
            <a:solidFill>
              <a:srgbClr val="EC30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2"/>
          <p:cNvSpPr/>
          <p:nvPr/>
        </p:nvSpPr>
        <p:spPr>
          <a:xfrm>
            <a:off x="7107213" y="3356595"/>
            <a:ext cx="50229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EC3013"/>
              </a:buClr>
              <a:buSzPts val="1050"/>
              <a:buFont typeface="Archivo"/>
              <a:buNone/>
            </a:pPr>
            <a:r>
              <a:rPr b="0" i="0" lang="en-US" sz="1050" u="none" cap="none" strike="noStrike">
                <a:solidFill>
                  <a:srgbClr val="EC3013"/>
                </a:solidFill>
                <a:latin typeface="Archivo"/>
                <a:ea typeface="Archivo"/>
                <a:cs typeface="Archivo"/>
                <a:sym typeface="Archivo"/>
              </a:rPr>
              <a:t>Abierta</a:t>
            </a:r>
            <a:endParaRPr b="0" i="0" sz="1050" u="none" cap="none" strike="noStrike">
              <a:solidFill>
                <a:schemeClr val="dk1"/>
              </a:solidFill>
              <a:latin typeface="Calibri"/>
              <a:ea typeface="Calibri"/>
              <a:cs typeface="Calibri"/>
              <a:sym typeface="Calibri"/>
            </a:endParaRPr>
          </a:p>
        </p:txBody>
      </p:sp>
      <p:sp>
        <p:nvSpPr>
          <p:cNvPr id="474" name="Google Shape;474;p12"/>
          <p:cNvSpPr/>
          <p:nvPr/>
        </p:nvSpPr>
        <p:spPr>
          <a:xfrm>
            <a:off x="4876800" y="3734693"/>
            <a:ext cx="10309860" cy="387846"/>
          </a:xfrm>
          <a:prstGeom prst="rect">
            <a:avLst/>
          </a:prstGeom>
          <a:noFill/>
          <a:ln>
            <a:noFill/>
          </a:ln>
        </p:spPr>
        <p:txBody>
          <a:bodyPr anchorCtr="0" anchor="t" bIns="25400" lIns="25400" spcFirstLastPara="1" rIns="25400" wrap="square" tIns="25400">
            <a:noAutofit/>
          </a:bodyPr>
          <a:lstStyle/>
          <a:p>
            <a:pPr indent="0" lvl="0" marL="0" marR="0" rtl="0" algn="l">
              <a:lnSpc>
                <a:spcPct val="99243"/>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Suministro de pan y pastelería — Hospital Regional</a:t>
            </a:r>
            <a:endParaRPr b="0" i="0" sz="2550" u="none" cap="none" strike="noStrike">
              <a:solidFill>
                <a:schemeClr val="dk1"/>
              </a:solidFill>
              <a:latin typeface="Calibri"/>
              <a:ea typeface="Calibri"/>
              <a:cs typeface="Calibri"/>
              <a:sym typeface="Calibri"/>
            </a:endParaRPr>
          </a:p>
        </p:txBody>
      </p:sp>
      <p:sp>
        <p:nvSpPr>
          <p:cNvPr id="475" name="Google Shape;475;p12"/>
          <p:cNvSpPr/>
          <p:nvPr/>
        </p:nvSpPr>
        <p:spPr>
          <a:xfrm>
            <a:off x="4876800" y="4217789"/>
            <a:ext cx="10309860"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ID 2847-15-LE26 · Publicada 01-09-2026 · Hospital Regional de Rancagua</a:t>
            </a:r>
            <a:endParaRPr b="0" i="0" sz="1200" u="none" cap="none" strike="noStrike">
              <a:solidFill>
                <a:schemeClr val="dk1"/>
              </a:solidFill>
              <a:latin typeface="Calibri"/>
              <a:ea typeface="Calibri"/>
              <a:cs typeface="Calibri"/>
              <a:sym typeface="Calibri"/>
            </a:endParaRPr>
          </a:p>
        </p:txBody>
      </p:sp>
      <p:sp>
        <p:nvSpPr>
          <p:cNvPr id="476" name="Google Shape;476;p12"/>
          <p:cNvSpPr/>
          <p:nvPr/>
        </p:nvSpPr>
        <p:spPr>
          <a:xfrm>
            <a:off x="4876800" y="4625429"/>
            <a:ext cx="9372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2"/>
          <p:cNvSpPr/>
          <p:nvPr/>
        </p:nvSpPr>
        <p:spPr>
          <a:xfrm>
            <a:off x="4876800" y="4777829"/>
            <a:ext cx="9372600" cy="1291977"/>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2"/>
          <p:cNvSpPr/>
          <p:nvPr/>
        </p:nvSpPr>
        <p:spPr>
          <a:xfrm>
            <a:off x="5048250" y="4930229"/>
            <a:ext cx="9932670"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1" i="0" lang="en-US" sz="1050" u="none" cap="none" strike="noStrike">
                <a:solidFill>
                  <a:srgbClr val="7C1405"/>
                </a:solidFill>
                <a:latin typeface="Archivo"/>
                <a:ea typeface="Archivo"/>
                <a:cs typeface="Archivo"/>
                <a:sym typeface="Archivo"/>
              </a:rPr>
              <a:t>RESUMEN GENERADO POR IA</a:t>
            </a:r>
            <a:endParaRPr b="0" i="0" sz="1050" u="none" cap="none" strike="noStrike">
              <a:solidFill>
                <a:schemeClr val="dk1"/>
              </a:solidFill>
              <a:latin typeface="Calibri"/>
              <a:ea typeface="Calibri"/>
              <a:cs typeface="Calibri"/>
              <a:sym typeface="Calibri"/>
            </a:endParaRPr>
          </a:p>
        </p:txBody>
      </p:sp>
      <p:sp>
        <p:nvSpPr>
          <p:cNvPr id="479" name="Google Shape;479;p12"/>
          <p:cNvSpPr/>
          <p:nvPr/>
        </p:nvSpPr>
        <p:spPr>
          <a:xfrm>
            <a:off x="5048250" y="5213077"/>
            <a:ext cx="9300591" cy="742429"/>
          </a:xfrm>
          <a:prstGeom prst="rect">
            <a:avLst/>
          </a:prstGeom>
          <a:noFill/>
          <a:ln>
            <a:noFill/>
          </a:ln>
        </p:spPr>
        <p:txBody>
          <a:bodyPr anchorCtr="0" anchor="t" bIns="25400" lIns="25400" spcFirstLastPara="1" rIns="25400" wrap="square" tIns="25400">
            <a:noAutofit/>
          </a:bodyPr>
          <a:lstStyle/>
          <a:p>
            <a:pPr indent="0" lvl="0" marL="0" marR="0" rtl="0" algn="l">
              <a:lnSpc>
                <a:spcPct val="133243"/>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Compra periódica de pan y pastelería para casino institucional. Requiere despacho diario de lunes a sábado, certificación sanitaria vigente y capacidad de producción mínima de 300 unidades/día. Compatible con tu perfil declarado de despacho y rubro.</a:t>
            </a:r>
            <a:endParaRPr b="0" i="0" sz="1275" u="none" cap="none" strike="noStrike">
              <a:solidFill>
                <a:schemeClr val="dk1"/>
              </a:solidFill>
              <a:latin typeface="Calibri"/>
              <a:ea typeface="Calibri"/>
              <a:cs typeface="Calibri"/>
              <a:sym typeface="Calibri"/>
            </a:endParaRPr>
          </a:p>
        </p:txBody>
      </p:sp>
      <p:sp>
        <p:nvSpPr>
          <p:cNvPr id="480" name="Google Shape;480;p12"/>
          <p:cNvSpPr/>
          <p:nvPr/>
        </p:nvSpPr>
        <p:spPr>
          <a:xfrm>
            <a:off x="4876800" y="6260306"/>
            <a:ext cx="10309860" cy="333375"/>
          </a:xfrm>
          <a:prstGeom prst="rect">
            <a:avLst/>
          </a:prstGeom>
          <a:noFill/>
          <a:ln>
            <a:noFill/>
          </a:ln>
        </p:spPr>
        <p:txBody>
          <a:bodyPr anchorCtr="0" anchor="t" bIns="25400" lIns="25400" spcFirstLastPara="1" rIns="25400" wrap="square" tIns="25400">
            <a:noAutofit/>
          </a:bodyPr>
          <a:lstStyle/>
          <a:p>
            <a:pPr indent="0" lvl="0" marL="0" marR="0" rtl="0" algn="l">
              <a:lnSpc>
                <a:spcPct val="144186"/>
              </a:lnSpc>
              <a:spcBef>
                <a:spcPts val="0"/>
              </a:spcBef>
              <a:spcAft>
                <a:spcPts val="0"/>
              </a:spcAft>
              <a:buClr>
                <a:srgbClr val="201E1D"/>
              </a:buClr>
              <a:buSzPts val="1500"/>
              <a:buFont typeface="Archivo"/>
              <a:buNone/>
            </a:pPr>
            <a:r>
              <a:rPr b="1" i="0" lang="en-US" sz="1500" u="none" cap="none" strike="noStrike">
                <a:solidFill>
                  <a:srgbClr val="201E1D"/>
                </a:solidFill>
                <a:latin typeface="Archivo"/>
                <a:ea typeface="Archivo"/>
                <a:cs typeface="Archivo"/>
                <a:sym typeface="Archivo"/>
              </a:rPr>
              <a:t>Requisitos principales</a:t>
            </a:r>
            <a:endParaRPr b="0" i="0" sz="1500" u="none" cap="none" strike="noStrike">
              <a:solidFill>
                <a:schemeClr val="dk1"/>
              </a:solidFill>
              <a:latin typeface="Calibri"/>
              <a:ea typeface="Calibri"/>
              <a:cs typeface="Calibri"/>
              <a:sym typeface="Calibri"/>
            </a:endParaRPr>
          </a:p>
        </p:txBody>
      </p:sp>
      <p:sp>
        <p:nvSpPr>
          <p:cNvPr id="481" name="Google Shape;481;p12"/>
          <p:cNvSpPr/>
          <p:nvPr/>
        </p:nvSpPr>
        <p:spPr>
          <a:xfrm>
            <a:off x="4876800" y="6688931"/>
            <a:ext cx="93726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2"/>
          <p:cNvSpPr/>
          <p:nvPr/>
        </p:nvSpPr>
        <p:spPr>
          <a:xfrm>
            <a:off x="4876800" y="6784181"/>
            <a:ext cx="9653778"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Certificado sanitario resolución vigente</a:t>
            </a:r>
            <a:endParaRPr b="0" i="0" sz="1275" u="none" cap="none" strike="noStrike">
              <a:solidFill>
                <a:schemeClr val="dk1"/>
              </a:solidFill>
              <a:latin typeface="Calibri"/>
              <a:ea typeface="Calibri"/>
              <a:cs typeface="Calibri"/>
              <a:sym typeface="Calibri"/>
            </a:endParaRPr>
          </a:p>
        </p:txBody>
      </p:sp>
      <p:sp>
        <p:nvSpPr>
          <p:cNvPr id="483" name="Google Shape;483;p12"/>
          <p:cNvSpPr/>
          <p:nvPr/>
        </p:nvSpPr>
        <p:spPr>
          <a:xfrm>
            <a:off x="4876800" y="7120830"/>
            <a:ext cx="93726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2"/>
          <p:cNvSpPr/>
          <p:nvPr/>
        </p:nvSpPr>
        <p:spPr>
          <a:xfrm>
            <a:off x="4876800" y="7216080"/>
            <a:ext cx="9653778"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Boleta de garantía de seriedad de la oferta</a:t>
            </a:r>
            <a:endParaRPr b="0" i="0" sz="1275" u="none" cap="none" strike="noStrike">
              <a:solidFill>
                <a:schemeClr val="dk1"/>
              </a:solidFill>
              <a:latin typeface="Calibri"/>
              <a:ea typeface="Calibri"/>
              <a:cs typeface="Calibri"/>
              <a:sym typeface="Calibri"/>
            </a:endParaRPr>
          </a:p>
        </p:txBody>
      </p:sp>
      <p:sp>
        <p:nvSpPr>
          <p:cNvPr id="485" name="Google Shape;485;p12"/>
          <p:cNvSpPr/>
          <p:nvPr/>
        </p:nvSpPr>
        <p:spPr>
          <a:xfrm>
            <a:off x="4876800" y="7552730"/>
            <a:ext cx="93726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4876800" y="7647980"/>
            <a:ext cx="9653778"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Capacidad de despacho diaria acreditable</a:t>
            </a:r>
            <a:endParaRPr b="0" i="0" sz="1275" u="none" cap="none" strike="noStrike">
              <a:solidFill>
                <a:schemeClr val="dk1"/>
              </a:solidFill>
              <a:latin typeface="Calibri"/>
              <a:ea typeface="Calibri"/>
              <a:cs typeface="Calibri"/>
              <a:sym typeface="Calibri"/>
            </a:endParaRPr>
          </a:p>
        </p:txBody>
      </p:sp>
      <p:sp>
        <p:nvSpPr>
          <p:cNvPr id="487" name="Google Shape;487;p12"/>
          <p:cNvSpPr/>
          <p:nvPr/>
        </p:nvSpPr>
        <p:spPr>
          <a:xfrm>
            <a:off x="4876800" y="7984629"/>
            <a:ext cx="93726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2"/>
          <p:cNvSpPr/>
          <p:nvPr/>
        </p:nvSpPr>
        <p:spPr>
          <a:xfrm>
            <a:off x="4876800" y="8079879"/>
            <a:ext cx="9653778"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Inscripción vigente en ChileProveedores</a:t>
            </a:r>
            <a:endParaRPr b="0" i="0" sz="1275" u="none" cap="none" strike="noStrike">
              <a:solidFill>
                <a:schemeClr val="dk1"/>
              </a:solidFill>
              <a:latin typeface="Calibri"/>
              <a:ea typeface="Calibri"/>
              <a:cs typeface="Calibri"/>
              <a:sym typeface="Calibri"/>
            </a:endParaRPr>
          </a:p>
        </p:txBody>
      </p:sp>
      <p:sp>
        <p:nvSpPr>
          <p:cNvPr id="489" name="Google Shape;489;p12"/>
          <p:cNvSpPr/>
          <p:nvPr/>
        </p:nvSpPr>
        <p:spPr>
          <a:xfrm>
            <a:off x="14516100" y="3318495"/>
            <a:ext cx="19050" cy="611125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14763750" y="3318495"/>
            <a:ext cx="266128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MONTO ESTIMADO</a:t>
            </a:r>
            <a:endParaRPr b="0" i="0" sz="1050" u="none" cap="none" strike="noStrike">
              <a:solidFill>
                <a:schemeClr val="dk1"/>
              </a:solidFill>
              <a:latin typeface="Calibri"/>
              <a:ea typeface="Calibri"/>
              <a:cs typeface="Calibri"/>
              <a:sym typeface="Calibri"/>
            </a:endParaRPr>
          </a:p>
        </p:txBody>
      </p:sp>
      <p:sp>
        <p:nvSpPr>
          <p:cNvPr id="491" name="Google Shape;491;p12"/>
          <p:cNvSpPr/>
          <p:nvPr/>
        </p:nvSpPr>
        <p:spPr>
          <a:xfrm>
            <a:off x="14763750" y="3544193"/>
            <a:ext cx="2661285" cy="388590"/>
          </a:xfrm>
          <a:prstGeom prst="rect">
            <a:avLst/>
          </a:prstGeom>
          <a:noFill/>
          <a:ln>
            <a:noFill/>
          </a:ln>
        </p:spPr>
        <p:txBody>
          <a:bodyPr anchorCtr="0" anchor="t" bIns="25400" lIns="25400" spcFirstLastPara="1" rIns="25400" wrap="square" tIns="25400">
            <a:noAutofit/>
          </a:bodyPr>
          <a:lstStyle/>
          <a:p>
            <a:pPr indent="0" lvl="0" marL="0" marR="0" rtl="0" algn="l">
              <a:lnSpc>
                <a:spcPct val="106667"/>
              </a:lnSpc>
              <a:spcBef>
                <a:spcPts val="0"/>
              </a:spcBef>
              <a:spcAft>
                <a:spcPts val="0"/>
              </a:spcAft>
              <a:buClr>
                <a:srgbClr val="201E1D"/>
              </a:buClr>
              <a:buSzPts val="2400"/>
              <a:buFont typeface="Archivo"/>
              <a:buNone/>
            </a:pPr>
            <a:r>
              <a:rPr b="1" i="0" lang="en-US" sz="2400" u="none" cap="none" strike="noStrike">
                <a:solidFill>
                  <a:srgbClr val="201E1D"/>
                </a:solidFill>
                <a:latin typeface="Archivo"/>
                <a:ea typeface="Archivo"/>
                <a:cs typeface="Archivo"/>
                <a:sym typeface="Archivo"/>
              </a:rPr>
              <a:t>$14.500.000</a:t>
            </a:r>
            <a:endParaRPr b="0" i="0" sz="2400" u="none" cap="none" strike="noStrike">
              <a:solidFill>
                <a:schemeClr val="dk1"/>
              </a:solidFill>
              <a:latin typeface="Calibri"/>
              <a:ea typeface="Calibri"/>
              <a:cs typeface="Calibri"/>
              <a:sym typeface="Calibri"/>
            </a:endParaRPr>
          </a:p>
        </p:txBody>
      </p:sp>
      <p:sp>
        <p:nvSpPr>
          <p:cNvPr id="492" name="Google Shape;492;p12"/>
          <p:cNvSpPr/>
          <p:nvPr/>
        </p:nvSpPr>
        <p:spPr>
          <a:xfrm>
            <a:off x="14763750" y="3951833"/>
            <a:ext cx="2661285" cy="259556"/>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EC3013"/>
              </a:buClr>
              <a:buSzPts val="1125"/>
              <a:buFont typeface="Archivo"/>
              <a:buNone/>
            </a:pPr>
            <a:r>
              <a:rPr b="1" i="0" lang="en-US" sz="1125" u="none" cap="none" strike="noStrike">
                <a:solidFill>
                  <a:srgbClr val="EC3013"/>
                </a:solidFill>
                <a:latin typeface="Archivo"/>
                <a:ea typeface="Archivo"/>
                <a:cs typeface="Archivo"/>
                <a:sym typeface="Archivo"/>
              </a:rPr>
              <a:t>Cierra en 3 días · 07-09-2026, 15:00</a:t>
            </a:r>
            <a:endParaRPr b="0" i="0" sz="1125" u="none" cap="none" strike="noStrike">
              <a:solidFill>
                <a:schemeClr val="dk1"/>
              </a:solidFill>
              <a:latin typeface="Calibri"/>
              <a:ea typeface="Calibri"/>
              <a:cs typeface="Calibri"/>
              <a:sym typeface="Calibri"/>
            </a:endParaRPr>
          </a:p>
        </p:txBody>
      </p:sp>
      <p:sp>
        <p:nvSpPr>
          <p:cNvPr id="493" name="Google Shape;493;p12"/>
          <p:cNvSpPr/>
          <p:nvPr/>
        </p:nvSpPr>
        <p:spPr>
          <a:xfrm>
            <a:off x="14763750" y="4325689"/>
            <a:ext cx="24193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14763750" y="4487614"/>
            <a:ext cx="266128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NIVEL DE RELEVANCIA</a:t>
            </a:r>
            <a:endParaRPr b="0" i="0" sz="1050" u="none" cap="none" strike="noStrike">
              <a:solidFill>
                <a:schemeClr val="dk1"/>
              </a:solidFill>
              <a:latin typeface="Calibri"/>
              <a:ea typeface="Calibri"/>
              <a:cs typeface="Calibri"/>
              <a:sym typeface="Calibri"/>
            </a:endParaRPr>
          </a:p>
        </p:txBody>
      </p:sp>
      <p:sp>
        <p:nvSpPr>
          <p:cNvPr id="495" name="Google Shape;495;p12"/>
          <p:cNvSpPr/>
          <p:nvPr/>
        </p:nvSpPr>
        <p:spPr>
          <a:xfrm>
            <a:off x="14763750" y="4713312"/>
            <a:ext cx="2661285" cy="499095"/>
          </a:xfrm>
          <a:prstGeom prst="rect">
            <a:avLst/>
          </a:prstGeom>
          <a:noFill/>
          <a:ln>
            <a:noFill/>
          </a:ln>
        </p:spPr>
        <p:txBody>
          <a:bodyPr anchorCtr="0" anchor="t" bIns="25400" lIns="25400" spcFirstLastPara="1" rIns="25400" wrap="square" tIns="25400">
            <a:noAutofit/>
          </a:bodyPr>
          <a:lstStyle/>
          <a:p>
            <a:pPr indent="0" lvl="0" marL="0" marR="0" rtl="0" algn="l">
              <a:lnSpc>
                <a:spcPct val="101895"/>
              </a:lnSpc>
              <a:spcBef>
                <a:spcPts val="0"/>
              </a:spcBef>
              <a:spcAft>
                <a:spcPts val="0"/>
              </a:spcAft>
              <a:buClr>
                <a:srgbClr val="EC3013"/>
              </a:buClr>
              <a:buSzPts val="3300"/>
              <a:buFont typeface="Archivo"/>
              <a:buNone/>
            </a:pPr>
            <a:r>
              <a:rPr b="1" i="0" lang="en-US" sz="3300" u="none" cap="none" strike="noStrike">
                <a:solidFill>
                  <a:srgbClr val="EC3013"/>
                </a:solidFill>
                <a:latin typeface="Archivo"/>
                <a:ea typeface="Archivo"/>
                <a:cs typeface="Archivo"/>
                <a:sym typeface="Archivo"/>
              </a:rPr>
              <a:t>92%</a:t>
            </a:r>
            <a:endParaRPr b="0" i="0" sz="3300" u="none" cap="none" strike="noStrike">
              <a:solidFill>
                <a:schemeClr val="dk1"/>
              </a:solidFill>
              <a:latin typeface="Calibri"/>
              <a:ea typeface="Calibri"/>
              <a:cs typeface="Calibri"/>
              <a:sym typeface="Calibri"/>
            </a:endParaRPr>
          </a:p>
        </p:txBody>
      </p:sp>
      <p:sp>
        <p:nvSpPr>
          <p:cNvPr id="496" name="Google Shape;496;p12"/>
          <p:cNvSpPr/>
          <p:nvPr/>
        </p:nvSpPr>
        <p:spPr>
          <a:xfrm>
            <a:off x="14763750" y="5250507"/>
            <a:ext cx="2419350" cy="76200"/>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2"/>
          <p:cNvSpPr/>
          <p:nvPr/>
        </p:nvSpPr>
        <p:spPr>
          <a:xfrm>
            <a:off x="14763750" y="5250507"/>
            <a:ext cx="2225799" cy="7620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14763750" y="7890570"/>
            <a:ext cx="2419350" cy="38100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2"/>
          <p:cNvSpPr/>
          <p:nvPr/>
        </p:nvSpPr>
        <p:spPr>
          <a:xfrm>
            <a:off x="14897100" y="7890570"/>
            <a:ext cx="2228850" cy="419100"/>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F3F2F2"/>
              </a:buClr>
              <a:buSzPts val="1275"/>
              <a:buFont typeface="Archivo"/>
              <a:buNone/>
            </a:pPr>
            <a:r>
              <a:rPr b="1" i="0" lang="en-US" sz="1275" u="none" cap="none" strike="noStrike">
                <a:solidFill>
                  <a:srgbClr val="F3F2F2"/>
                </a:solidFill>
                <a:latin typeface="Archivo"/>
                <a:ea typeface="Archivo"/>
                <a:cs typeface="Archivo"/>
                <a:sym typeface="Archivo"/>
              </a:rPr>
              <a:t>Marcar como postulada</a:t>
            </a:r>
            <a:endParaRPr b="0" i="0" sz="1275" u="none" cap="none" strike="noStrike">
              <a:solidFill>
                <a:schemeClr val="dk1"/>
              </a:solidFill>
              <a:latin typeface="Calibri"/>
              <a:ea typeface="Calibri"/>
              <a:cs typeface="Calibri"/>
              <a:sym typeface="Calibri"/>
            </a:endParaRPr>
          </a:p>
        </p:txBody>
      </p:sp>
      <p:sp>
        <p:nvSpPr>
          <p:cNvPr id="500" name="Google Shape;500;p12"/>
          <p:cNvSpPr/>
          <p:nvPr/>
        </p:nvSpPr>
        <p:spPr>
          <a:xfrm>
            <a:off x="14763750" y="8423970"/>
            <a:ext cx="2419350" cy="38100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2"/>
          <p:cNvSpPr/>
          <p:nvPr/>
        </p:nvSpPr>
        <p:spPr>
          <a:xfrm>
            <a:off x="14906625" y="8433495"/>
            <a:ext cx="2209800" cy="400050"/>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Guardar para revisar</a:t>
            </a:r>
            <a:endParaRPr b="0" i="0" sz="1275" u="none" cap="none" strike="noStrike">
              <a:solidFill>
                <a:schemeClr val="dk1"/>
              </a:solidFill>
              <a:latin typeface="Calibri"/>
              <a:ea typeface="Calibri"/>
              <a:cs typeface="Calibri"/>
              <a:sym typeface="Calibri"/>
            </a:endParaRPr>
          </a:p>
        </p:txBody>
      </p:sp>
      <p:sp>
        <p:nvSpPr>
          <p:cNvPr id="502" name="Google Shape;502;p12"/>
          <p:cNvSpPr/>
          <p:nvPr/>
        </p:nvSpPr>
        <p:spPr>
          <a:xfrm>
            <a:off x="14763750" y="8957370"/>
            <a:ext cx="2495550" cy="51048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EC3013"/>
              </a:buClr>
              <a:buSzPts val="1200"/>
              <a:buFont typeface="Archivo"/>
              <a:buNone/>
            </a:pPr>
            <a:r>
              <a:rPr b="1" i="0" lang="en-US" sz="1200" u="none" cap="none" strike="noStrike">
                <a:solidFill>
                  <a:srgbClr val="EC3013"/>
                </a:solidFill>
                <a:latin typeface="Archivo"/>
                <a:ea typeface="Archivo"/>
                <a:cs typeface="Archivo"/>
                <a:sym typeface="Archivo"/>
              </a:rPr>
              <a:t>Ver ficha original en Mercado Público →</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507" name="Shape 507"/>
        <p:cNvGrpSpPr/>
        <p:nvPr/>
      </p:nvGrpSpPr>
      <p:grpSpPr>
        <a:xfrm>
          <a:off x="0" y="0"/>
          <a:ext cx="0" cy="0"/>
          <a:chOff x="0" y="0"/>
          <a:chExt cx="0" cy="0"/>
        </a:xfrm>
      </p:grpSpPr>
      <p:sp>
        <p:nvSpPr>
          <p:cNvPr id="508" name="Google Shape;508;p13"/>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05 · DESKTOP</a:t>
            </a:r>
            <a:endParaRPr b="0" i="0" sz="1800" u="none" cap="none" strike="noStrike">
              <a:solidFill>
                <a:schemeClr val="dk1"/>
              </a:solidFill>
              <a:latin typeface="Calibri"/>
              <a:ea typeface="Calibri"/>
              <a:cs typeface="Calibri"/>
              <a:sym typeface="Calibri"/>
            </a:endParaRPr>
          </a:p>
        </p:txBody>
      </p:sp>
      <p:sp>
        <p:nvSpPr>
          <p:cNvPr id="509" name="Google Shape;509;p13"/>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Perfil y filtros de búsqueda</a:t>
            </a:r>
            <a:endParaRPr b="0" i="0" sz="4500" u="none" cap="none" strike="noStrike">
              <a:solidFill>
                <a:schemeClr val="dk1"/>
              </a:solidFill>
              <a:latin typeface="Calibri"/>
              <a:ea typeface="Calibri"/>
              <a:cs typeface="Calibri"/>
              <a:sym typeface="Calibri"/>
            </a:endParaRPr>
          </a:p>
        </p:txBody>
      </p:sp>
      <p:sp>
        <p:nvSpPr>
          <p:cNvPr id="510" name="Google Shape;510;p13"/>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3"/>
          <p:cNvSpPr/>
          <p:nvPr/>
        </p:nvSpPr>
        <p:spPr>
          <a:xfrm>
            <a:off x="838200" y="2194545"/>
            <a:ext cx="3453384" cy="153144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El perfil es el insumo del agente: define qué se considera relevante para esa empresa.</a:t>
            </a:r>
            <a:endParaRPr b="0" i="0" sz="2100" u="none" cap="none" strike="noStrike">
              <a:solidFill>
                <a:schemeClr val="dk1"/>
              </a:solidFill>
              <a:latin typeface="Calibri"/>
              <a:ea typeface="Calibri"/>
              <a:cs typeface="Calibri"/>
              <a:sym typeface="Calibri"/>
            </a:endParaRPr>
          </a:p>
        </p:txBody>
      </p:sp>
      <p:sp>
        <p:nvSpPr>
          <p:cNvPr id="512" name="Google Shape;512;p13"/>
          <p:cNvSpPr/>
          <p:nvPr/>
        </p:nvSpPr>
        <p:spPr>
          <a:xfrm>
            <a:off x="838200" y="3916487"/>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p:nvPr/>
        </p:nvSpPr>
        <p:spPr>
          <a:xfrm>
            <a:off x="838200" y="4154612"/>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Rubro, región y monto </a:t>
            </a:r>
            <a:r>
              <a:rPr b="0" i="0" lang="en-US" sz="1875" u="none" cap="none" strike="noStrike">
                <a:solidFill>
                  <a:srgbClr val="201E1D"/>
                </a:solidFill>
                <a:latin typeface="Archivo"/>
                <a:ea typeface="Archivo"/>
                <a:cs typeface="Archivo"/>
                <a:sym typeface="Archivo"/>
              </a:rPr>
              <a:t>acotan el universo antes de llamar al LLM.</a:t>
            </a:r>
            <a:endParaRPr b="0" i="0" sz="1875" u="none" cap="none" strike="noStrike">
              <a:solidFill>
                <a:schemeClr val="dk1"/>
              </a:solidFill>
              <a:latin typeface="Calibri"/>
              <a:ea typeface="Calibri"/>
              <a:cs typeface="Calibri"/>
              <a:sym typeface="Calibri"/>
            </a:endParaRPr>
          </a:p>
        </p:txBody>
      </p:sp>
      <p:sp>
        <p:nvSpPr>
          <p:cNvPr id="514" name="Google Shape;514;p13"/>
          <p:cNvSpPr/>
          <p:nvPr/>
        </p:nvSpPr>
        <p:spPr>
          <a:xfrm>
            <a:off x="838200" y="5383337"/>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Frecuencia y canal </a:t>
            </a:r>
            <a:r>
              <a:rPr b="0" i="0" lang="en-US" sz="1875" u="none" cap="none" strike="noStrike">
                <a:solidFill>
                  <a:srgbClr val="201E1D"/>
                </a:solidFill>
                <a:latin typeface="Archivo"/>
                <a:ea typeface="Archivo"/>
                <a:cs typeface="Archivo"/>
                <a:sym typeface="Archivo"/>
              </a:rPr>
              <a:t>— inmediata, diaria o semanal; correo o WhatsApp.</a:t>
            </a:r>
            <a:endParaRPr b="0" i="0" sz="1875" u="none" cap="none" strike="noStrike">
              <a:solidFill>
                <a:schemeClr val="dk1"/>
              </a:solidFill>
              <a:latin typeface="Calibri"/>
              <a:ea typeface="Calibri"/>
              <a:cs typeface="Calibri"/>
              <a:sym typeface="Calibri"/>
            </a:endParaRPr>
          </a:p>
        </p:txBody>
      </p:sp>
      <p:sp>
        <p:nvSpPr>
          <p:cNvPr id="515" name="Google Shape;515;p13"/>
          <p:cNvSpPr/>
          <p:nvPr/>
        </p:nvSpPr>
        <p:spPr>
          <a:xfrm>
            <a:off x="4610100" y="2194545"/>
            <a:ext cx="1283970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4629150" y="2213595"/>
            <a:ext cx="12801600" cy="381000"/>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p:nvPr/>
        </p:nvSpPr>
        <p:spPr>
          <a:xfrm>
            <a:off x="4629150" y="2575545"/>
            <a:ext cx="12801600" cy="1905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3"/>
          <p:cNvSpPr/>
          <p:nvPr/>
        </p:nvSpPr>
        <p:spPr>
          <a:xfrm>
            <a:off x="4781550" y="2342183"/>
            <a:ext cx="104775" cy="104775"/>
          </a:xfrm>
          <a:prstGeom prst="rect">
            <a:avLst/>
          </a:prstGeom>
          <a:solidFill>
            <a:srgbClr val="9B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3"/>
          <p:cNvSpPr/>
          <p:nvPr/>
        </p:nvSpPr>
        <p:spPr>
          <a:xfrm>
            <a:off x="4972050" y="2342183"/>
            <a:ext cx="104775" cy="104775"/>
          </a:xfrm>
          <a:prstGeom prst="rect">
            <a:avLst/>
          </a:prstGeom>
          <a:solidFill>
            <a:srgbClr val="BA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3"/>
          <p:cNvSpPr/>
          <p:nvPr/>
        </p:nvSpPr>
        <p:spPr>
          <a:xfrm>
            <a:off x="5162550" y="2342183"/>
            <a:ext cx="104775" cy="104775"/>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3"/>
          <p:cNvSpPr/>
          <p:nvPr/>
        </p:nvSpPr>
        <p:spPr>
          <a:xfrm>
            <a:off x="5505450" y="2276475"/>
            <a:ext cx="1793371"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app.mpwatcher.cl / perfil</a:t>
            </a:r>
            <a:endParaRPr b="0" i="0" sz="1200" u="none" cap="none" strike="noStrike">
              <a:solidFill>
                <a:schemeClr val="dk1"/>
              </a:solidFill>
              <a:latin typeface="Calibri"/>
              <a:ea typeface="Calibri"/>
              <a:cs typeface="Calibri"/>
              <a:sym typeface="Calibri"/>
            </a:endParaRPr>
          </a:p>
        </p:txBody>
      </p:sp>
      <p:sp>
        <p:nvSpPr>
          <p:cNvPr id="522" name="Google Shape;522;p13"/>
          <p:cNvSpPr/>
          <p:nvPr/>
        </p:nvSpPr>
        <p:spPr>
          <a:xfrm>
            <a:off x="4629150" y="3070845"/>
            <a:ext cx="1280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3"/>
          <p:cNvSpPr/>
          <p:nvPr/>
        </p:nvSpPr>
        <p:spPr>
          <a:xfrm>
            <a:off x="4876800" y="2677716"/>
            <a:ext cx="1236985" cy="348109"/>
          </a:xfrm>
          <a:prstGeom prst="rect">
            <a:avLst/>
          </a:prstGeom>
          <a:noFill/>
          <a:ln>
            <a:noFill/>
          </a:ln>
        </p:spPr>
        <p:txBody>
          <a:bodyPr anchorCtr="0" anchor="t" bIns="25400" lIns="25400" spcFirstLastPara="1" rIns="25400" wrap="square" tIns="25400">
            <a:noAutofit/>
          </a:bodyPr>
          <a:lstStyle/>
          <a:p>
            <a:pPr indent="0" lvl="0" marL="0" marR="0" rtl="0" algn="l">
              <a:lnSpc>
                <a:spcPct val="141522"/>
              </a:lnSpc>
              <a:spcBef>
                <a:spcPts val="0"/>
              </a:spcBef>
              <a:spcAft>
                <a:spcPts val="0"/>
              </a:spcAft>
              <a:buClr>
                <a:srgbClr val="201E1D"/>
              </a:buClr>
              <a:buSzPts val="1575"/>
              <a:buFont typeface="Archivo"/>
              <a:buNone/>
            </a:pPr>
            <a:r>
              <a:rPr b="1" i="0" lang="en-US" sz="1575" u="none" cap="none" strike="noStrike">
                <a:solidFill>
                  <a:srgbClr val="201E1D"/>
                </a:solidFill>
                <a:latin typeface="Archivo"/>
                <a:ea typeface="Archivo"/>
                <a:cs typeface="Archivo"/>
                <a:sym typeface="Archivo"/>
              </a:rPr>
              <a:t>MPWatcher</a:t>
            </a:r>
            <a:endParaRPr b="0" i="0" sz="1575" u="none" cap="none" strike="noStrike">
              <a:solidFill>
                <a:schemeClr val="dk1"/>
              </a:solidFill>
              <a:latin typeface="Calibri"/>
              <a:ea typeface="Calibri"/>
              <a:cs typeface="Calibri"/>
              <a:sym typeface="Calibri"/>
            </a:endParaRPr>
          </a:p>
        </p:txBody>
      </p:sp>
      <p:sp>
        <p:nvSpPr>
          <p:cNvPr id="524" name="Google Shape;524;p13"/>
          <p:cNvSpPr/>
          <p:nvPr/>
        </p:nvSpPr>
        <p:spPr>
          <a:xfrm>
            <a:off x="13685490" y="2699817"/>
            <a:ext cx="919832"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Dashboard</a:t>
            </a:r>
            <a:endParaRPr b="0" i="0" sz="1350" u="none" cap="none" strike="noStrike">
              <a:solidFill>
                <a:schemeClr val="dk1"/>
              </a:solidFill>
              <a:latin typeface="Calibri"/>
              <a:ea typeface="Calibri"/>
              <a:cs typeface="Calibri"/>
              <a:sym typeface="Calibri"/>
            </a:endParaRPr>
          </a:p>
        </p:txBody>
      </p:sp>
      <p:sp>
        <p:nvSpPr>
          <p:cNvPr id="525" name="Google Shape;525;p13"/>
          <p:cNvSpPr/>
          <p:nvPr/>
        </p:nvSpPr>
        <p:spPr>
          <a:xfrm>
            <a:off x="14795822" y="2699817"/>
            <a:ext cx="981596"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Licitaciones</a:t>
            </a:r>
            <a:endParaRPr b="0" i="0" sz="1350" u="none" cap="none" strike="noStrike">
              <a:solidFill>
                <a:schemeClr val="dk1"/>
              </a:solidFill>
              <a:latin typeface="Calibri"/>
              <a:ea typeface="Calibri"/>
              <a:cs typeface="Calibri"/>
              <a:sym typeface="Calibri"/>
            </a:endParaRPr>
          </a:p>
        </p:txBody>
      </p:sp>
      <p:sp>
        <p:nvSpPr>
          <p:cNvPr id="526" name="Google Shape;526;p13"/>
          <p:cNvSpPr/>
          <p:nvPr/>
        </p:nvSpPr>
        <p:spPr>
          <a:xfrm>
            <a:off x="15967918" y="2699817"/>
            <a:ext cx="614214"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Alertas</a:t>
            </a:r>
            <a:endParaRPr b="0" i="0" sz="1350" u="none" cap="none" strike="noStrike">
              <a:solidFill>
                <a:schemeClr val="dk1"/>
              </a:solidFill>
              <a:latin typeface="Calibri"/>
              <a:ea typeface="Calibri"/>
              <a:cs typeface="Calibri"/>
              <a:sym typeface="Calibri"/>
            </a:endParaRPr>
          </a:p>
        </p:txBody>
      </p:sp>
      <p:sp>
        <p:nvSpPr>
          <p:cNvPr id="527" name="Google Shape;527;p13"/>
          <p:cNvSpPr/>
          <p:nvPr/>
        </p:nvSpPr>
        <p:spPr>
          <a:xfrm>
            <a:off x="16772632" y="2699817"/>
            <a:ext cx="486668"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EC3013"/>
              </a:buClr>
              <a:buSzPts val="1350"/>
              <a:buFont typeface="Archivo"/>
              <a:buNone/>
            </a:pPr>
            <a:r>
              <a:rPr b="1" i="0" lang="en-US" sz="1350" u="none" cap="none" strike="noStrike">
                <a:solidFill>
                  <a:srgbClr val="EC3013"/>
                </a:solidFill>
                <a:latin typeface="Archivo"/>
                <a:ea typeface="Archivo"/>
                <a:cs typeface="Archivo"/>
                <a:sym typeface="Archivo"/>
              </a:rPr>
              <a:t>Perfil</a:t>
            </a:r>
            <a:endParaRPr b="0" i="0" sz="1350" u="none" cap="none" strike="noStrike">
              <a:solidFill>
                <a:schemeClr val="dk1"/>
              </a:solidFill>
              <a:latin typeface="Calibri"/>
              <a:ea typeface="Calibri"/>
              <a:cs typeface="Calibri"/>
              <a:sym typeface="Calibri"/>
            </a:endParaRPr>
          </a:p>
        </p:txBody>
      </p:sp>
      <p:sp>
        <p:nvSpPr>
          <p:cNvPr id="528" name="Google Shape;528;p13"/>
          <p:cNvSpPr/>
          <p:nvPr/>
        </p:nvSpPr>
        <p:spPr>
          <a:xfrm>
            <a:off x="4876800" y="3337545"/>
            <a:ext cx="13536930"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Perfil y filtros de búsqueda</a:t>
            </a:r>
            <a:endParaRPr b="0" i="0" sz="2250" u="none" cap="none" strike="noStrike">
              <a:solidFill>
                <a:schemeClr val="dk1"/>
              </a:solidFill>
              <a:latin typeface="Calibri"/>
              <a:ea typeface="Calibri"/>
              <a:cs typeface="Calibri"/>
              <a:sym typeface="Calibri"/>
            </a:endParaRPr>
          </a:p>
        </p:txBody>
      </p:sp>
      <p:sp>
        <p:nvSpPr>
          <p:cNvPr id="529" name="Google Shape;529;p13"/>
          <p:cNvSpPr/>
          <p:nvPr/>
        </p:nvSpPr>
        <p:spPr>
          <a:xfrm>
            <a:off x="4876800" y="3818558"/>
            <a:ext cx="13536930"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Define qué licitaciones te importan; el agente usa esto para calcular relevancia.</a:t>
            </a:r>
            <a:endParaRPr b="0" i="0" sz="1275" u="none" cap="none" strike="noStrike">
              <a:solidFill>
                <a:schemeClr val="dk1"/>
              </a:solidFill>
              <a:latin typeface="Calibri"/>
              <a:ea typeface="Calibri"/>
              <a:cs typeface="Calibri"/>
              <a:sym typeface="Calibri"/>
            </a:endParaRPr>
          </a:p>
        </p:txBody>
      </p:sp>
      <p:sp>
        <p:nvSpPr>
          <p:cNvPr id="530" name="Google Shape;530;p13"/>
          <p:cNvSpPr/>
          <p:nvPr/>
        </p:nvSpPr>
        <p:spPr>
          <a:xfrm>
            <a:off x="4876800" y="4240932"/>
            <a:ext cx="123063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3"/>
          <p:cNvSpPr/>
          <p:nvPr/>
        </p:nvSpPr>
        <p:spPr>
          <a:xfrm>
            <a:off x="4876800" y="4431432"/>
            <a:ext cx="655891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RUBROS DE INTERÉS</a:t>
            </a:r>
            <a:endParaRPr b="0" i="0" sz="1050" u="none" cap="none" strike="noStrike">
              <a:solidFill>
                <a:schemeClr val="dk1"/>
              </a:solidFill>
              <a:latin typeface="Calibri"/>
              <a:ea typeface="Calibri"/>
              <a:cs typeface="Calibri"/>
              <a:sym typeface="Calibri"/>
            </a:endParaRPr>
          </a:p>
        </p:txBody>
      </p:sp>
      <p:sp>
        <p:nvSpPr>
          <p:cNvPr id="532" name="Google Shape;532;p13"/>
          <p:cNvSpPr/>
          <p:nvPr/>
        </p:nvSpPr>
        <p:spPr>
          <a:xfrm>
            <a:off x="4876800" y="4714280"/>
            <a:ext cx="1263700" cy="35049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3"/>
          <p:cNvSpPr/>
          <p:nvPr/>
        </p:nvSpPr>
        <p:spPr>
          <a:xfrm>
            <a:off x="4991100" y="4761905"/>
            <a:ext cx="1111300" cy="29334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F3F2F2"/>
              </a:buClr>
              <a:buSzPts val="1200"/>
              <a:buFont typeface="Archivo"/>
              <a:buNone/>
            </a:pPr>
            <a:r>
              <a:rPr b="0" i="0" lang="en-US" sz="1200" u="none" cap="none" strike="noStrike">
                <a:solidFill>
                  <a:srgbClr val="F3F2F2"/>
                </a:solidFill>
                <a:latin typeface="Archivo"/>
                <a:ea typeface="Archivo"/>
                <a:cs typeface="Archivo"/>
                <a:sym typeface="Archivo"/>
              </a:rPr>
              <a:t>Alimentación ✕</a:t>
            </a:r>
            <a:endParaRPr b="0" i="0" sz="1200" u="none" cap="none" strike="noStrike">
              <a:solidFill>
                <a:schemeClr val="dk1"/>
              </a:solidFill>
              <a:latin typeface="Calibri"/>
              <a:ea typeface="Calibri"/>
              <a:cs typeface="Calibri"/>
              <a:sym typeface="Calibri"/>
            </a:endParaRPr>
          </a:p>
        </p:txBody>
      </p:sp>
      <p:sp>
        <p:nvSpPr>
          <p:cNvPr id="534" name="Google Shape;534;p13"/>
          <p:cNvSpPr/>
          <p:nvPr/>
        </p:nvSpPr>
        <p:spPr>
          <a:xfrm>
            <a:off x="6216700" y="4714280"/>
            <a:ext cx="1566714" cy="35049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3"/>
          <p:cNvSpPr/>
          <p:nvPr/>
        </p:nvSpPr>
        <p:spPr>
          <a:xfrm>
            <a:off x="6331000" y="4761905"/>
            <a:ext cx="1414314" cy="29334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F3F2F2"/>
              </a:buClr>
              <a:buSzPts val="1200"/>
              <a:buFont typeface="Archivo"/>
              <a:buNone/>
            </a:pPr>
            <a:r>
              <a:rPr b="0" i="0" lang="en-US" sz="1200" u="none" cap="none" strike="noStrike">
                <a:solidFill>
                  <a:srgbClr val="F3F2F2"/>
                </a:solidFill>
                <a:latin typeface="Archivo"/>
                <a:ea typeface="Archivo"/>
                <a:cs typeface="Archivo"/>
                <a:sym typeface="Archivo"/>
              </a:rPr>
              <a:t>Servicios de aseo ✕</a:t>
            </a:r>
            <a:endParaRPr b="0" i="0" sz="1200" u="none" cap="none" strike="noStrike">
              <a:solidFill>
                <a:schemeClr val="dk1"/>
              </a:solidFill>
              <a:latin typeface="Calibri"/>
              <a:ea typeface="Calibri"/>
              <a:cs typeface="Calibri"/>
              <a:sym typeface="Calibri"/>
            </a:endParaRPr>
          </a:p>
        </p:txBody>
      </p:sp>
      <p:sp>
        <p:nvSpPr>
          <p:cNvPr id="536" name="Google Shape;536;p13"/>
          <p:cNvSpPr/>
          <p:nvPr/>
        </p:nvSpPr>
        <p:spPr>
          <a:xfrm>
            <a:off x="7859613" y="4714280"/>
            <a:ext cx="1301502" cy="35049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7983438" y="4771430"/>
            <a:ext cx="1130052"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 Agregar rubro</a:t>
            </a:r>
            <a:endParaRPr b="0" i="0" sz="1200" u="none" cap="none" strike="noStrike">
              <a:solidFill>
                <a:schemeClr val="dk1"/>
              </a:solidFill>
              <a:latin typeface="Calibri"/>
              <a:ea typeface="Calibri"/>
              <a:cs typeface="Calibri"/>
              <a:sym typeface="Calibri"/>
            </a:endParaRPr>
          </a:p>
        </p:txBody>
      </p:sp>
      <p:sp>
        <p:nvSpPr>
          <p:cNvPr id="538" name="Google Shape;538;p13"/>
          <p:cNvSpPr/>
          <p:nvPr/>
        </p:nvSpPr>
        <p:spPr>
          <a:xfrm>
            <a:off x="11220450" y="4431432"/>
            <a:ext cx="655891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REGIONES</a:t>
            </a:r>
            <a:endParaRPr b="0" i="0" sz="1050" u="none" cap="none" strike="noStrike">
              <a:solidFill>
                <a:schemeClr val="dk1"/>
              </a:solidFill>
              <a:latin typeface="Calibri"/>
              <a:ea typeface="Calibri"/>
              <a:cs typeface="Calibri"/>
              <a:sym typeface="Calibri"/>
            </a:endParaRPr>
          </a:p>
        </p:txBody>
      </p:sp>
      <p:sp>
        <p:nvSpPr>
          <p:cNvPr id="539" name="Google Shape;539;p13"/>
          <p:cNvSpPr/>
          <p:nvPr/>
        </p:nvSpPr>
        <p:spPr>
          <a:xfrm>
            <a:off x="11220450" y="4714280"/>
            <a:ext cx="1161157" cy="35049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3"/>
          <p:cNvSpPr/>
          <p:nvPr/>
        </p:nvSpPr>
        <p:spPr>
          <a:xfrm>
            <a:off x="11334750" y="4761905"/>
            <a:ext cx="1008757" cy="29334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F3F2F2"/>
              </a:buClr>
              <a:buSzPts val="1200"/>
              <a:buFont typeface="Archivo"/>
              <a:buNone/>
            </a:pPr>
            <a:r>
              <a:rPr b="0" i="0" lang="en-US" sz="1200" u="none" cap="none" strike="noStrike">
                <a:solidFill>
                  <a:srgbClr val="F3F2F2"/>
                </a:solidFill>
                <a:latin typeface="Archivo"/>
                <a:ea typeface="Archivo"/>
                <a:cs typeface="Archivo"/>
                <a:sym typeface="Archivo"/>
              </a:rPr>
              <a:t>Metropolitana</a:t>
            </a:r>
            <a:endParaRPr b="0" i="0" sz="1200" u="none" cap="none" strike="noStrike">
              <a:solidFill>
                <a:schemeClr val="dk1"/>
              </a:solidFill>
              <a:latin typeface="Calibri"/>
              <a:ea typeface="Calibri"/>
              <a:cs typeface="Calibri"/>
              <a:sym typeface="Calibri"/>
            </a:endParaRPr>
          </a:p>
        </p:txBody>
      </p:sp>
      <p:sp>
        <p:nvSpPr>
          <p:cNvPr id="541" name="Google Shape;541;p13"/>
          <p:cNvSpPr/>
          <p:nvPr/>
        </p:nvSpPr>
        <p:spPr>
          <a:xfrm>
            <a:off x="12457807" y="4714280"/>
            <a:ext cx="937915" cy="35049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3"/>
          <p:cNvSpPr/>
          <p:nvPr/>
        </p:nvSpPr>
        <p:spPr>
          <a:xfrm>
            <a:off x="12572107" y="4761905"/>
            <a:ext cx="785515" cy="29334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F3F2F2"/>
              </a:buClr>
              <a:buSzPts val="1200"/>
              <a:buFont typeface="Archivo"/>
              <a:buNone/>
            </a:pPr>
            <a:r>
              <a:rPr b="0" i="0" lang="en-US" sz="1200" u="none" cap="none" strike="noStrike">
                <a:solidFill>
                  <a:srgbClr val="F3F2F2"/>
                </a:solidFill>
                <a:latin typeface="Archivo"/>
                <a:ea typeface="Archivo"/>
                <a:cs typeface="Archivo"/>
                <a:sym typeface="Archivo"/>
              </a:rPr>
              <a:t>Valparaíso</a:t>
            </a:r>
            <a:endParaRPr b="0" i="0" sz="1200" u="none" cap="none" strike="noStrike">
              <a:solidFill>
                <a:schemeClr val="dk1"/>
              </a:solidFill>
              <a:latin typeface="Calibri"/>
              <a:ea typeface="Calibri"/>
              <a:cs typeface="Calibri"/>
              <a:sym typeface="Calibri"/>
            </a:endParaRPr>
          </a:p>
        </p:txBody>
      </p:sp>
      <p:sp>
        <p:nvSpPr>
          <p:cNvPr id="543" name="Google Shape;543;p13"/>
          <p:cNvSpPr/>
          <p:nvPr/>
        </p:nvSpPr>
        <p:spPr>
          <a:xfrm>
            <a:off x="13471922" y="4714280"/>
            <a:ext cx="682749" cy="35049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3"/>
          <p:cNvSpPr/>
          <p:nvPr/>
        </p:nvSpPr>
        <p:spPr>
          <a:xfrm>
            <a:off x="13595747" y="4771430"/>
            <a:ext cx="511299"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Biobío</a:t>
            </a:r>
            <a:endParaRPr b="0" i="0" sz="1200" u="none" cap="none" strike="noStrike">
              <a:solidFill>
                <a:schemeClr val="dk1"/>
              </a:solidFill>
              <a:latin typeface="Calibri"/>
              <a:ea typeface="Calibri"/>
              <a:cs typeface="Calibri"/>
              <a:sym typeface="Calibri"/>
            </a:endParaRPr>
          </a:p>
        </p:txBody>
      </p:sp>
      <p:sp>
        <p:nvSpPr>
          <p:cNvPr id="545" name="Google Shape;545;p13"/>
          <p:cNvSpPr/>
          <p:nvPr/>
        </p:nvSpPr>
        <p:spPr>
          <a:xfrm>
            <a:off x="14230871" y="4714280"/>
            <a:ext cx="1505694" cy="35049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3"/>
          <p:cNvSpPr/>
          <p:nvPr/>
        </p:nvSpPr>
        <p:spPr>
          <a:xfrm>
            <a:off x="14354696" y="4771430"/>
            <a:ext cx="1334244"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Todas las regiones</a:t>
            </a:r>
            <a:endParaRPr b="0" i="0" sz="1200" u="none" cap="none" strike="noStrike">
              <a:solidFill>
                <a:schemeClr val="dk1"/>
              </a:solidFill>
              <a:latin typeface="Calibri"/>
              <a:ea typeface="Calibri"/>
              <a:cs typeface="Calibri"/>
              <a:sym typeface="Calibri"/>
            </a:endParaRPr>
          </a:p>
        </p:txBody>
      </p:sp>
      <p:sp>
        <p:nvSpPr>
          <p:cNvPr id="547" name="Google Shape;547;p13"/>
          <p:cNvSpPr/>
          <p:nvPr/>
        </p:nvSpPr>
        <p:spPr>
          <a:xfrm>
            <a:off x="4876800" y="5255270"/>
            <a:ext cx="655891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MONTO MÍNIMO</a:t>
            </a:r>
            <a:endParaRPr b="0" i="0" sz="1050" u="none" cap="none" strike="noStrike">
              <a:solidFill>
                <a:schemeClr val="dk1"/>
              </a:solidFill>
              <a:latin typeface="Calibri"/>
              <a:ea typeface="Calibri"/>
              <a:cs typeface="Calibri"/>
              <a:sym typeface="Calibri"/>
            </a:endParaRPr>
          </a:p>
        </p:txBody>
      </p:sp>
      <p:sp>
        <p:nvSpPr>
          <p:cNvPr id="548" name="Google Shape;548;p13"/>
          <p:cNvSpPr/>
          <p:nvPr/>
        </p:nvSpPr>
        <p:spPr>
          <a:xfrm>
            <a:off x="4876800" y="5538118"/>
            <a:ext cx="5962650" cy="381000"/>
          </a:xfrm>
          <a:prstGeom prst="rect">
            <a:avLst/>
          </a:prstGeom>
          <a:solidFill>
            <a:srgbClr val="EAE9E9"/>
          </a:solid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3"/>
          <p:cNvSpPr/>
          <p:nvPr/>
        </p:nvSpPr>
        <p:spPr>
          <a:xfrm>
            <a:off x="5000625" y="5547643"/>
            <a:ext cx="5893880" cy="400050"/>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$0</a:t>
            </a:r>
            <a:endParaRPr b="0" i="0" sz="1275" u="none" cap="none" strike="noStrike">
              <a:solidFill>
                <a:schemeClr val="dk1"/>
              </a:solidFill>
              <a:latin typeface="Calibri"/>
              <a:ea typeface="Calibri"/>
              <a:cs typeface="Calibri"/>
              <a:sym typeface="Calibri"/>
            </a:endParaRPr>
          </a:p>
        </p:txBody>
      </p:sp>
      <p:sp>
        <p:nvSpPr>
          <p:cNvPr id="550" name="Google Shape;550;p13"/>
          <p:cNvSpPr/>
          <p:nvPr/>
        </p:nvSpPr>
        <p:spPr>
          <a:xfrm>
            <a:off x="11220450" y="5255270"/>
            <a:ext cx="655891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MONTO MÁXIMO</a:t>
            </a:r>
            <a:endParaRPr b="0" i="0" sz="1050" u="none" cap="none" strike="noStrike">
              <a:solidFill>
                <a:schemeClr val="dk1"/>
              </a:solidFill>
              <a:latin typeface="Calibri"/>
              <a:ea typeface="Calibri"/>
              <a:cs typeface="Calibri"/>
              <a:sym typeface="Calibri"/>
            </a:endParaRPr>
          </a:p>
        </p:txBody>
      </p:sp>
      <p:sp>
        <p:nvSpPr>
          <p:cNvPr id="551" name="Google Shape;551;p13"/>
          <p:cNvSpPr/>
          <p:nvPr/>
        </p:nvSpPr>
        <p:spPr>
          <a:xfrm>
            <a:off x="11220450" y="5538118"/>
            <a:ext cx="5962650" cy="381000"/>
          </a:xfrm>
          <a:prstGeom prst="rect">
            <a:avLst/>
          </a:prstGeom>
          <a:solidFill>
            <a:srgbClr val="EAE9E9"/>
          </a:solid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3"/>
          <p:cNvSpPr/>
          <p:nvPr/>
        </p:nvSpPr>
        <p:spPr>
          <a:xfrm>
            <a:off x="11344275" y="5547643"/>
            <a:ext cx="5893880" cy="400050"/>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$50.000.000</a:t>
            </a:r>
            <a:endParaRPr b="0" i="0" sz="1275" u="none" cap="none" strike="noStrike">
              <a:solidFill>
                <a:schemeClr val="dk1"/>
              </a:solidFill>
              <a:latin typeface="Calibri"/>
              <a:ea typeface="Calibri"/>
              <a:cs typeface="Calibri"/>
              <a:sym typeface="Calibri"/>
            </a:endParaRPr>
          </a:p>
        </p:txBody>
      </p:sp>
      <p:sp>
        <p:nvSpPr>
          <p:cNvPr id="553" name="Google Shape;553;p13"/>
          <p:cNvSpPr/>
          <p:nvPr/>
        </p:nvSpPr>
        <p:spPr>
          <a:xfrm>
            <a:off x="4876800" y="6109618"/>
            <a:ext cx="13536930"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PALABRAS CLAVE</a:t>
            </a:r>
            <a:endParaRPr b="0" i="0" sz="1050" u="none" cap="none" strike="noStrike">
              <a:solidFill>
                <a:schemeClr val="dk1"/>
              </a:solidFill>
              <a:latin typeface="Calibri"/>
              <a:ea typeface="Calibri"/>
              <a:cs typeface="Calibri"/>
              <a:sym typeface="Calibri"/>
            </a:endParaRPr>
          </a:p>
        </p:txBody>
      </p:sp>
      <p:sp>
        <p:nvSpPr>
          <p:cNvPr id="554" name="Google Shape;554;p13"/>
          <p:cNvSpPr/>
          <p:nvPr/>
        </p:nvSpPr>
        <p:spPr>
          <a:xfrm>
            <a:off x="4876800" y="6392466"/>
            <a:ext cx="12306300" cy="381000"/>
          </a:xfrm>
          <a:prstGeom prst="rect">
            <a:avLst/>
          </a:prstGeom>
          <a:solidFill>
            <a:srgbClr val="EAE9E9"/>
          </a:solid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3"/>
          <p:cNvSpPr/>
          <p:nvPr/>
        </p:nvSpPr>
        <p:spPr>
          <a:xfrm>
            <a:off x="5000625" y="6401991"/>
            <a:ext cx="12427839" cy="400050"/>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7D7979"/>
              </a:buClr>
              <a:buSzPts val="1275"/>
              <a:buFont typeface="Archivo"/>
              <a:buNone/>
            </a:pPr>
            <a:r>
              <a:rPr b="0" i="0" lang="en-US" sz="1275" u="none" cap="none" strike="noStrike">
                <a:solidFill>
                  <a:srgbClr val="7D7979"/>
                </a:solidFill>
                <a:latin typeface="Archivo"/>
                <a:ea typeface="Archivo"/>
                <a:cs typeface="Archivo"/>
                <a:sym typeface="Archivo"/>
              </a:rPr>
              <a:t>ej. pan, panificación, casino institucional</a:t>
            </a:r>
            <a:endParaRPr b="0" i="0" sz="1275" u="none" cap="none" strike="noStrike">
              <a:solidFill>
                <a:schemeClr val="dk1"/>
              </a:solidFill>
              <a:latin typeface="Calibri"/>
              <a:ea typeface="Calibri"/>
              <a:cs typeface="Calibri"/>
              <a:sym typeface="Calibri"/>
            </a:endParaRPr>
          </a:p>
        </p:txBody>
      </p:sp>
      <p:sp>
        <p:nvSpPr>
          <p:cNvPr id="556" name="Google Shape;556;p13"/>
          <p:cNvSpPr/>
          <p:nvPr/>
        </p:nvSpPr>
        <p:spPr>
          <a:xfrm>
            <a:off x="4876800" y="6963966"/>
            <a:ext cx="655891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FRECUENCIA DE NOTIFICACIÓN</a:t>
            </a:r>
            <a:endParaRPr b="0" i="0" sz="1050" u="none" cap="none" strike="noStrike">
              <a:solidFill>
                <a:schemeClr val="dk1"/>
              </a:solidFill>
              <a:latin typeface="Calibri"/>
              <a:ea typeface="Calibri"/>
              <a:cs typeface="Calibri"/>
              <a:sym typeface="Calibri"/>
            </a:endParaRPr>
          </a:p>
        </p:txBody>
      </p:sp>
      <p:sp>
        <p:nvSpPr>
          <p:cNvPr id="557" name="Google Shape;557;p13"/>
          <p:cNvSpPr/>
          <p:nvPr/>
        </p:nvSpPr>
        <p:spPr>
          <a:xfrm>
            <a:off x="4876800" y="7246813"/>
            <a:ext cx="5962650" cy="42669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3"/>
          <p:cNvSpPr/>
          <p:nvPr/>
        </p:nvSpPr>
        <p:spPr>
          <a:xfrm>
            <a:off x="4886325" y="7256338"/>
            <a:ext cx="1974800" cy="40764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3"/>
          <p:cNvSpPr/>
          <p:nvPr/>
        </p:nvSpPr>
        <p:spPr>
          <a:xfrm>
            <a:off x="4848225" y="7342063"/>
            <a:ext cx="2051000" cy="274290"/>
          </a:xfrm>
          <a:prstGeom prst="rect">
            <a:avLst/>
          </a:prstGeom>
          <a:noFill/>
          <a:ln>
            <a:noFill/>
          </a:ln>
        </p:spPr>
        <p:txBody>
          <a:bodyPr anchorCtr="0" anchor="t" bIns="25400" lIns="25400" spcFirstLastPara="1" rIns="25400" wrap="square" tIns="25400">
            <a:noAutofit/>
          </a:bodyPr>
          <a:lstStyle/>
          <a:p>
            <a:pPr indent="0" lvl="0" marL="0" marR="0" rtl="0" algn="ctr">
              <a:lnSpc>
                <a:spcPct val="141714"/>
              </a:lnSpc>
              <a:spcBef>
                <a:spcPts val="0"/>
              </a:spcBef>
              <a:spcAft>
                <a:spcPts val="0"/>
              </a:spcAft>
              <a:buClr>
                <a:srgbClr val="F3F2F2"/>
              </a:buClr>
              <a:buSzPts val="1200"/>
              <a:buFont typeface="Archivo"/>
              <a:buNone/>
            </a:pPr>
            <a:r>
              <a:rPr b="0" i="0" lang="en-US" sz="1200" u="none" cap="none" strike="noStrike">
                <a:solidFill>
                  <a:srgbClr val="F3F2F2"/>
                </a:solidFill>
                <a:latin typeface="Archivo"/>
                <a:ea typeface="Archivo"/>
                <a:cs typeface="Archivo"/>
                <a:sym typeface="Archivo"/>
              </a:rPr>
              <a:t>Inmediata</a:t>
            </a:r>
            <a:endParaRPr b="0" i="0" sz="1200" u="none" cap="none" strike="noStrike">
              <a:solidFill>
                <a:schemeClr val="dk1"/>
              </a:solidFill>
              <a:latin typeface="Calibri"/>
              <a:ea typeface="Calibri"/>
              <a:cs typeface="Calibri"/>
              <a:sym typeface="Calibri"/>
            </a:endParaRPr>
          </a:p>
        </p:txBody>
      </p:sp>
      <p:sp>
        <p:nvSpPr>
          <p:cNvPr id="560" name="Google Shape;560;p13"/>
          <p:cNvSpPr/>
          <p:nvPr/>
        </p:nvSpPr>
        <p:spPr>
          <a:xfrm>
            <a:off x="6861125" y="7256338"/>
            <a:ext cx="9525" cy="40764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3"/>
          <p:cNvSpPr/>
          <p:nvPr/>
        </p:nvSpPr>
        <p:spPr>
          <a:xfrm>
            <a:off x="6832550" y="7342063"/>
            <a:ext cx="2051075" cy="274290"/>
          </a:xfrm>
          <a:prstGeom prst="rect">
            <a:avLst/>
          </a:prstGeom>
          <a:noFill/>
          <a:ln>
            <a:noFill/>
          </a:ln>
        </p:spPr>
        <p:txBody>
          <a:bodyPr anchorCtr="0" anchor="t" bIns="25400" lIns="25400" spcFirstLastPara="1" rIns="25400" wrap="square" tIns="25400">
            <a:noAutofit/>
          </a:bodyPr>
          <a:lstStyle/>
          <a:p>
            <a:pPr indent="0" lvl="0" marL="0" marR="0" rtl="0" algn="ct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Resumen diario</a:t>
            </a:r>
            <a:endParaRPr b="0" i="0" sz="1200" u="none" cap="none" strike="noStrike">
              <a:solidFill>
                <a:schemeClr val="dk1"/>
              </a:solidFill>
              <a:latin typeface="Calibri"/>
              <a:ea typeface="Calibri"/>
              <a:cs typeface="Calibri"/>
              <a:sym typeface="Calibri"/>
            </a:endParaRPr>
          </a:p>
        </p:txBody>
      </p:sp>
      <p:sp>
        <p:nvSpPr>
          <p:cNvPr id="562" name="Google Shape;562;p13"/>
          <p:cNvSpPr/>
          <p:nvPr/>
        </p:nvSpPr>
        <p:spPr>
          <a:xfrm>
            <a:off x="8845525" y="7256338"/>
            <a:ext cx="9525" cy="40764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13"/>
          <p:cNvSpPr/>
          <p:nvPr/>
        </p:nvSpPr>
        <p:spPr>
          <a:xfrm>
            <a:off x="8816950" y="7342063"/>
            <a:ext cx="2051075" cy="274290"/>
          </a:xfrm>
          <a:prstGeom prst="rect">
            <a:avLst/>
          </a:prstGeom>
          <a:noFill/>
          <a:ln>
            <a:noFill/>
          </a:ln>
        </p:spPr>
        <p:txBody>
          <a:bodyPr anchorCtr="0" anchor="t" bIns="25400" lIns="25400" spcFirstLastPara="1" rIns="25400" wrap="square" tIns="25400">
            <a:noAutofit/>
          </a:bodyPr>
          <a:lstStyle/>
          <a:p>
            <a:pPr indent="0" lvl="0" marL="0" marR="0" rtl="0" algn="ctr">
              <a:lnSpc>
                <a:spcPct val="141714"/>
              </a:lnSpc>
              <a:spcBef>
                <a:spcPts val="0"/>
              </a:spcBef>
              <a:spcAft>
                <a:spcPts val="0"/>
              </a:spcAft>
              <a:buClr>
                <a:srgbClr val="201E1D"/>
              </a:buClr>
              <a:buSzPts val="1200"/>
              <a:buFont typeface="Archivo"/>
              <a:buNone/>
            </a:pPr>
            <a:r>
              <a:rPr b="0" i="0" lang="en-US" sz="1200" u="none" cap="none" strike="noStrike">
                <a:solidFill>
                  <a:srgbClr val="201E1D"/>
                </a:solidFill>
                <a:latin typeface="Archivo"/>
                <a:ea typeface="Archivo"/>
                <a:cs typeface="Archivo"/>
                <a:sym typeface="Archivo"/>
              </a:rPr>
              <a:t>Resumen semanal</a:t>
            </a:r>
            <a:endParaRPr b="0" i="0" sz="1200" u="none" cap="none" strike="noStrike">
              <a:solidFill>
                <a:schemeClr val="dk1"/>
              </a:solidFill>
              <a:latin typeface="Calibri"/>
              <a:ea typeface="Calibri"/>
              <a:cs typeface="Calibri"/>
              <a:sym typeface="Calibri"/>
            </a:endParaRPr>
          </a:p>
        </p:txBody>
      </p:sp>
      <p:sp>
        <p:nvSpPr>
          <p:cNvPr id="564" name="Google Shape;564;p13"/>
          <p:cNvSpPr/>
          <p:nvPr/>
        </p:nvSpPr>
        <p:spPr>
          <a:xfrm>
            <a:off x="11220450" y="6963966"/>
            <a:ext cx="655891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CANAL DE AVISO</a:t>
            </a:r>
            <a:endParaRPr b="0" i="0" sz="1050" u="none" cap="none" strike="noStrike">
              <a:solidFill>
                <a:schemeClr val="dk1"/>
              </a:solidFill>
              <a:latin typeface="Calibri"/>
              <a:ea typeface="Calibri"/>
              <a:cs typeface="Calibri"/>
              <a:sym typeface="Calibri"/>
            </a:endParaRPr>
          </a:p>
        </p:txBody>
      </p:sp>
      <p:sp>
        <p:nvSpPr>
          <p:cNvPr id="565" name="Google Shape;565;p13"/>
          <p:cNvSpPr/>
          <p:nvPr/>
        </p:nvSpPr>
        <p:spPr>
          <a:xfrm>
            <a:off x="11220450" y="7351588"/>
            <a:ext cx="152400" cy="152400"/>
          </a:xfrm>
          <a:prstGeom prst="ellipse">
            <a:avLst/>
          </a:prstGeom>
          <a:solidFill>
            <a:srgbClr val="EC3013"/>
          </a:solidFill>
          <a:ln cap="flat" cmpd="sng" w="14275">
            <a:solidFill>
              <a:srgbClr val="EC30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3"/>
          <p:cNvSpPr/>
          <p:nvPr/>
        </p:nvSpPr>
        <p:spPr>
          <a:xfrm>
            <a:off x="11458575" y="7335664"/>
            <a:ext cx="1400994" cy="214313"/>
          </a:xfrm>
          <a:prstGeom prst="rect">
            <a:avLst/>
          </a:prstGeom>
          <a:noFill/>
          <a:ln>
            <a:noFill/>
          </a:ln>
        </p:spPr>
        <p:txBody>
          <a:bodyPr anchorCtr="0" anchor="t" bIns="0" lIns="0" spcFirstLastPara="1" rIns="0" wrap="square" tIns="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Correo electrónico</a:t>
            </a:r>
            <a:endParaRPr b="0" i="0" sz="1275" u="none" cap="none" strike="noStrike">
              <a:solidFill>
                <a:schemeClr val="dk1"/>
              </a:solidFill>
              <a:latin typeface="Calibri"/>
              <a:ea typeface="Calibri"/>
              <a:cs typeface="Calibri"/>
              <a:sym typeface="Calibri"/>
            </a:endParaRPr>
          </a:p>
        </p:txBody>
      </p:sp>
      <p:sp>
        <p:nvSpPr>
          <p:cNvPr id="567" name="Google Shape;567;p13"/>
          <p:cNvSpPr/>
          <p:nvPr/>
        </p:nvSpPr>
        <p:spPr>
          <a:xfrm>
            <a:off x="13011969" y="7351588"/>
            <a:ext cx="152400" cy="152400"/>
          </a:xfrm>
          <a:prstGeom prst="ellipse">
            <a:avLst/>
          </a:prstGeom>
          <a:noFill/>
          <a:ln cap="flat" cmpd="sng" w="1427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3"/>
          <p:cNvSpPr/>
          <p:nvPr/>
        </p:nvSpPr>
        <p:spPr>
          <a:xfrm>
            <a:off x="13250094" y="7335664"/>
            <a:ext cx="829717" cy="214313"/>
          </a:xfrm>
          <a:prstGeom prst="rect">
            <a:avLst/>
          </a:prstGeom>
          <a:noFill/>
          <a:ln>
            <a:noFill/>
          </a:ln>
        </p:spPr>
        <p:txBody>
          <a:bodyPr anchorCtr="0" anchor="t" bIns="0" lIns="0" spcFirstLastPara="1" rIns="0" wrap="square" tIns="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WhatsApp</a:t>
            </a:r>
            <a:endParaRPr b="0" i="0" sz="1275" u="none" cap="none" strike="noStrike">
              <a:solidFill>
                <a:schemeClr val="dk1"/>
              </a:solidFill>
              <a:latin typeface="Calibri"/>
              <a:ea typeface="Calibri"/>
              <a:cs typeface="Calibri"/>
              <a:sym typeface="Calibri"/>
            </a:endParaRPr>
          </a:p>
        </p:txBody>
      </p:sp>
      <p:sp>
        <p:nvSpPr>
          <p:cNvPr id="569" name="Google Shape;569;p13"/>
          <p:cNvSpPr/>
          <p:nvPr/>
        </p:nvSpPr>
        <p:spPr>
          <a:xfrm>
            <a:off x="4876800" y="9010650"/>
            <a:ext cx="1814364" cy="40005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3"/>
          <p:cNvSpPr/>
          <p:nvPr/>
        </p:nvSpPr>
        <p:spPr>
          <a:xfrm>
            <a:off x="5048250" y="9010650"/>
            <a:ext cx="1547664" cy="438150"/>
          </a:xfrm>
          <a:prstGeom prst="rect">
            <a:avLst/>
          </a:prstGeom>
          <a:noFill/>
          <a:ln>
            <a:noFill/>
          </a:ln>
        </p:spPr>
        <p:txBody>
          <a:bodyPr anchorCtr="0" anchor="ctr" bIns="25400" lIns="25400" spcFirstLastPara="1" rIns="25400" wrap="square" tIns="25400">
            <a:noAutofit/>
          </a:bodyPr>
          <a:lstStyle/>
          <a:p>
            <a:pPr indent="0" lvl="0" marL="0" marR="0" rtl="0" algn="l">
              <a:lnSpc>
                <a:spcPct val="139500"/>
              </a:lnSpc>
              <a:spcBef>
                <a:spcPts val="0"/>
              </a:spcBef>
              <a:spcAft>
                <a:spcPts val="0"/>
              </a:spcAft>
              <a:buClr>
                <a:srgbClr val="F3F2F2"/>
              </a:buClr>
              <a:buSzPts val="1350"/>
              <a:buFont typeface="Archivo"/>
              <a:buNone/>
            </a:pPr>
            <a:r>
              <a:rPr b="1" i="0" lang="en-US" sz="1350" u="none" cap="none" strike="noStrike">
                <a:solidFill>
                  <a:srgbClr val="F3F2F2"/>
                </a:solidFill>
                <a:latin typeface="Archivo"/>
                <a:ea typeface="Archivo"/>
                <a:cs typeface="Archivo"/>
                <a:sym typeface="Archivo"/>
              </a:rPr>
              <a:t>Guardar cambios</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575" name="Shape 575"/>
        <p:cNvGrpSpPr/>
        <p:nvPr/>
      </p:nvGrpSpPr>
      <p:grpSpPr>
        <a:xfrm>
          <a:off x="0" y="0"/>
          <a:ext cx="0" cy="0"/>
          <a:chOff x="0" y="0"/>
          <a:chExt cx="0" cy="0"/>
        </a:xfrm>
      </p:grpSpPr>
      <p:sp>
        <p:nvSpPr>
          <p:cNvPr id="576" name="Google Shape;576;p14"/>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06 · DESKTOP</a:t>
            </a:r>
            <a:endParaRPr b="0" i="0" sz="1800" u="none" cap="none" strike="noStrike">
              <a:solidFill>
                <a:schemeClr val="dk1"/>
              </a:solidFill>
              <a:latin typeface="Calibri"/>
              <a:ea typeface="Calibri"/>
              <a:cs typeface="Calibri"/>
              <a:sym typeface="Calibri"/>
            </a:endParaRPr>
          </a:p>
        </p:txBody>
      </p:sp>
      <p:sp>
        <p:nvSpPr>
          <p:cNvPr id="577" name="Google Shape;577;p14"/>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Historial de alertas enviadas</a:t>
            </a:r>
            <a:endParaRPr b="0" i="0" sz="4500" u="none" cap="none" strike="noStrike">
              <a:solidFill>
                <a:schemeClr val="dk1"/>
              </a:solidFill>
              <a:latin typeface="Calibri"/>
              <a:ea typeface="Calibri"/>
              <a:cs typeface="Calibri"/>
              <a:sym typeface="Calibri"/>
            </a:endParaRPr>
          </a:p>
        </p:txBody>
      </p:sp>
      <p:sp>
        <p:nvSpPr>
          <p:cNvPr id="578" name="Google Shape;578;p14"/>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4"/>
          <p:cNvSpPr/>
          <p:nvPr/>
        </p:nvSpPr>
        <p:spPr>
          <a:xfrm>
            <a:off x="838200" y="2194545"/>
            <a:ext cx="3453384" cy="153144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Cada aviso queda registrado con canal, hora y relevancia: es la trazabilidad del agente.</a:t>
            </a:r>
            <a:endParaRPr b="0" i="0" sz="2100" u="none" cap="none" strike="noStrike">
              <a:solidFill>
                <a:schemeClr val="dk1"/>
              </a:solidFill>
              <a:latin typeface="Calibri"/>
              <a:ea typeface="Calibri"/>
              <a:cs typeface="Calibri"/>
              <a:sym typeface="Calibri"/>
            </a:endParaRPr>
          </a:p>
        </p:txBody>
      </p:sp>
      <p:sp>
        <p:nvSpPr>
          <p:cNvPr id="580" name="Google Shape;580;p14"/>
          <p:cNvSpPr/>
          <p:nvPr/>
        </p:nvSpPr>
        <p:spPr>
          <a:xfrm>
            <a:off x="838200" y="3916487"/>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4"/>
          <p:cNvSpPr/>
          <p:nvPr/>
        </p:nvSpPr>
        <p:spPr>
          <a:xfrm>
            <a:off x="838200" y="4154612"/>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Evidencia medible </a:t>
            </a:r>
            <a:r>
              <a:rPr b="0" i="0" lang="en-US" sz="1875" u="none" cap="none" strike="noStrike">
                <a:solidFill>
                  <a:srgbClr val="201E1D"/>
                </a:solidFill>
                <a:latin typeface="Archivo"/>
                <a:ea typeface="Archivo"/>
                <a:cs typeface="Archivo"/>
                <a:sym typeface="Archivo"/>
              </a:rPr>
              <a:t>— con este registro se evalúa la precisión del filtrado.</a:t>
            </a:r>
            <a:endParaRPr b="0" i="0" sz="1875" u="none" cap="none" strike="noStrike">
              <a:solidFill>
                <a:schemeClr val="dk1"/>
              </a:solidFill>
              <a:latin typeface="Calibri"/>
              <a:ea typeface="Calibri"/>
              <a:cs typeface="Calibri"/>
              <a:sym typeface="Calibri"/>
            </a:endParaRPr>
          </a:p>
        </p:txBody>
      </p:sp>
      <p:sp>
        <p:nvSpPr>
          <p:cNvPr id="582" name="Google Shape;582;p14"/>
          <p:cNvSpPr/>
          <p:nvPr/>
        </p:nvSpPr>
        <p:spPr>
          <a:xfrm>
            <a:off x="4610100" y="2194545"/>
            <a:ext cx="1283970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4"/>
          <p:cNvSpPr/>
          <p:nvPr/>
        </p:nvSpPr>
        <p:spPr>
          <a:xfrm>
            <a:off x="4629150" y="2213595"/>
            <a:ext cx="12801600" cy="381000"/>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4"/>
          <p:cNvSpPr/>
          <p:nvPr/>
        </p:nvSpPr>
        <p:spPr>
          <a:xfrm>
            <a:off x="4629150" y="2575545"/>
            <a:ext cx="12801600" cy="1905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4"/>
          <p:cNvSpPr/>
          <p:nvPr/>
        </p:nvSpPr>
        <p:spPr>
          <a:xfrm>
            <a:off x="4781550" y="2342183"/>
            <a:ext cx="104775" cy="104775"/>
          </a:xfrm>
          <a:prstGeom prst="rect">
            <a:avLst/>
          </a:prstGeom>
          <a:solidFill>
            <a:srgbClr val="9B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4"/>
          <p:cNvSpPr/>
          <p:nvPr/>
        </p:nvSpPr>
        <p:spPr>
          <a:xfrm>
            <a:off x="4972050" y="2342183"/>
            <a:ext cx="104775" cy="104775"/>
          </a:xfrm>
          <a:prstGeom prst="rect">
            <a:avLst/>
          </a:prstGeom>
          <a:solidFill>
            <a:srgbClr val="BA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4"/>
          <p:cNvSpPr/>
          <p:nvPr/>
        </p:nvSpPr>
        <p:spPr>
          <a:xfrm>
            <a:off x="5162550" y="2342183"/>
            <a:ext cx="104775" cy="104775"/>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4"/>
          <p:cNvSpPr/>
          <p:nvPr/>
        </p:nvSpPr>
        <p:spPr>
          <a:xfrm>
            <a:off x="5505450" y="2276475"/>
            <a:ext cx="1931380"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app.mpwatcher.cl / alertas</a:t>
            </a:r>
            <a:endParaRPr b="0" i="0" sz="1200" u="none" cap="none" strike="noStrike">
              <a:solidFill>
                <a:schemeClr val="dk1"/>
              </a:solidFill>
              <a:latin typeface="Calibri"/>
              <a:ea typeface="Calibri"/>
              <a:cs typeface="Calibri"/>
              <a:sym typeface="Calibri"/>
            </a:endParaRPr>
          </a:p>
        </p:txBody>
      </p:sp>
      <p:sp>
        <p:nvSpPr>
          <p:cNvPr id="589" name="Google Shape;589;p14"/>
          <p:cNvSpPr/>
          <p:nvPr/>
        </p:nvSpPr>
        <p:spPr>
          <a:xfrm>
            <a:off x="4629150" y="3070845"/>
            <a:ext cx="1280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4"/>
          <p:cNvSpPr/>
          <p:nvPr/>
        </p:nvSpPr>
        <p:spPr>
          <a:xfrm>
            <a:off x="4876800" y="2677716"/>
            <a:ext cx="1236985" cy="348109"/>
          </a:xfrm>
          <a:prstGeom prst="rect">
            <a:avLst/>
          </a:prstGeom>
          <a:noFill/>
          <a:ln>
            <a:noFill/>
          </a:ln>
        </p:spPr>
        <p:txBody>
          <a:bodyPr anchorCtr="0" anchor="t" bIns="25400" lIns="25400" spcFirstLastPara="1" rIns="25400" wrap="square" tIns="25400">
            <a:noAutofit/>
          </a:bodyPr>
          <a:lstStyle/>
          <a:p>
            <a:pPr indent="0" lvl="0" marL="0" marR="0" rtl="0" algn="l">
              <a:lnSpc>
                <a:spcPct val="141522"/>
              </a:lnSpc>
              <a:spcBef>
                <a:spcPts val="0"/>
              </a:spcBef>
              <a:spcAft>
                <a:spcPts val="0"/>
              </a:spcAft>
              <a:buClr>
                <a:srgbClr val="201E1D"/>
              </a:buClr>
              <a:buSzPts val="1575"/>
              <a:buFont typeface="Archivo"/>
              <a:buNone/>
            </a:pPr>
            <a:r>
              <a:rPr b="1" i="0" lang="en-US" sz="1575" u="none" cap="none" strike="noStrike">
                <a:solidFill>
                  <a:srgbClr val="201E1D"/>
                </a:solidFill>
                <a:latin typeface="Archivo"/>
                <a:ea typeface="Archivo"/>
                <a:cs typeface="Archivo"/>
                <a:sym typeface="Archivo"/>
              </a:rPr>
              <a:t>MPWatcher</a:t>
            </a:r>
            <a:endParaRPr b="0" i="0" sz="1575" u="none" cap="none" strike="noStrike">
              <a:solidFill>
                <a:schemeClr val="dk1"/>
              </a:solidFill>
              <a:latin typeface="Calibri"/>
              <a:ea typeface="Calibri"/>
              <a:cs typeface="Calibri"/>
              <a:sym typeface="Calibri"/>
            </a:endParaRPr>
          </a:p>
        </p:txBody>
      </p:sp>
      <p:sp>
        <p:nvSpPr>
          <p:cNvPr id="591" name="Google Shape;591;p14"/>
          <p:cNvSpPr/>
          <p:nvPr/>
        </p:nvSpPr>
        <p:spPr>
          <a:xfrm>
            <a:off x="13680579" y="2699817"/>
            <a:ext cx="919832"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Dashboard</a:t>
            </a:r>
            <a:endParaRPr b="0" i="0" sz="1350" u="none" cap="none" strike="noStrike">
              <a:solidFill>
                <a:schemeClr val="dk1"/>
              </a:solidFill>
              <a:latin typeface="Calibri"/>
              <a:ea typeface="Calibri"/>
              <a:cs typeface="Calibri"/>
              <a:sym typeface="Calibri"/>
            </a:endParaRPr>
          </a:p>
        </p:txBody>
      </p:sp>
      <p:sp>
        <p:nvSpPr>
          <p:cNvPr id="592" name="Google Shape;592;p14"/>
          <p:cNvSpPr/>
          <p:nvPr/>
        </p:nvSpPr>
        <p:spPr>
          <a:xfrm>
            <a:off x="14790911" y="2699817"/>
            <a:ext cx="981596"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Licitaciones</a:t>
            </a:r>
            <a:endParaRPr b="0" i="0" sz="1350" u="none" cap="none" strike="noStrike">
              <a:solidFill>
                <a:schemeClr val="dk1"/>
              </a:solidFill>
              <a:latin typeface="Calibri"/>
              <a:ea typeface="Calibri"/>
              <a:cs typeface="Calibri"/>
              <a:sym typeface="Calibri"/>
            </a:endParaRPr>
          </a:p>
        </p:txBody>
      </p:sp>
      <p:sp>
        <p:nvSpPr>
          <p:cNvPr id="593" name="Google Shape;593;p14"/>
          <p:cNvSpPr/>
          <p:nvPr/>
        </p:nvSpPr>
        <p:spPr>
          <a:xfrm>
            <a:off x="15963007" y="2699817"/>
            <a:ext cx="641152"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EC3013"/>
              </a:buClr>
              <a:buSzPts val="1350"/>
              <a:buFont typeface="Archivo"/>
              <a:buNone/>
            </a:pPr>
            <a:r>
              <a:rPr b="1" i="0" lang="en-US" sz="1350" u="none" cap="none" strike="noStrike">
                <a:solidFill>
                  <a:srgbClr val="EC3013"/>
                </a:solidFill>
                <a:latin typeface="Archivo"/>
                <a:ea typeface="Archivo"/>
                <a:cs typeface="Archivo"/>
                <a:sym typeface="Archivo"/>
              </a:rPr>
              <a:t>Alertas</a:t>
            </a:r>
            <a:endParaRPr b="0" i="0" sz="1350" u="none" cap="none" strike="noStrike">
              <a:solidFill>
                <a:schemeClr val="dk1"/>
              </a:solidFill>
              <a:latin typeface="Calibri"/>
              <a:ea typeface="Calibri"/>
              <a:cs typeface="Calibri"/>
              <a:sym typeface="Calibri"/>
            </a:endParaRPr>
          </a:p>
        </p:txBody>
      </p:sp>
      <p:sp>
        <p:nvSpPr>
          <p:cNvPr id="594" name="Google Shape;594;p14"/>
          <p:cNvSpPr/>
          <p:nvPr/>
        </p:nvSpPr>
        <p:spPr>
          <a:xfrm>
            <a:off x="16794659" y="2699817"/>
            <a:ext cx="464641"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201E1D"/>
              </a:buClr>
              <a:buSzPts val="1350"/>
              <a:buFont typeface="Archivo"/>
              <a:buNone/>
            </a:pPr>
            <a:r>
              <a:rPr b="0" i="0" lang="en-US" sz="1350" u="none" cap="none" strike="noStrike">
                <a:solidFill>
                  <a:srgbClr val="201E1D"/>
                </a:solidFill>
                <a:latin typeface="Archivo"/>
                <a:ea typeface="Archivo"/>
                <a:cs typeface="Archivo"/>
                <a:sym typeface="Archivo"/>
              </a:rPr>
              <a:t>Perfil</a:t>
            </a:r>
            <a:endParaRPr b="0" i="0" sz="1350" u="none" cap="none" strike="noStrike">
              <a:solidFill>
                <a:schemeClr val="dk1"/>
              </a:solidFill>
              <a:latin typeface="Calibri"/>
              <a:ea typeface="Calibri"/>
              <a:cs typeface="Calibri"/>
              <a:sym typeface="Calibri"/>
            </a:endParaRPr>
          </a:p>
        </p:txBody>
      </p:sp>
      <p:sp>
        <p:nvSpPr>
          <p:cNvPr id="595" name="Google Shape;595;p14"/>
          <p:cNvSpPr/>
          <p:nvPr/>
        </p:nvSpPr>
        <p:spPr>
          <a:xfrm>
            <a:off x="4876800" y="3337545"/>
            <a:ext cx="3696839"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Alertas y notificaciones</a:t>
            </a:r>
            <a:endParaRPr b="0" i="0" sz="2250" u="none" cap="none" strike="noStrike">
              <a:solidFill>
                <a:schemeClr val="dk1"/>
              </a:solidFill>
              <a:latin typeface="Calibri"/>
              <a:ea typeface="Calibri"/>
              <a:cs typeface="Calibri"/>
              <a:sym typeface="Calibri"/>
            </a:endParaRPr>
          </a:p>
        </p:txBody>
      </p:sp>
      <p:sp>
        <p:nvSpPr>
          <p:cNvPr id="596" name="Google Shape;596;p14"/>
          <p:cNvSpPr/>
          <p:nvPr/>
        </p:nvSpPr>
        <p:spPr>
          <a:xfrm>
            <a:off x="8389962" y="3475658"/>
            <a:ext cx="738336"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3 sin leer</a:t>
            </a:r>
            <a:endParaRPr b="0" i="0" sz="1275" u="none" cap="none" strike="noStrike">
              <a:solidFill>
                <a:schemeClr val="dk1"/>
              </a:solidFill>
              <a:latin typeface="Calibri"/>
              <a:ea typeface="Calibri"/>
              <a:cs typeface="Calibri"/>
              <a:sym typeface="Calibri"/>
            </a:endParaRPr>
          </a:p>
        </p:txBody>
      </p:sp>
      <p:sp>
        <p:nvSpPr>
          <p:cNvPr id="597" name="Google Shape;597;p14"/>
          <p:cNvSpPr/>
          <p:nvPr/>
        </p:nvSpPr>
        <p:spPr>
          <a:xfrm>
            <a:off x="4876800" y="4267646"/>
            <a:ext cx="4742408"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4"/>
          <p:cNvSpPr/>
          <p:nvPr/>
        </p:nvSpPr>
        <p:spPr>
          <a:xfrm>
            <a:off x="4876800" y="4009058"/>
            <a:ext cx="4789430"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LICITACIÓN</a:t>
            </a:r>
            <a:endParaRPr b="0" i="0" sz="975" u="none" cap="none" strike="noStrike">
              <a:solidFill>
                <a:schemeClr val="dk1"/>
              </a:solidFill>
              <a:latin typeface="Calibri"/>
              <a:ea typeface="Calibri"/>
              <a:cs typeface="Calibri"/>
              <a:sym typeface="Calibri"/>
            </a:endParaRPr>
          </a:p>
        </p:txBody>
      </p:sp>
      <p:sp>
        <p:nvSpPr>
          <p:cNvPr id="599" name="Google Shape;599;p14"/>
          <p:cNvSpPr/>
          <p:nvPr/>
        </p:nvSpPr>
        <p:spPr>
          <a:xfrm>
            <a:off x="9619208" y="4267646"/>
            <a:ext cx="1606823"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4"/>
          <p:cNvSpPr/>
          <p:nvPr/>
        </p:nvSpPr>
        <p:spPr>
          <a:xfrm>
            <a:off x="9714458" y="4009058"/>
            <a:ext cx="1492523"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CANAL</a:t>
            </a:r>
            <a:endParaRPr b="0" i="0" sz="975" u="none" cap="none" strike="noStrike">
              <a:solidFill>
                <a:schemeClr val="dk1"/>
              </a:solidFill>
              <a:latin typeface="Calibri"/>
              <a:ea typeface="Calibri"/>
              <a:cs typeface="Calibri"/>
              <a:sym typeface="Calibri"/>
            </a:endParaRPr>
          </a:p>
        </p:txBody>
      </p:sp>
      <p:sp>
        <p:nvSpPr>
          <p:cNvPr id="601" name="Google Shape;601;p14"/>
          <p:cNvSpPr/>
          <p:nvPr/>
        </p:nvSpPr>
        <p:spPr>
          <a:xfrm>
            <a:off x="11226031" y="4267646"/>
            <a:ext cx="169812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4"/>
          <p:cNvSpPr/>
          <p:nvPr/>
        </p:nvSpPr>
        <p:spPr>
          <a:xfrm>
            <a:off x="11321281" y="4009058"/>
            <a:ext cx="1583829"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ENVIADA</a:t>
            </a:r>
            <a:endParaRPr b="0" i="0" sz="975" u="none" cap="none" strike="noStrike">
              <a:solidFill>
                <a:schemeClr val="dk1"/>
              </a:solidFill>
              <a:latin typeface="Calibri"/>
              <a:ea typeface="Calibri"/>
              <a:cs typeface="Calibri"/>
              <a:sym typeface="Calibri"/>
            </a:endParaRPr>
          </a:p>
        </p:txBody>
      </p:sp>
      <p:sp>
        <p:nvSpPr>
          <p:cNvPr id="603" name="Google Shape;603;p14"/>
          <p:cNvSpPr/>
          <p:nvPr/>
        </p:nvSpPr>
        <p:spPr>
          <a:xfrm>
            <a:off x="12924160" y="4267646"/>
            <a:ext cx="190068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4"/>
          <p:cNvSpPr/>
          <p:nvPr/>
        </p:nvSpPr>
        <p:spPr>
          <a:xfrm>
            <a:off x="12943210" y="4009058"/>
            <a:ext cx="1786384" cy="220489"/>
          </a:xfrm>
          <a:prstGeom prst="rect">
            <a:avLst/>
          </a:prstGeom>
          <a:noFill/>
          <a:ln>
            <a:noFill/>
          </a:ln>
        </p:spPr>
        <p:txBody>
          <a:bodyPr anchorCtr="0" anchor="ctr" bIns="25400" lIns="25400" spcFirstLastPara="1" rIns="25400" wrap="square" tIns="25400">
            <a:noAutofit/>
          </a:bodyPr>
          <a:lstStyle/>
          <a:p>
            <a:pPr indent="0" lvl="0" marL="0" marR="0" rtl="0" algn="r">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RELEVANCIA</a:t>
            </a:r>
            <a:endParaRPr b="0" i="0" sz="975" u="none" cap="none" strike="noStrike">
              <a:solidFill>
                <a:schemeClr val="dk1"/>
              </a:solidFill>
              <a:latin typeface="Calibri"/>
              <a:ea typeface="Calibri"/>
              <a:cs typeface="Calibri"/>
              <a:sym typeface="Calibri"/>
            </a:endParaRPr>
          </a:p>
        </p:txBody>
      </p:sp>
      <p:sp>
        <p:nvSpPr>
          <p:cNvPr id="605" name="Google Shape;605;p14"/>
          <p:cNvSpPr/>
          <p:nvPr/>
        </p:nvSpPr>
        <p:spPr>
          <a:xfrm>
            <a:off x="14824844" y="4267646"/>
            <a:ext cx="1471166"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4"/>
          <p:cNvSpPr/>
          <p:nvPr/>
        </p:nvSpPr>
        <p:spPr>
          <a:xfrm>
            <a:off x="14920094" y="4009058"/>
            <a:ext cx="1356866"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ESTADO</a:t>
            </a:r>
            <a:endParaRPr b="0" i="0" sz="975" u="none" cap="none" strike="noStrike">
              <a:solidFill>
                <a:schemeClr val="dk1"/>
              </a:solidFill>
              <a:latin typeface="Calibri"/>
              <a:ea typeface="Calibri"/>
              <a:cs typeface="Calibri"/>
              <a:sym typeface="Calibri"/>
            </a:endParaRPr>
          </a:p>
        </p:txBody>
      </p:sp>
      <p:sp>
        <p:nvSpPr>
          <p:cNvPr id="607" name="Google Shape;607;p14"/>
          <p:cNvSpPr/>
          <p:nvPr/>
        </p:nvSpPr>
        <p:spPr>
          <a:xfrm>
            <a:off x="16296010" y="4267646"/>
            <a:ext cx="88709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4"/>
          <p:cNvSpPr/>
          <p:nvPr/>
        </p:nvSpPr>
        <p:spPr>
          <a:xfrm>
            <a:off x="4876800" y="4770983"/>
            <a:ext cx="474240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4"/>
          <p:cNvSpPr/>
          <p:nvPr/>
        </p:nvSpPr>
        <p:spPr>
          <a:xfrm>
            <a:off x="4876800" y="4400996"/>
            <a:ext cx="4789430" cy="293787"/>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Suministro de pan y pastelería</a:t>
            </a:r>
            <a:endParaRPr b="0" i="0" sz="1275" u="none" cap="none" strike="noStrike">
              <a:solidFill>
                <a:schemeClr val="dk1"/>
              </a:solidFill>
              <a:latin typeface="Calibri"/>
              <a:ea typeface="Calibri"/>
              <a:cs typeface="Calibri"/>
              <a:sym typeface="Calibri"/>
            </a:endParaRPr>
          </a:p>
        </p:txBody>
      </p:sp>
      <p:sp>
        <p:nvSpPr>
          <p:cNvPr id="610" name="Google Shape;610;p14"/>
          <p:cNvSpPr/>
          <p:nvPr/>
        </p:nvSpPr>
        <p:spPr>
          <a:xfrm>
            <a:off x="9619208" y="4770983"/>
            <a:ext cx="160682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4"/>
          <p:cNvSpPr/>
          <p:nvPr/>
        </p:nvSpPr>
        <p:spPr>
          <a:xfrm>
            <a:off x="9714458" y="4400996"/>
            <a:ext cx="1492523" cy="293787"/>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Correo</a:t>
            </a:r>
            <a:endParaRPr b="0" i="0" sz="1275" u="none" cap="none" strike="noStrike">
              <a:solidFill>
                <a:schemeClr val="dk1"/>
              </a:solidFill>
              <a:latin typeface="Calibri"/>
              <a:ea typeface="Calibri"/>
              <a:cs typeface="Calibri"/>
              <a:sym typeface="Calibri"/>
            </a:endParaRPr>
          </a:p>
        </p:txBody>
      </p:sp>
      <p:sp>
        <p:nvSpPr>
          <p:cNvPr id="612" name="Google Shape;612;p14"/>
          <p:cNvSpPr/>
          <p:nvPr/>
        </p:nvSpPr>
        <p:spPr>
          <a:xfrm>
            <a:off x="11226031" y="4770983"/>
            <a:ext cx="169812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4"/>
          <p:cNvSpPr/>
          <p:nvPr/>
        </p:nvSpPr>
        <p:spPr>
          <a:xfrm>
            <a:off x="11321281" y="4400996"/>
            <a:ext cx="1583829" cy="293787"/>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Hoy, 09:14</a:t>
            </a:r>
            <a:endParaRPr b="0" i="0" sz="1275" u="none" cap="none" strike="noStrike">
              <a:solidFill>
                <a:schemeClr val="dk1"/>
              </a:solidFill>
              <a:latin typeface="Calibri"/>
              <a:ea typeface="Calibri"/>
              <a:cs typeface="Calibri"/>
              <a:sym typeface="Calibri"/>
            </a:endParaRPr>
          </a:p>
        </p:txBody>
      </p:sp>
      <p:sp>
        <p:nvSpPr>
          <p:cNvPr id="614" name="Google Shape;614;p14"/>
          <p:cNvSpPr/>
          <p:nvPr/>
        </p:nvSpPr>
        <p:spPr>
          <a:xfrm>
            <a:off x="12924160" y="4770983"/>
            <a:ext cx="190068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4"/>
          <p:cNvSpPr/>
          <p:nvPr/>
        </p:nvSpPr>
        <p:spPr>
          <a:xfrm>
            <a:off x="12943210" y="4400996"/>
            <a:ext cx="1786384" cy="293787"/>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92%</a:t>
            </a:r>
            <a:endParaRPr b="0" i="0" sz="1275" u="none" cap="none" strike="noStrike">
              <a:solidFill>
                <a:schemeClr val="dk1"/>
              </a:solidFill>
              <a:latin typeface="Calibri"/>
              <a:ea typeface="Calibri"/>
              <a:cs typeface="Calibri"/>
              <a:sym typeface="Calibri"/>
            </a:endParaRPr>
          </a:p>
        </p:txBody>
      </p:sp>
      <p:sp>
        <p:nvSpPr>
          <p:cNvPr id="616" name="Google Shape;616;p14"/>
          <p:cNvSpPr/>
          <p:nvPr/>
        </p:nvSpPr>
        <p:spPr>
          <a:xfrm>
            <a:off x="14824844" y="4770983"/>
            <a:ext cx="1471166"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4"/>
          <p:cNvSpPr/>
          <p:nvPr/>
        </p:nvSpPr>
        <p:spPr>
          <a:xfrm>
            <a:off x="14920094" y="4439096"/>
            <a:ext cx="673819" cy="204788"/>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4"/>
          <p:cNvSpPr/>
          <p:nvPr/>
        </p:nvSpPr>
        <p:spPr>
          <a:xfrm>
            <a:off x="15015344" y="4467671"/>
            <a:ext cx="550701" cy="18573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0" i="0" lang="en-US" sz="1050" u="none" cap="none" strike="noStrike">
                <a:solidFill>
                  <a:srgbClr val="7C1405"/>
                </a:solidFill>
                <a:latin typeface="Archivo"/>
                <a:ea typeface="Archivo"/>
                <a:cs typeface="Archivo"/>
                <a:sym typeface="Archivo"/>
              </a:rPr>
              <a:t>No leída</a:t>
            </a:r>
            <a:endParaRPr b="0" i="0" sz="1050" u="none" cap="none" strike="noStrike">
              <a:solidFill>
                <a:schemeClr val="dk1"/>
              </a:solidFill>
              <a:latin typeface="Calibri"/>
              <a:ea typeface="Calibri"/>
              <a:cs typeface="Calibri"/>
              <a:sym typeface="Calibri"/>
            </a:endParaRPr>
          </a:p>
        </p:txBody>
      </p:sp>
      <p:sp>
        <p:nvSpPr>
          <p:cNvPr id="619" name="Google Shape;619;p14"/>
          <p:cNvSpPr/>
          <p:nvPr/>
        </p:nvSpPr>
        <p:spPr>
          <a:xfrm>
            <a:off x="16296010" y="4770983"/>
            <a:ext cx="88709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4"/>
          <p:cNvSpPr/>
          <p:nvPr/>
        </p:nvSpPr>
        <p:spPr>
          <a:xfrm>
            <a:off x="16315060" y="4400996"/>
            <a:ext cx="868040" cy="293787"/>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Ver →</a:t>
            </a:r>
            <a:endParaRPr b="0" i="0" sz="1275" u="none" cap="none" strike="noStrike">
              <a:solidFill>
                <a:schemeClr val="dk1"/>
              </a:solidFill>
              <a:latin typeface="Calibri"/>
              <a:ea typeface="Calibri"/>
              <a:cs typeface="Calibri"/>
              <a:sym typeface="Calibri"/>
            </a:endParaRPr>
          </a:p>
        </p:txBody>
      </p:sp>
      <p:sp>
        <p:nvSpPr>
          <p:cNvPr id="621" name="Google Shape;621;p14"/>
          <p:cNvSpPr/>
          <p:nvPr/>
        </p:nvSpPr>
        <p:spPr>
          <a:xfrm>
            <a:off x="4876800" y="5260032"/>
            <a:ext cx="474240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4"/>
          <p:cNvSpPr/>
          <p:nvPr/>
        </p:nvSpPr>
        <p:spPr>
          <a:xfrm>
            <a:off x="4876800" y="4894808"/>
            <a:ext cx="4789430"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Convenio suministro panificación</a:t>
            </a:r>
            <a:endParaRPr b="0" i="0" sz="1275" u="none" cap="none" strike="noStrike">
              <a:solidFill>
                <a:schemeClr val="dk1"/>
              </a:solidFill>
              <a:latin typeface="Calibri"/>
              <a:ea typeface="Calibri"/>
              <a:cs typeface="Calibri"/>
              <a:sym typeface="Calibri"/>
            </a:endParaRPr>
          </a:p>
        </p:txBody>
      </p:sp>
      <p:sp>
        <p:nvSpPr>
          <p:cNvPr id="623" name="Google Shape;623;p14"/>
          <p:cNvSpPr/>
          <p:nvPr/>
        </p:nvSpPr>
        <p:spPr>
          <a:xfrm>
            <a:off x="9619208" y="5260032"/>
            <a:ext cx="160682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14"/>
          <p:cNvSpPr/>
          <p:nvPr/>
        </p:nvSpPr>
        <p:spPr>
          <a:xfrm>
            <a:off x="9714458" y="4894808"/>
            <a:ext cx="1492523"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WhatsApp</a:t>
            </a:r>
            <a:endParaRPr b="0" i="0" sz="1275" u="none" cap="none" strike="noStrike">
              <a:solidFill>
                <a:schemeClr val="dk1"/>
              </a:solidFill>
              <a:latin typeface="Calibri"/>
              <a:ea typeface="Calibri"/>
              <a:cs typeface="Calibri"/>
              <a:sym typeface="Calibri"/>
            </a:endParaRPr>
          </a:p>
        </p:txBody>
      </p:sp>
      <p:sp>
        <p:nvSpPr>
          <p:cNvPr id="625" name="Google Shape;625;p14"/>
          <p:cNvSpPr/>
          <p:nvPr/>
        </p:nvSpPr>
        <p:spPr>
          <a:xfrm>
            <a:off x="11226031" y="5260032"/>
            <a:ext cx="169812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4"/>
          <p:cNvSpPr/>
          <p:nvPr/>
        </p:nvSpPr>
        <p:spPr>
          <a:xfrm>
            <a:off x="11321281" y="4894808"/>
            <a:ext cx="1583829"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Hoy, 08:02</a:t>
            </a:r>
            <a:endParaRPr b="0" i="0" sz="1275" u="none" cap="none" strike="noStrike">
              <a:solidFill>
                <a:schemeClr val="dk1"/>
              </a:solidFill>
              <a:latin typeface="Calibri"/>
              <a:ea typeface="Calibri"/>
              <a:cs typeface="Calibri"/>
              <a:sym typeface="Calibri"/>
            </a:endParaRPr>
          </a:p>
        </p:txBody>
      </p:sp>
      <p:sp>
        <p:nvSpPr>
          <p:cNvPr id="627" name="Google Shape;627;p14"/>
          <p:cNvSpPr/>
          <p:nvPr/>
        </p:nvSpPr>
        <p:spPr>
          <a:xfrm>
            <a:off x="12924160" y="5260032"/>
            <a:ext cx="190068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4"/>
          <p:cNvSpPr/>
          <p:nvPr/>
        </p:nvSpPr>
        <p:spPr>
          <a:xfrm>
            <a:off x="12943210" y="4894808"/>
            <a:ext cx="1786384"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85%</a:t>
            </a:r>
            <a:endParaRPr b="0" i="0" sz="1275" u="none" cap="none" strike="noStrike">
              <a:solidFill>
                <a:schemeClr val="dk1"/>
              </a:solidFill>
              <a:latin typeface="Calibri"/>
              <a:ea typeface="Calibri"/>
              <a:cs typeface="Calibri"/>
              <a:sym typeface="Calibri"/>
            </a:endParaRPr>
          </a:p>
        </p:txBody>
      </p:sp>
      <p:sp>
        <p:nvSpPr>
          <p:cNvPr id="629" name="Google Shape;629;p14"/>
          <p:cNvSpPr/>
          <p:nvPr/>
        </p:nvSpPr>
        <p:spPr>
          <a:xfrm>
            <a:off x="14824844" y="5260032"/>
            <a:ext cx="1471166"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4"/>
          <p:cNvSpPr/>
          <p:nvPr/>
        </p:nvSpPr>
        <p:spPr>
          <a:xfrm>
            <a:off x="14920094" y="4928146"/>
            <a:ext cx="673819" cy="204788"/>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4"/>
          <p:cNvSpPr/>
          <p:nvPr/>
        </p:nvSpPr>
        <p:spPr>
          <a:xfrm>
            <a:off x="15015344" y="4956721"/>
            <a:ext cx="550701" cy="18573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0" i="0" lang="en-US" sz="1050" u="none" cap="none" strike="noStrike">
                <a:solidFill>
                  <a:srgbClr val="7C1405"/>
                </a:solidFill>
                <a:latin typeface="Archivo"/>
                <a:ea typeface="Archivo"/>
                <a:cs typeface="Archivo"/>
                <a:sym typeface="Archivo"/>
              </a:rPr>
              <a:t>No leída</a:t>
            </a:r>
            <a:endParaRPr b="0" i="0" sz="1050" u="none" cap="none" strike="noStrike">
              <a:solidFill>
                <a:schemeClr val="dk1"/>
              </a:solidFill>
              <a:latin typeface="Calibri"/>
              <a:ea typeface="Calibri"/>
              <a:cs typeface="Calibri"/>
              <a:sym typeface="Calibri"/>
            </a:endParaRPr>
          </a:p>
        </p:txBody>
      </p:sp>
      <p:sp>
        <p:nvSpPr>
          <p:cNvPr id="632" name="Google Shape;632;p14"/>
          <p:cNvSpPr/>
          <p:nvPr/>
        </p:nvSpPr>
        <p:spPr>
          <a:xfrm>
            <a:off x="16296010" y="5260032"/>
            <a:ext cx="88709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4"/>
          <p:cNvSpPr/>
          <p:nvPr/>
        </p:nvSpPr>
        <p:spPr>
          <a:xfrm>
            <a:off x="16315060" y="4894808"/>
            <a:ext cx="868040"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Ver →</a:t>
            </a:r>
            <a:endParaRPr b="0" i="0" sz="1275" u="none" cap="none" strike="noStrike">
              <a:solidFill>
                <a:schemeClr val="dk1"/>
              </a:solidFill>
              <a:latin typeface="Calibri"/>
              <a:ea typeface="Calibri"/>
              <a:cs typeface="Calibri"/>
              <a:sym typeface="Calibri"/>
            </a:endParaRPr>
          </a:p>
        </p:txBody>
      </p:sp>
      <p:sp>
        <p:nvSpPr>
          <p:cNvPr id="634" name="Google Shape;634;p14"/>
          <p:cNvSpPr/>
          <p:nvPr/>
        </p:nvSpPr>
        <p:spPr>
          <a:xfrm>
            <a:off x="4876800" y="5749082"/>
            <a:ext cx="474240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4"/>
          <p:cNvSpPr/>
          <p:nvPr/>
        </p:nvSpPr>
        <p:spPr>
          <a:xfrm>
            <a:off x="4876800" y="5383857"/>
            <a:ext cx="4789430"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Coffee break eventos institucionales</a:t>
            </a:r>
            <a:endParaRPr b="0" i="0" sz="1275" u="none" cap="none" strike="noStrike">
              <a:solidFill>
                <a:schemeClr val="dk1"/>
              </a:solidFill>
              <a:latin typeface="Calibri"/>
              <a:ea typeface="Calibri"/>
              <a:cs typeface="Calibri"/>
              <a:sym typeface="Calibri"/>
            </a:endParaRPr>
          </a:p>
        </p:txBody>
      </p:sp>
      <p:sp>
        <p:nvSpPr>
          <p:cNvPr id="636" name="Google Shape;636;p14"/>
          <p:cNvSpPr/>
          <p:nvPr/>
        </p:nvSpPr>
        <p:spPr>
          <a:xfrm>
            <a:off x="9619208" y="5749082"/>
            <a:ext cx="160682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4"/>
          <p:cNvSpPr/>
          <p:nvPr/>
        </p:nvSpPr>
        <p:spPr>
          <a:xfrm>
            <a:off x="9714458" y="5383857"/>
            <a:ext cx="1492523"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Correo</a:t>
            </a:r>
            <a:endParaRPr b="0" i="0" sz="1275" u="none" cap="none" strike="noStrike">
              <a:solidFill>
                <a:schemeClr val="dk1"/>
              </a:solidFill>
              <a:latin typeface="Calibri"/>
              <a:ea typeface="Calibri"/>
              <a:cs typeface="Calibri"/>
              <a:sym typeface="Calibri"/>
            </a:endParaRPr>
          </a:p>
        </p:txBody>
      </p:sp>
      <p:sp>
        <p:nvSpPr>
          <p:cNvPr id="638" name="Google Shape;638;p14"/>
          <p:cNvSpPr/>
          <p:nvPr/>
        </p:nvSpPr>
        <p:spPr>
          <a:xfrm>
            <a:off x="11226031" y="5749082"/>
            <a:ext cx="169812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4"/>
          <p:cNvSpPr/>
          <p:nvPr/>
        </p:nvSpPr>
        <p:spPr>
          <a:xfrm>
            <a:off x="11321281" y="5383857"/>
            <a:ext cx="1583829"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Ayer, 19:40</a:t>
            </a:r>
            <a:endParaRPr b="0" i="0" sz="1275" u="none" cap="none" strike="noStrike">
              <a:solidFill>
                <a:schemeClr val="dk1"/>
              </a:solidFill>
              <a:latin typeface="Calibri"/>
              <a:ea typeface="Calibri"/>
              <a:cs typeface="Calibri"/>
              <a:sym typeface="Calibri"/>
            </a:endParaRPr>
          </a:p>
        </p:txBody>
      </p:sp>
      <p:sp>
        <p:nvSpPr>
          <p:cNvPr id="640" name="Google Shape;640;p14"/>
          <p:cNvSpPr/>
          <p:nvPr/>
        </p:nvSpPr>
        <p:spPr>
          <a:xfrm>
            <a:off x="12924160" y="5749082"/>
            <a:ext cx="190068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4"/>
          <p:cNvSpPr/>
          <p:nvPr/>
        </p:nvSpPr>
        <p:spPr>
          <a:xfrm>
            <a:off x="12943210" y="5383857"/>
            <a:ext cx="1786384"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61%</a:t>
            </a:r>
            <a:endParaRPr b="0" i="0" sz="1275" u="none" cap="none" strike="noStrike">
              <a:solidFill>
                <a:schemeClr val="dk1"/>
              </a:solidFill>
              <a:latin typeface="Calibri"/>
              <a:ea typeface="Calibri"/>
              <a:cs typeface="Calibri"/>
              <a:sym typeface="Calibri"/>
            </a:endParaRPr>
          </a:p>
        </p:txBody>
      </p:sp>
      <p:sp>
        <p:nvSpPr>
          <p:cNvPr id="642" name="Google Shape;642;p14"/>
          <p:cNvSpPr/>
          <p:nvPr/>
        </p:nvSpPr>
        <p:spPr>
          <a:xfrm>
            <a:off x="14824844" y="5749082"/>
            <a:ext cx="1471166"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4"/>
          <p:cNvSpPr/>
          <p:nvPr/>
        </p:nvSpPr>
        <p:spPr>
          <a:xfrm>
            <a:off x="14920094" y="5417195"/>
            <a:ext cx="673819" cy="204788"/>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4"/>
          <p:cNvSpPr/>
          <p:nvPr/>
        </p:nvSpPr>
        <p:spPr>
          <a:xfrm>
            <a:off x="15015344" y="5445770"/>
            <a:ext cx="550701" cy="18573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7C1405"/>
              </a:buClr>
              <a:buSzPts val="1050"/>
              <a:buFont typeface="Archivo"/>
              <a:buNone/>
            </a:pPr>
            <a:r>
              <a:rPr b="0" i="0" lang="en-US" sz="1050" u="none" cap="none" strike="noStrike">
                <a:solidFill>
                  <a:srgbClr val="7C1405"/>
                </a:solidFill>
                <a:latin typeface="Archivo"/>
                <a:ea typeface="Archivo"/>
                <a:cs typeface="Archivo"/>
                <a:sym typeface="Archivo"/>
              </a:rPr>
              <a:t>No leída</a:t>
            </a:r>
            <a:endParaRPr b="0" i="0" sz="1050" u="none" cap="none" strike="noStrike">
              <a:solidFill>
                <a:schemeClr val="dk1"/>
              </a:solidFill>
              <a:latin typeface="Calibri"/>
              <a:ea typeface="Calibri"/>
              <a:cs typeface="Calibri"/>
              <a:sym typeface="Calibri"/>
            </a:endParaRPr>
          </a:p>
        </p:txBody>
      </p:sp>
      <p:sp>
        <p:nvSpPr>
          <p:cNvPr id="645" name="Google Shape;645;p14"/>
          <p:cNvSpPr/>
          <p:nvPr/>
        </p:nvSpPr>
        <p:spPr>
          <a:xfrm>
            <a:off x="16296010" y="5749082"/>
            <a:ext cx="88709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4"/>
          <p:cNvSpPr/>
          <p:nvPr/>
        </p:nvSpPr>
        <p:spPr>
          <a:xfrm>
            <a:off x="16315060" y="5383857"/>
            <a:ext cx="868040"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Ver →</a:t>
            </a:r>
            <a:endParaRPr b="0" i="0" sz="1275" u="none" cap="none" strike="noStrike">
              <a:solidFill>
                <a:schemeClr val="dk1"/>
              </a:solidFill>
              <a:latin typeface="Calibri"/>
              <a:ea typeface="Calibri"/>
              <a:cs typeface="Calibri"/>
              <a:sym typeface="Calibri"/>
            </a:endParaRPr>
          </a:p>
        </p:txBody>
      </p:sp>
      <p:sp>
        <p:nvSpPr>
          <p:cNvPr id="647" name="Google Shape;647;p14"/>
          <p:cNvSpPr/>
          <p:nvPr/>
        </p:nvSpPr>
        <p:spPr>
          <a:xfrm>
            <a:off x="4876800" y="6238131"/>
            <a:ext cx="474240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4"/>
          <p:cNvSpPr/>
          <p:nvPr/>
        </p:nvSpPr>
        <p:spPr>
          <a:xfrm>
            <a:off x="4876800" y="5872907"/>
            <a:ext cx="4789430"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Adquisición insumos de aseo</a:t>
            </a:r>
            <a:endParaRPr b="0" i="0" sz="1275" u="none" cap="none" strike="noStrike">
              <a:solidFill>
                <a:schemeClr val="dk1"/>
              </a:solidFill>
              <a:latin typeface="Calibri"/>
              <a:ea typeface="Calibri"/>
              <a:cs typeface="Calibri"/>
              <a:sym typeface="Calibri"/>
            </a:endParaRPr>
          </a:p>
        </p:txBody>
      </p:sp>
      <p:sp>
        <p:nvSpPr>
          <p:cNvPr id="649" name="Google Shape;649;p14"/>
          <p:cNvSpPr/>
          <p:nvPr/>
        </p:nvSpPr>
        <p:spPr>
          <a:xfrm>
            <a:off x="9619208" y="6238131"/>
            <a:ext cx="160682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4"/>
          <p:cNvSpPr/>
          <p:nvPr/>
        </p:nvSpPr>
        <p:spPr>
          <a:xfrm>
            <a:off x="9714458" y="5872907"/>
            <a:ext cx="1492523"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Correo</a:t>
            </a:r>
            <a:endParaRPr b="0" i="0" sz="1275" u="none" cap="none" strike="noStrike">
              <a:solidFill>
                <a:schemeClr val="dk1"/>
              </a:solidFill>
              <a:latin typeface="Calibri"/>
              <a:ea typeface="Calibri"/>
              <a:cs typeface="Calibri"/>
              <a:sym typeface="Calibri"/>
            </a:endParaRPr>
          </a:p>
        </p:txBody>
      </p:sp>
      <p:sp>
        <p:nvSpPr>
          <p:cNvPr id="651" name="Google Shape;651;p14"/>
          <p:cNvSpPr/>
          <p:nvPr/>
        </p:nvSpPr>
        <p:spPr>
          <a:xfrm>
            <a:off x="11226031" y="6238131"/>
            <a:ext cx="169812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4"/>
          <p:cNvSpPr/>
          <p:nvPr/>
        </p:nvSpPr>
        <p:spPr>
          <a:xfrm>
            <a:off x="11321281" y="5872907"/>
            <a:ext cx="1583829"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Ayer, 07:55</a:t>
            </a:r>
            <a:endParaRPr b="0" i="0" sz="1275" u="none" cap="none" strike="noStrike">
              <a:solidFill>
                <a:schemeClr val="dk1"/>
              </a:solidFill>
              <a:latin typeface="Calibri"/>
              <a:ea typeface="Calibri"/>
              <a:cs typeface="Calibri"/>
              <a:sym typeface="Calibri"/>
            </a:endParaRPr>
          </a:p>
        </p:txBody>
      </p:sp>
      <p:sp>
        <p:nvSpPr>
          <p:cNvPr id="653" name="Google Shape;653;p14"/>
          <p:cNvSpPr/>
          <p:nvPr/>
        </p:nvSpPr>
        <p:spPr>
          <a:xfrm>
            <a:off x="12924160" y="6238131"/>
            <a:ext cx="190068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4"/>
          <p:cNvSpPr/>
          <p:nvPr/>
        </p:nvSpPr>
        <p:spPr>
          <a:xfrm>
            <a:off x="12943210" y="5872907"/>
            <a:ext cx="1786384"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44%</a:t>
            </a:r>
            <a:endParaRPr b="0" i="0" sz="1275" u="none" cap="none" strike="noStrike">
              <a:solidFill>
                <a:schemeClr val="dk1"/>
              </a:solidFill>
              <a:latin typeface="Calibri"/>
              <a:ea typeface="Calibri"/>
              <a:cs typeface="Calibri"/>
              <a:sym typeface="Calibri"/>
            </a:endParaRPr>
          </a:p>
        </p:txBody>
      </p:sp>
      <p:sp>
        <p:nvSpPr>
          <p:cNvPr id="655" name="Google Shape;655;p14"/>
          <p:cNvSpPr/>
          <p:nvPr/>
        </p:nvSpPr>
        <p:spPr>
          <a:xfrm>
            <a:off x="14824844" y="6238131"/>
            <a:ext cx="1471166"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4"/>
          <p:cNvSpPr/>
          <p:nvPr/>
        </p:nvSpPr>
        <p:spPr>
          <a:xfrm>
            <a:off x="14920094" y="5906244"/>
            <a:ext cx="513308" cy="204788"/>
          </a:xfrm>
          <a:prstGeom prst="rect">
            <a:avLst/>
          </a:prstGeom>
          <a:solidFill>
            <a:srgbClr val="EA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4"/>
          <p:cNvSpPr/>
          <p:nvPr/>
        </p:nvSpPr>
        <p:spPr>
          <a:xfrm>
            <a:off x="15015344" y="5934819"/>
            <a:ext cx="374139" cy="18573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01E1D"/>
              </a:buClr>
              <a:buSzPts val="1050"/>
              <a:buFont typeface="Archivo"/>
              <a:buNone/>
            </a:pPr>
            <a:r>
              <a:rPr b="0" i="0" lang="en-US" sz="1050" u="none" cap="none" strike="noStrike">
                <a:solidFill>
                  <a:srgbClr val="201E1D"/>
                </a:solidFill>
                <a:latin typeface="Archivo"/>
                <a:ea typeface="Archivo"/>
                <a:cs typeface="Archivo"/>
                <a:sym typeface="Archivo"/>
              </a:rPr>
              <a:t>Leída</a:t>
            </a:r>
            <a:endParaRPr b="0" i="0" sz="1050" u="none" cap="none" strike="noStrike">
              <a:solidFill>
                <a:schemeClr val="dk1"/>
              </a:solidFill>
              <a:latin typeface="Calibri"/>
              <a:ea typeface="Calibri"/>
              <a:cs typeface="Calibri"/>
              <a:sym typeface="Calibri"/>
            </a:endParaRPr>
          </a:p>
        </p:txBody>
      </p:sp>
      <p:sp>
        <p:nvSpPr>
          <p:cNvPr id="658" name="Google Shape;658;p14"/>
          <p:cNvSpPr/>
          <p:nvPr/>
        </p:nvSpPr>
        <p:spPr>
          <a:xfrm>
            <a:off x="16296010" y="6238131"/>
            <a:ext cx="88709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4"/>
          <p:cNvSpPr/>
          <p:nvPr/>
        </p:nvSpPr>
        <p:spPr>
          <a:xfrm>
            <a:off x="16315060" y="5872907"/>
            <a:ext cx="868040"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Ver →</a:t>
            </a:r>
            <a:endParaRPr b="0" i="0" sz="1275" u="none" cap="none" strike="noStrike">
              <a:solidFill>
                <a:schemeClr val="dk1"/>
              </a:solidFill>
              <a:latin typeface="Calibri"/>
              <a:ea typeface="Calibri"/>
              <a:cs typeface="Calibri"/>
              <a:sym typeface="Calibri"/>
            </a:endParaRPr>
          </a:p>
        </p:txBody>
      </p:sp>
      <p:sp>
        <p:nvSpPr>
          <p:cNvPr id="660" name="Google Shape;660;p14"/>
          <p:cNvSpPr/>
          <p:nvPr/>
        </p:nvSpPr>
        <p:spPr>
          <a:xfrm>
            <a:off x="4876800" y="6727180"/>
            <a:ext cx="4742408"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4"/>
          <p:cNvSpPr/>
          <p:nvPr/>
        </p:nvSpPr>
        <p:spPr>
          <a:xfrm>
            <a:off x="4876800" y="6361956"/>
            <a:ext cx="4789430"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7D7979"/>
              </a:buClr>
              <a:buSzPts val="1275"/>
              <a:buFont typeface="Archivo"/>
              <a:buNone/>
            </a:pPr>
            <a:r>
              <a:rPr b="1" i="0" lang="en-US" sz="1275" u="none" cap="none" strike="noStrike">
                <a:solidFill>
                  <a:srgbClr val="7D7979"/>
                </a:solidFill>
                <a:latin typeface="Archivo"/>
                <a:ea typeface="Archivo"/>
                <a:cs typeface="Archivo"/>
                <a:sym typeface="Archivo"/>
              </a:rPr>
              <a:t>Mantención de áreas verdes</a:t>
            </a:r>
            <a:endParaRPr b="0" i="0" sz="1275" u="none" cap="none" strike="noStrike">
              <a:solidFill>
                <a:schemeClr val="dk1"/>
              </a:solidFill>
              <a:latin typeface="Calibri"/>
              <a:ea typeface="Calibri"/>
              <a:cs typeface="Calibri"/>
              <a:sym typeface="Calibri"/>
            </a:endParaRPr>
          </a:p>
        </p:txBody>
      </p:sp>
      <p:sp>
        <p:nvSpPr>
          <p:cNvPr id="662" name="Google Shape;662;p14"/>
          <p:cNvSpPr/>
          <p:nvPr/>
        </p:nvSpPr>
        <p:spPr>
          <a:xfrm>
            <a:off x="9619208" y="6727180"/>
            <a:ext cx="160682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4"/>
          <p:cNvSpPr/>
          <p:nvPr/>
        </p:nvSpPr>
        <p:spPr>
          <a:xfrm>
            <a:off x="9714458" y="6361956"/>
            <a:ext cx="1492523"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7D7979"/>
              </a:buClr>
              <a:buSzPts val="1275"/>
              <a:buFont typeface="Archivo"/>
              <a:buNone/>
            </a:pPr>
            <a:r>
              <a:rPr b="0" i="0" lang="en-US" sz="1275" u="none" cap="none" strike="noStrike">
                <a:solidFill>
                  <a:srgbClr val="7D7979"/>
                </a:solidFill>
                <a:latin typeface="Archivo"/>
                <a:ea typeface="Archivo"/>
                <a:cs typeface="Archivo"/>
                <a:sym typeface="Archivo"/>
              </a:rPr>
              <a:t>WhatsApp</a:t>
            </a:r>
            <a:endParaRPr b="0" i="0" sz="1275" u="none" cap="none" strike="noStrike">
              <a:solidFill>
                <a:schemeClr val="dk1"/>
              </a:solidFill>
              <a:latin typeface="Calibri"/>
              <a:ea typeface="Calibri"/>
              <a:cs typeface="Calibri"/>
              <a:sym typeface="Calibri"/>
            </a:endParaRPr>
          </a:p>
        </p:txBody>
      </p:sp>
      <p:sp>
        <p:nvSpPr>
          <p:cNvPr id="664" name="Google Shape;664;p14"/>
          <p:cNvSpPr/>
          <p:nvPr/>
        </p:nvSpPr>
        <p:spPr>
          <a:xfrm>
            <a:off x="11226031" y="6727180"/>
            <a:ext cx="169812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4"/>
          <p:cNvSpPr/>
          <p:nvPr/>
        </p:nvSpPr>
        <p:spPr>
          <a:xfrm>
            <a:off x="11321281" y="6361956"/>
            <a:ext cx="1583829"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7D7979"/>
              </a:buClr>
              <a:buSzPts val="1275"/>
              <a:buFont typeface="Archivo"/>
              <a:buNone/>
            </a:pPr>
            <a:r>
              <a:rPr b="0" i="0" lang="en-US" sz="1275" u="none" cap="none" strike="noStrike">
                <a:solidFill>
                  <a:srgbClr val="7D7979"/>
                </a:solidFill>
                <a:latin typeface="Archivo"/>
                <a:ea typeface="Archivo"/>
                <a:cs typeface="Archivo"/>
                <a:sym typeface="Archivo"/>
              </a:rPr>
              <a:t>28-08</a:t>
            </a:r>
            <a:endParaRPr b="0" i="0" sz="1275" u="none" cap="none" strike="noStrike">
              <a:solidFill>
                <a:schemeClr val="dk1"/>
              </a:solidFill>
              <a:latin typeface="Calibri"/>
              <a:ea typeface="Calibri"/>
              <a:cs typeface="Calibri"/>
              <a:sym typeface="Calibri"/>
            </a:endParaRPr>
          </a:p>
        </p:txBody>
      </p:sp>
      <p:sp>
        <p:nvSpPr>
          <p:cNvPr id="666" name="Google Shape;666;p14"/>
          <p:cNvSpPr/>
          <p:nvPr/>
        </p:nvSpPr>
        <p:spPr>
          <a:xfrm>
            <a:off x="12924160" y="6727180"/>
            <a:ext cx="190068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4"/>
          <p:cNvSpPr/>
          <p:nvPr/>
        </p:nvSpPr>
        <p:spPr>
          <a:xfrm>
            <a:off x="12943210" y="6361956"/>
            <a:ext cx="1786384"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7D7979"/>
              </a:buClr>
              <a:buSzPts val="1275"/>
              <a:buFont typeface="Archivo"/>
              <a:buNone/>
            </a:pPr>
            <a:r>
              <a:rPr b="0" i="0" lang="en-US" sz="1275" u="none" cap="none" strike="noStrike">
                <a:solidFill>
                  <a:srgbClr val="7D7979"/>
                </a:solidFill>
                <a:latin typeface="Archivo"/>
                <a:ea typeface="Archivo"/>
                <a:cs typeface="Archivo"/>
                <a:sym typeface="Archivo"/>
              </a:rPr>
              <a:t>30%</a:t>
            </a:r>
            <a:endParaRPr b="0" i="0" sz="1275" u="none" cap="none" strike="noStrike">
              <a:solidFill>
                <a:schemeClr val="dk1"/>
              </a:solidFill>
              <a:latin typeface="Calibri"/>
              <a:ea typeface="Calibri"/>
              <a:cs typeface="Calibri"/>
              <a:sym typeface="Calibri"/>
            </a:endParaRPr>
          </a:p>
        </p:txBody>
      </p:sp>
      <p:sp>
        <p:nvSpPr>
          <p:cNvPr id="668" name="Google Shape;668;p14"/>
          <p:cNvSpPr/>
          <p:nvPr/>
        </p:nvSpPr>
        <p:spPr>
          <a:xfrm>
            <a:off x="14824844" y="6727180"/>
            <a:ext cx="1471166"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4"/>
          <p:cNvSpPr/>
          <p:nvPr/>
        </p:nvSpPr>
        <p:spPr>
          <a:xfrm>
            <a:off x="14920094" y="6395293"/>
            <a:ext cx="513308" cy="204788"/>
          </a:xfrm>
          <a:prstGeom prst="rect">
            <a:avLst/>
          </a:prstGeom>
          <a:solidFill>
            <a:srgbClr val="EA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4"/>
          <p:cNvSpPr/>
          <p:nvPr/>
        </p:nvSpPr>
        <p:spPr>
          <a:xfrm>
            <a:off x="15015344" y="6423868"/>
            <a:ext cx="374139" cy="18573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201E1D"/>
              </a:buClr>
              <a:buSzPts val="1050"/>
              <a:buFont typeface="Archivo"/>
              <a:buNone/>
            </a:pPr>
            <a:r>
              <a:rPr b="0" i="0" lang="en-US" sz="1050" u="none" cap="none" strike="noStrike">
                <a:solidFill>
                  <a:srgbClr val="201E1D"/>
                </a:solidFill>
                <a:latin typeface="Archivo"/>
                <a:ea typeface="Archivo"/>
                <a:cs typeface="Archivo"/>
                <a:sym typeface="Archivo"/>
              </a:rPr>
              <a:t>Leída</a:t>
            </a:r>
            <a:endParaRPr b="0" i="0" sz="1050" u="none" cap="none" strike="noStrike">
              <a:solidFill>
                <a:schemeClr val="dk1"/>
              </a:solidFill>
              <a:latin typeface="Calibri"/>
              <a:ea typeface="Calibri"/>
              <a:cs typeface="Calibri"/>
              <a:sym typeface="Calibri"/>
            </a:endParaRPr>
          </a:p>
        </p:txBody>
      </p:sp>
      <p:sp>
        <p:nvSpPr>
          <p:cNvPr id="671" name="Google Shape;671;p14"/>
          <p:cNvSpPr/>
          <p:nvPr/>
        </p:nvSpPr>
        <p:spPr>
          <a:xfrm>
            <a:off x="16296010" y="6727180"/>
            <a:ext cx="88709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4"/>
          <p:cNvSpPr/>
          <p:nvPr/>
        </p:nvSpPr>
        <p:spPr>
          <a:xfrm>
            <a:off x="16315060" y="6361956"/>
            <a:ext cx="868040" cy="289024"/>
          </a:xfrm>
          <a:prstGeom prst="rect">
            <a:avLst/>
          </a:prstGeom>
          <a:noFill/>
          <a:ln>
            <a:noFill/>
          </a:ln>
        </p:spPr>
        <p:txBody>
          <a:bodyPr anchorCtr="0" anchor="ctr" bIns="25400" lIns="25400" spcFirstLastPara="1" rIns="25400" wrap="square" tIns="25400">
            <a:noAutofit/>
          </a:bodyPr>
          <a:lstStyle/>
          <a:p>
            <a:pPr indent="0" lvl="0" marL="0" marR="0" rtl="0" algn="r">
              <a:lnSpc>
                <a:spcPct val="142432"/>
              </a:lnSpc>
              <a:spcBef>
                <a:spcPts val="0"/>
              </a:spcBef>
              <a:spcAft>
                <a:spcPts val="0"/>
              </a:spcAft>
              <a:buClr>
                <a:srgbClr val="7D7979"/>
              </a:buClr>
              <a:buSzPts val="1275"/>
              <a:buFont typeface="Archivo"/>
              <a:buNone/>
            </a:pPr>
            <a:r>
              <a:rPr b="0" i="0" lang="en-US" sz="1275" u="none" cap="none" strike="noStrike">
                <a:solidFill>
                  <a:srgbClr val="7D7979"/>
                </a:solidFill>
                <a:latin typeface="Archivo"/>
                <a:ea typeface="Archivo"/>
                <a:cs typeface="Archivo"/>
                <a:sym typeface="Archivo"/>
              </a:rPr>
              <a:t>Ver →</a:t>
            </a:r>
            <a:endParaRPr b="0" i="0" sz="1275"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677" name="Shape 677"/>
        <p:cNvGrpSpPr/>
        <p:nvPr/>
      </p:nvGrpSpPr>
      <p:grpSpPr>
        <a:xfrm>
          <a:off x="0" y="0"/>
          <a:ext cx="0" cy="0"/>
          <a:chOff x="0" y="0"/>
          <a:chExt cx="0" cy="0"/>
        </a:xfrm>
      </p:grpSpPr>
      <p:sp>
        <p:nvSpPr>
          <p:cNvPr id="678" name="Google Shape;678;p15"/>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07 · DESKTOP · PANEL INTERNO</a:t>
            </a:r>
            <a:endParaRPr b="0" i="0" sz="1800" u="none" cap="none" strike="noStrike">
              <a:solidFill>
                <a:schemeClr val="dk1"/>
              </a:solidFill>
              <a:latin typeface="Calibri"/>
              <a:ea typeface="Calibri"/>
              <a:cs typeface="Calibri"/>
              <a:sym typeface="Calibri"/>
            </a:endParaRPr>
          </a:p>
        </p:txBody>
      </p:sp>
      <p:sp>
        <p:nvSpPr>
          <p:cNvPr id="679" name="Google Shape;679;p15"/>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Panel de operación del sistema</a:t>
            </a:r>
            <a:endParaRPr b="0" i="0" sz="4500" u="none" cap="none" strike="noStrike">
              <a:solidFill>
                <a:schemeClr val="dk1"/>
              </a:solidFill>
              <a:latin typeface="Calibri"/>
              <a:ea typeface="Calibri"/>
              <a:cs typeface="Calibri"/>
              <a:sym typeface="Calibri"/>
            </a:endParaRPr>
          </a:p>
        </p:txBody>
      </p:sp>
      <p:sp>
        <p:nvSpPr>
          <p:cNvPr id="680" name="Google Shape;680;p15"/>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5"/>
          <p:cNvSpPr/>
          <p:nvPr/>
        </p:nvSpPr>
        <p:spPr>
          <a:xfrm>
            <a:off x="838200" y="2194545"/>
            <a:ext cx="3453384" cy="153144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Vista interna del equipo: el estado de los cuatro módulos y el costo real de operar el agente.</a:t>
            </a:r>
            <a:endParaRPr b="0" i="0" sz="2100" u="none" cap="none" strike="noStrike">
              <a:solidFill>
                <a:schemeClr val="dk1"/>
              </a:solidFill>
              <a:latin typeface="Calibri"/>
              <a:ea typeface="Calibri"/>
              <a:cs typeface="Calibri"/>
              <a:sym typeface="Calibri"/>
            </a:endParaRPr>
          </a:p>
        </p:txBody>
      </p:sp>
      <p:sp>
        <p:nvSpPr>
          <p:cNvPr id="682" name="Google Shape;682;p15"/>
          <p:cNvSpPr/>
          <p:nvPr/>
        </p:nvSpPr>
        <p:spPr>
          <a:xfrm>
            <a:off x="838200" y="3916487"/>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5"/>
          <p:cNvSpPr/>
          <p:nvPr/>
        </p:nvSpPr>
        <p:spPr>
          <a:xfrm>
            <a:off x="838200" y="4154612"/>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Costo del LLM visible </a:t>
            </a:r>
            <a:r>
              <a:rPr b="0" i="0" lang="en-US" sz="1875" u="none" cap="none" strike="noStrike">
                <a:solidFill>
                  <a:srgbClr val="201E1D"/>
                </a:solidFill>
                <a:latin typeface="Archivo"/>
                <a:ea typeface="Archivo"/>
                <a:cs typeface="Archivo"/>
                <a:sym typeface="Archivo"/>
              </a:rPr>
              <a:t>— control directo del principal riesgo económico.</a:t>
            </a:r>
            <a:endParaRPr b="0" i="0" sz="1875" u="none" cap="none" strike="noStrike">
              <a:solidFill>
                <a:schemeClr val="dk1"/>
              </a:solidFill>
              <a:latin typeface="Calibri"/>
              <a:ea typeface="Calibri"/>
              <a:cs typeface="Calibri"/>
              <a:sym typeface="Calibri"/>
            </a:endParaRPr>
          </a:p>
        </p:txBody>
      </p:sp>
      <p:sp>
        <p:nvSpPr>
          <p:cNvPr id="684" name="Google Shape;684;p15"/>
          <p:cNvSpPr/>
          <p:nvPr/>
        </p:nvSpPr>
        <p:spPr>
          <a:xfrm>
            <a:off x="838200" y="5383337"/>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Módulo degradado </a:t>
            </a:r>
            <a:r>
              <a:rPr b="0" i="0" lang="en-US" sz="1875" u="none" cap="none" strike="noStrike">
                <a:solidFill>
                  <a:srgbClr val="201E1D"/>
                </a:solidFill>
                <a:latin typeface="Archivo"/>
                <a:ea typeface="Archivo"/>
                <a:cs typeface="Archivo"/>
                <a:sym typeface="Archivo"/>
              </a:rPr>
              <a:t>— el sistema se sigue operando aunque un canal falle.</a:t>
            </a:r>
            <a:endParaRPr b="0" i="0" sz="1875" u="none" cap="none" strike="noStrike">
              <a:solidFill>
                <a:schemeClr val="dk1"/>
              </a:solidFill>
              <a:latin typeface="Calibri"/>
              <a:ea typeface="Calibri"/>
              <a:cs typeface="Calibri"/>
              <a:sym typeface="Calibri"/>
            </a:endParaRPr>
          </a:p>
        </p:txBody>
      </p:sp>
      <p:sp>
        <p:nvSpPr>
          <p:cNvPr id="685" name="Google Shape;685;p15"/>
          <p:cNvSpPr/>
          <p:nvPr/>
        </p:nvSpPr>
        <p:spPr>
          <a:xfrm>
            <a:off x="4610100" y="2194545"/>
            <a:ext cx="1283970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5"/>
          <p:cNvSpPr/>
          <p:nvPr/>
        </p:nvSpPr>
        <p:spPr>
          <a:xfrm>
            <a:off x="4629150" y="2213595"/>
            <a:ext cx="12801600" cy="381000"/>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5"/>
          <p:cNvSpPr/>
          <p:nvPr/>
        </p:nvSpPr>
        <p:spPr>
          <a:xfrm>
            <a:off x="4629150" y="2575545"/>
            <a:ext cx="12801600" cy="1905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5"/>
          <p:cNvSpPr/>
          <p:nvPr/>
        </p:nvSpPr>
        <p:spPr>
          <a:xfrm>
            <a:off x="4781550" y="2342183"/>
            <a:ext cx="104775" cy="104775"/>
          </a:xfrm>
          <a:prstGeom prst="rect">
            <a:avLst/>
          </a:prstGeom>
          <a:solidFill>
            <a:srgbClr val="9B979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5"/>
          <p:cNvSpPr/>
          <p:nvPr/>
        </p:nvSpPr>
        <p:spPr>
          <a:xfrm>
            <a:off x="4972050" y="2342183"/>
            <a:ext cx="104775" cy="104775"/>
          </a:xfrm>
          <a:prstGeom prst="rect">
            <a:avLst/>
          </a:prstGeom>
          <a:solidFill>
            <a:srgbClr val="BAB6B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5"/>
          <p:cNvSpPr/>
          <p:nvPr/>
        </p:nvSpPr>
        <p:spPr>
          <a:xfrm>
            <a:off x="5162550" y="2342183"/>
            <a:ext cx="104775" cy="104775"/>
          </a:xfrm>
          <a:prstGeom prst="rect">
            <a:avLst/>
          </a:prstGeom>
          <a:solidFill>
            <a:srgbClr val="D7D3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5"/>
          <p:cNvSpPr/>
          <p:nvPr/>
        </p:nvSpPr>
        <p:spPr>
          <a:xfrm>
            <a:off x="5505450" y="2276475"/>
            <a:ext cx="2195282" cy="274290"/>
          </a:xfrm>
          <a:prstGeom prst="rect">
            <a:avLst/>
          </a:prstGeom>
          <a:noFill/>
          <a:ln>
            <a:noFill/>
          </a:ln>
        </p:spPr>
        <p:txBody>
          <a:bodyPr anchorCtr="0" anchor="t" bIns="25400" lIns="25400" spcFirstLastPara="1" rIns="25400" wrap="square" tIns="25400">
            <a:noAutofit/>
          </a:bodyPr>
          <a:lstStyle/>
          <a:p>
            <a:pPr indent="0" lvl="0" marL="0" marR="0" rtl="0" algn="l">
              <a:lnSpc>
                <a:spcPct val="141714"/>
              </a:lnSpc>
              <a:spcBef>
                <a:spcPts val="0"/>
              </a:spcBef>
              <a:spcAft>
                <a:spcPts val="0"/>
              </a:spcAft>
              <a:buClr>
                <a:srgbClr val="605D5D"/>
              </a:buClr>
              <a:buSzPts val="1200"/>
              <a:buFont typeface="Archivo"/>
              <a:buNone/>
            </a:pPr>
            <a:r>
              <a:rPr b="0" i="0" lang="en-US" sz="1200" u="none" cap="none" strike="noStrike">
                <a:solidFill>
                  <a:srgbClr val="605D5D"/>
                </a:solidFill>
                <a:latin typeface="Archivo"/>
                <a:ea typeface="Archivo"/>
                <a:cs typeface="Archivo"/>
                <a:sym typeface="Archivo"/>
              </a:rPr>
              <a:t>admin.mpwatcher.cl / sistema</a:t>
            </a:r>
            <a:endParaRPr b="0" i="0" sz="1200" u="none" cap="none" strike="noStrike">
              <a:solidFill>
                <a:schemeClr val="dk1"/>
              </a:solidFill>
              <a:latin typeface="Calibri"/>
              <a:ea typeface="Calibri"/>
              <a:cs typeface="Calibri"/>
              <a:sym typeface="Calibri"/>
            </a:endParaRPr>
          </a:p>
        </p:txBody>
      </p:sp>
      <p:sp>
        <p:nvSpPr>
          <p:cNvPr id="692" name="Google Shape;692;p15"/>
          <p:cNvSpPr/>
          <p:nvPr/>
        </p:nvSpPr>
        <p:spPr>
          <a:xfrm>
            <a:off x="4629150" y="2594595"/>
            <a:ext cx="12801600" cy="49530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5"/>
          <p:cNvSpPr/>
          <p:nvPr/>
        </p:nvSpPr>
        <p:spPr>
          <a:xfrm>
            <a:off x="4629150" y="3070845"/>
            <a:ext cx="1280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5"/>
          <p:cNvSpPr/>
          <p:nvPr/>
        </p:nvSpPr>
        <p:spPr>
          <a:xfrm>
            <a:off x="4876800" y="2677716"/>
            <a:ext cx="2140357" cy="348109"/>
          </a:xfrm>
          <a:prstGeom prst="rect">
            <a:avLst/>
          </a:prstGeom>
          <a:noFill/>
          <a:ln>
            <a:noFill/>
          </a:ln>
        </p:spPr>
        <p:txBody>
          <a:bodyPr anchorCtr="0" anchor="t" bIns="25400" lIns="25400" spcFirstLastPara="1" rIns="25400" wrap="square" tIns="25400">
            <a:noAutofit/>
          </a:bodyPr>
          <a:lstStyle/>
          <a:p>
            <a:pPr indent="0" lvl="0" marL="0" marR="0" rtl="0" algn="l">
              <a:lnSpc>
                <a:spcPct val="141522"/>
              </a:lnSpc>
              <a:spcBef>
                <a:spcPts val="0"/>
              </a:spcBef>
              <a:spcAft>
                <a:spcPts val="0"/>
              </a:spcAft>
              <a:buClr>
                <a:srgbClr val="F3F2F2"/>
              </a:buClr>
              <a:buSzPts val="1575"/>
              <a:buFont typeface="Archivo"/>
              <a:buNone/>
            </a:pPr>
            <a:r>
              <a:rPr b="1" i="0" lang="en-US" sz="1575" u="none" cap="none" strike="noStrike">
                <a:solidFill>
                  <a:srgbClr val="F3F2F2"/>
                </a:solidFill>
                <a:latin typeface="Archivo"/>
                <a:ea typeface="Archivo"/>
                <a:cs typeface="Archivo"/>
                <a:sym typeface="Archivo"/>
              </a:rPr>
              <a:t>MPWatcher · Admin</a:t>
            </a:r>
            <a:endParaRPr b="0" i="0" sz="1575" u="none" cap="none" strike="noStrike">
              <a:solidFill>
                <a:schemeClr val="dk1"/>
              </a:solidFill>
              <a:latin typeface="Calibri"/>
              <a:ea typeface="Calibri"/>
              <a:cs typeface="Calibri"/>
              <a:sym typeface="Calibri"/>
            </a:endParaRPr>
          </a:p>
        </p:txBody>
      </p:sp>
      <p:sp>
        <p:nvSpPr>
          <p:cNvPr id="695" name="Google Shape;695;p15"/>
          <p:cNvSpPr/>
          <p:nvPr/>
        </p:nvSpPr>
        <p:spPr>
          <a:xfrm>
            <a:off x="14950976" y="2699817"/>
            <a:ext cx="719510"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FF9783"/>
              </a:buClr>
              <a:buSzPts val="1350"/>
              <a:buFont typeface="Archivo"/>
              <a:buNone/>
            </a:pPr>
            <a:r>
              <a:rPr b="1" i="0" lang="en-US" sz="1350" u="none" cap="none" strike="noStrike">
                <a:solidFill>
                  <a:srgbClr val="FF9783"/>
                </a:solidFill>
                <a:latin typeface="Archivo"/>
                <a:ea typeface="Archivo"/>
                <a:cs typeface="Archivo"/>
                <a:sym typeface="Archivo"/>
              </a:rPr>
              <a:t>Sistema</a:t>
            </a:r>
            <a:endParaRPr b="0" i="0" sz="1350" u="none" cap="none" strike="noStrike">
              <a:solidFill>
                <a:schemeClr val="dk1"/>
              </a:solidFill>
              <a:latin typeface="Calibri"/>
              <a:ea typeface="Calibri"/>
              <a:cs typeface="Calibri"/>
              <a:sym typeface="Calibri"/>
            </a:endParaRPr>
          </a:p>
        </p:txBody>
      </p:sp>
      <p:sp>
        <p:nvSpPr>
          <p:cNvPr id="696" name="Google Shape;696;p15"/>
          <p:cNvSpPr/>
          <p:nvPr/>
        </p:nvSpPr>
        <p:spPr>
          <a:xfrm>
            <a:off x="15860985" y="2699817"/>
            <a:ext cx="759321"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F3F2F2"/>
              </a:buClr>
              <a:buSzPts val="1350"/>
              <a:buFont typeface="Archivo"/>
              <a:buNone/>
            </a:pPr>
            <a:r>
              <a:rPr b="0" i="0" lang="en-US" sz="1350" u="none" cap="none" strike="noStrike">
                <a:solidFill>
                  <a:srgbClr val="F3F2F2"/>
                </a:solidFill>
                <a:latin typeface="Archivo"/>
                <a:ea typeface="Archivo"/>
                <a:cs typeface="Archivo"/>
                <a:sym typeface="Archivo"/>
              </a:rPr>
              <a:t>Usuarios</a:t>
            </a:r>
            <a:endParaRPr b="0" i="0" sz="1350" u="none" cap="none" strike="noStrike">
              <a:solidFill>
                <a:schemeClr val="dk1"/>
              </a:solidFill>
              <a:latin typeface="Calibri"/>
              <a:ea typeface="Calibri"/>
              <a:cs typeface="Calibri"/>
              <a:sym typeface="Calibri"/>
            </a:endParaRPr>
          </a:p>
        </p:txBody>
      </p:sp>
      <p:sp>
        <p:nvSpPr>
          <p:cNvPr id="697" name="Google Shape;697;p15"/>
          <p:cNvSpPr/>
          <p:nvPr/>
        </p:nvSpPr>
        <p:spPr>
          <a:xfrm>
            <a:off x="16810806" y="2699817"/>
            <a:ext cx="448494" cy="303833"/>
          </a:xfrm>
          <a:prstGeom prst="rect">
            <a:avLst/>
          </a:prstGeom>
          <a:noFill/>
          <a:ln>
            <a:noFill/>
          </a:ln>
        </p:spPr>
        <p:txBody>
          <a:bodyPr anchorCtr="0" anchor="t" bIns="25400" lIns="25400" spcFirstLastPara="1" rIns="25400" wrap="square" tIns="25400">
            <a:noAutofit/>
          </a:bodyPr>
          <a:lstStyle/>
          <a:p>
            <a:pPr indent="0" lvl="0" marL="0" marR="0" rtl="0" algn="l">
              <a:lnSpc>
                <a:spcPct val="139500"/>
              </a:lnSpc>
              <a:spcBef>
                <a:spcPts val="0"/>
              </a:spcBef>
              <a:spcAft>
                <a:spcPts val="0"/>
              </a:spcAft>
              <a:buClr>
                <a:srgbClr val="F3F2F2"/>
              </a:buClr>
              <a:buSzPts val="1350"/>
              <a:buFont typeface="Archivo"/>
              <a:buNone/>
            </a:pPr>
            <a:r>
              <a:rPr b="0" i="0" lang="en-US" sz="1350" u="none" cap="none" strike="noStrike">
                <a:solidFill>
                  <a:srgbClr val="F3F2F2"/>
                </a:solidFill>
                <a:latin typeface="Archivo"/>
                <a:ea typeface="Archivo"/>
                <a:cs typeface="Archivo"/>
                <a:sym typeface="Archivo"/>
              </a:rPr>
              <a:t>Logs</a:t>
            </a:r>
            <a:endParaRPr b="0" i="0" sz="1350" u="none" cap="none" strike="noStrike">
              <a:solidFill>
                <a:schemeClr val="dk1"/>
              </a:solidFill>
              <a:latin typeface="Calibri"/>
              <a:ea typeface="Calibri"/>
              <a:cs typeface="Calibri"/>
              <a:sym typeface="Calibri"/>
            </a:endParaRPr>
          </a:p>
        </p:txBody>
      </p:sp>
      <p:sp>
        <p:nvSpPr>
          <p:cNvPr id="698" name="Google Shape;698;p15"/>
          <p:cNvSpPr/>
          <p:nvPr/>
        </p:nvSpPr>
        <p:spPr>
          <a:xfrm>
            <a:off x="4876800" y="3337545"/>
            <a:ext cx="13536930" cy="481012"/>
          </a:xfrm>
          <a:prstGeom prst="rect">
            <a:avLst/>
          </a:prstGeom>
          <a:noFill/>
          <a:ln>
            <a:noFill/>
          </a:ln>
        </p:spPr>
        <p:txBody>
          <a:bodyPr anchorCtr="0" anchor="t" bIns="25400" lIns="25400" spcFirstLastPara="1" rIns="25400" wrap="square" tIns="25400">
            <a:noAutofit/>
          </a:bodyPr>
          <a:lstStyle/>
          <a:p>
            <a:pPr indent="0" lvl="0" marL="0" marR="0" rtl="0" algn="l">
              <a:lnSpc>
                <a:spcPct val="140909"/>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Estado del sistema</a:t>
            </a:r>
            <a:endParaRPr b="0" i="0" sz="2250" u="none" cap="none" strike="noStrike">
              <a:solidFill>
                <a:schemeClr val="dk1"/>
              </a:solidFill>
              <a:latin typeface="Calibri"/>
              <a:ea typeface="Calibri"/>
              <a:cs typeface="Calibri"/>
              <a:sym typeface="Calibri"/>
            </a:endParaRPr>
          </a:p>
        </p:txBody>
      </p:sp>
      <p:sp>
        <p:nvSpPr>
          <p:cNvPr id="699" name="Google Shape;699;p15"/>
          <p:cNvSpPr/>
          <p:nvPr/>
        </p:nvSpPr>
        <p:spPr>
          <a:xfrm>
            <a:off x="4876800" y="4819576"/>
            <a:ext cx="123063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5"/>
          <p:cNvSpPr/>
          <p:nvPr/>
        </p:nvSpPr>
        <p:spPr>
          <a:xfrm>
            <a:off x="4876800" y="3970958"/>
            <a:ext cx="123063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5"/>
          <p:cNvSpPr/>
          <p:nvPr/>
        </p:nvSpPr>
        <p:spPr>
          <a:xfrm>
            <a:off x="7850981" y="3990008"/>
            <a:ext cx="9525" cy="82956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5"/>
          <p:cNvSpPr/>
          <p:nvPr/>
        </p:nvSpPr>
        <p:spPr>
          <a:xfrm>
            <a:off x="4876800" y="4123358"/>
            <a:ext cx="3062049"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ÚLTIMA SYNC API</a:t>
            </a:r>
            <a:endParaRPr b="0" i="0" sz="1050" u="none" cap="none" strike="noStrike">
              <a:solidFill>
                <a:schemeClr val="dk1"/>
              </a:solidFill>
              <a:latin typeface="Calibri"/>
              <a:ea typeface="Calibri"/>
              <a:cs typeface="Calibri"/>
              <a:sym typeface="Calibri"/>
            </a:endParaRPr>
          </a:p>
        </p:txBody>
      </p:sp>
      <p:sp>
        <p:nvSpPr>
          <p:cNvPr id="703" name="Google Shape;703;p15"/>
          <p:cNvSpPr/>
          <p:nvPr/>
        </p:nvSpPr>
        <p:spPr>
          <a:xfrm>
            <a:off x="4876800" y="4330005"/>
            <a:ext cx="3062049"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Hace 4 min</a:t>
            </a:r>
            <a:endParaRPr b="0" i="0" sz="2550" u="none" cap="none" strike="noStrike">
              <a:solidFill>
                <a:schemeClr val="dk1"/>
              </a:solidFill>
              <a:latin typeface="Calibri"/>
              <a:ea typeface="Calibri"/>
              <a:cs typeface="Calibri"/>
              <a:sym typeface="Calibri"/>
            </a:endParaRPr>
          </a:p>
        </p:txBody>
      </p:sp>
      <p:sp>
        <p:nvSpPr>
          <p:cNvPr id="704" name="Google Shape;704;p15"/>
          <p:cNvSpPr/>
          <p:nvPr/>
        </p:nvSpPr>
        <p:spPr>
          <a:xfrm>
            <a:off x="11025188" y="3990008"/>
            <a:ext cx="9525" cy="82956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5"/>
          <p:cNvSpPr/>
          <p:nvPr/>
        </p:nvSpPr>
        <p:spPr>
          <a:xfrm>
            <a:off x="8051006" y="4123358"/>
            <a:ext cx="3062049"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PROCESADAS HOY</a:t>
            </a:r>
            <a:endParaRPr b="0" i="0" sz="1050" u="none" cap="none" strike="noStrike">
              <a:solidFill>
                <a:schemeClr val="dk1"/>
              </a:solidFill>
              <a:latin typeface="Calibri"/>
              <a:ea typeface="Calibri"/>
              <a:cs typeface="Calibri"/>
              <a:sym typeface="Calibri"/>
            </a:endParaRPr>
          </a:p>
        </p:txBody>
      </p:sp>
      <p:sp>
        <p:nvSpPr>
          <p:cNvPr id="706" name="Google Shape;706;p15"/>
          <p:cNvSpPr/>
          <p:nvPr/>
        </p:nvSpPr>
        <p:spPr>
          <a:xfrm>
            <a:off x="8051006" y="4330005"/>
            <a:ext cx="3062049"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1.204</a:t>
            </a:r>
            <a:endParaRPr b="0" i="0" sz="2550" u="none" cap="none" strike="noStrike">
              <a:solidFill>
                <a:schemeClr val="dk1"/>
              </a:solidFill>
              <a:latin typeface="Calibri"/>
              <a:ea typeface="Calibri"/>
              <a:cs typeface="Calibri"/>
              <a:sym typeface="Calibri"/>
            </a:endParaRPr>
          </a:p>
        </p:txBody>
      </p:sp>
      <p:sp>
        <p:nvSpPr>
          <p:cNvPr id="707" name="Google Shape;707;p15"/>
          <p:cNvSpPr/>
          <p:nvPr/>
        </p:nvSpPr>
        <p:spPr>
          <a:xfrm>
            <a:off x="14199394" y="3990008"/>
            <a:ext cx="9525" cy="82956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5"/>
          <p:cNvSpPr/>
          <p:nvPr/>
        </p:nvSpPr>
        <p:spPr>
          <a:xfrm>
            <a:off x="11225213" y="4123358"/>
            <a:ext cx="3062049"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COSTO LLM (MES)</a:t>
            </a:r>
            <a:endParaRPr b="0" i="0" sz="1050" u="none" cap="none" strike="noStrike">
              <a:solidFill>
                <a:schemeClr val="dk1"/>
              </a:solidFill>
              <a:latin typeface="Calibri"/>
              <a:ea typeface="Calibri"/>
              <a:cs typeface="Calibri"/>
              <a:sym typeface="Calibri"/>
            </a:endParaRPr>
          </a:p>
        </p:txBody>
      </p:sp>
      <p:sp>
        <p:nvSpPr>
          <p:cNvPr id="709" name="Google Shape;709;p15"/>
          <p:cNvSpPr/>
          <p:nvPr/>
        </p:nvSpPr>
        <p:spPr>
          <a:xfrm>
            <a:off x="11225213" y="4330005"/>
            <a:ext cx="3062049"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EC3013"/>
              </a:buClr>
              <a:buSzPts val="2550"/>
              <a:buFont typeface="Archivo"/>
              <a:buNone/>
            </a:pPr>
            <a:r>
              <a:rPr b="1" i="0" lang="en-US" sz="2550" u="none" cap="none" strike="noStrike">
                <a:solidFill>
                  <a:srgbClr val="EC3013"/>
                </a:solidFill>
                <a:latin typeface="Archivo"/>
                <a:ea typeface="Archivo"/>
                <a:cs typeface="Archivo"/>
                <a:sym typeface="Archivo"/>
              </a:rPr>
              <a:t>$142.300</a:t>
            </a:r>
            <a:endParaRPr b="0" i="0" sz="2550" u="none" cap="none" strike="noStrike">
              <a:solidFill>
                <a:schemeClr val="dk1"/>
              </a:solidFill>
              <a:latin typeface="Calibri"/>
              <a:ea typeface="Calibri"/>
              <a:cs typeface="Calibri"/>
              <a:sym typeface="Calibri"/>
            </a:endParaRPr>
          </a:p>
        </p:txBody>
      </p:sp>
      <p:sp>
        <p:nvSpPr>
          <p:cNvPr id="710" name="Google Shape;710;p15"/>
          <p:cNvSpPr/>
          <p:nvPr/>
        </p:nvSpPr>
        <p:spPr>
          <a:xfrm>
            <a:off x="14399419" y="4123358"/>
            <a:ext cx="3062049"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USUARIOS ACTIVOS</a:t>
            </a:r>
            <a:endParaRPr b="0" i="0" sz="1050" u="none" cap="none" strike="noStrike">
              <a:solidFill>
                <a:schemeClr val="dk1"/>
              </a:solidFill>
              <a:latin typeface="Calibri"/>
              <a:ea typeface="Calibri"/>
              <a:cs typeface="Calibri"/>
              <a:sym typeface="Calibri"/>
            </a:endParaRPr>
          </a:p>
        </p:txBody>
      </p:sp>
      <p:sp>
        <p:nvSpPr>
          <p:cNvPr id="711" name="Google Shape;711;p15"/>
          <p:cNvSpPr/>
          <p:nvPr/>
        </p:nvSpPr>
        <p:spPr>
          <a:xfrm>
            <a:off x="14399419" y="4330005"/>
            <a:ext cx="3062049"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86</a:t>
            </a:r>
            <a:endParaRPr b="0" i="0" sz="2550" u="none" cap="none" strike="noStrike">
              <a:solidFill>
                <a:schemeClr val="dk1"/>
              </a:solidFill>
              <a:latin typeface="Calibri"/>
              <a:ea typeface="Calibri"/>
              <a:cs typeface="Calibri"/>
              <a:sym typeface="Calibri"/>
            </a:endParaRPr>
          </a:p>
        </p:txBody>
      </p:sp>
      <p:sp>
        <p:nvSpPr>
          <p:cNvPr id="712" name="Google Shape;712;p15"/>
          <p:cNvSpPr/>
          <p:nvPr/>
        </p:nvSpPr>
        <p:spPr>
          <a:xfrm>
            <a:off x="4876800" y="5029126"/>
            <a:ext cx="13536930" cy="362843"/>
          </a:xfrm>
          <a:prstGeom prst="rect">
            <a:avLst/>
          </a:prstGeom>
          <a:noFill/>
          <a:ln>
            <a:noFill/>
          </a:ln>
        </p:spPr>
        <p:txBody>
          <a:bodyPr anchorCtr="0" anchor="t" bIns="25400" lIns="25400" spcFirstLastPara="1" rIns="25400" wrap="square" tIns="25400">
            <a:noAutofit/>
          </a:bodyPr>
          <a:lstStyle/>
          <a:p>
            <a:pPr indent="0" lvl="0" marL="0" marR="0" rtl="0" algn="l">
              <a:lnSpc>
                <a:spcPct val="142083"/>
              </a:lnSpc>
              <a:spcBef>
                <a:spcPts val="0"/>
              </a:spcBef>
              <a:spcAft>
                <a:spcPts val="0"/>
              </a:spcAft>
              <a:buClr>
                <a:srgbClr val="201E1D"/>
              </a:buClr>
              <a:buSzPts val="1650"/>
              <a:buFont typeface="Archivo"/>
              <a:buNone/>
            </a:pPr>
            <a:r>
              <a:rPr b="1" i="0" lang="en-US" sz="1650" u="none" cap="none" strike="noStrike">
                <a:solidFill>
                  <a:srgbClr val="201E1D"/>
                </a:solidFill>
                <a:latin typeface="Archivo"/>
                <a:ea typeface="Archivo"/>
                <a:cs typeface="Archivo"/>
                <a:sym typeface="Archivo"/>
              </a:rPr>
              <a:t>Módulos</a:t>
            </a:r>
            <a:endParaRPr b="0" i="0" sz="1650" u="none" cap="none" strike="noStrike">
              <a:solidFill>
                <a:schemeClr val="dk1"/>
              </a:solidFill>
              <a:latin typeface="Calibri"/>
              <a:ea typeface="Calibri"/>
              <a:cs typeface="Calibri"/>
              <a:sym typeface="Calibri"/>
            </a:endParaRPr>
          </a:p>
        </p:txBody>
      </p:sp>
      <p:sp>
        <p:nvSpPr>
          <p:cNvPr id="713" name="Google Shape;713;p15"/>
          <p:cNvSpPr/>
          <p:nvPr/>
        </p:nvSpPr>
        <p:spPr>
          <a:xfrm>
            <a:off x="4876800" y="5879157"/>
            <a:ext cx="43656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5"/>
          <p:cNvSpPr/>
          <p:nvPr/>
        </p:nvSpPr>
        <p:spPr>
          <a:xfrm>
            <a:off x="4876800" y="5620569"/>
            <a:ext cx="4401369"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MÓDULO</a:t>
            </a:r>
            <a:endParaRPr b="0" i="0" sz="975" u="none" cap="none" strike="noStrike">
              <a:solidFill>
                <a:schemeClr val="dk1"/>
              </a:solidFill>
              <a:latin typeface="Calibri"/>
              <a:ea typeface="Calibri"/>
              <a:cs typeface="Calibri"/>
              <a:sym typeface="Calibri"/>
            </a:endParaRPr>
          </a:p>
        </p:txBody>
      </p:sp>
      <p:sp>
        <p:nvSpPr>
          <p:cNvPr id="715" name="Google Shape;715;p15"/>
          <p:cNvSpPr/>
          <p:nvPr/>
        </p:nvSpPr>
        <p:spPr>
          <a:xfrm>
            <a:off x="9242450" y="5879157"/>
            <a:ext cx="168793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5"/>
          <p:cNvSpPr/>
          <p:nvPr/>
        </p:nvSpPr>
        <p:spPr>
          <a:xfrm>
            <a:off x="9337700" y="5620569"/>
            <a:ext cx="1573634"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ESTADO</a:t>
            </a:r>
            <a:endParaRPr b="0" i="0" sz="975" u="none" cap="none" strike="noStrike">
              <a:solidFill>
                <a:schemeClr val="dk1"/>
              </a:solidFill>
              <a:latin typeface="Calibri"/>
              <a:ea typeface="Calibri"/>
              <a:cs typeface="Calibri"/>
              <a:sym typeface="Calibri"/>
            </a:endParaRPr>
          </a:p>
        </p:txBody>
      </p:sp>
      <p:sp>
        <p:nvSpPr>
          <p:cNvPr id="717" name="Google Shape;717;p15"/>
          <p:cNvSpPr/>
          <p:nvPr/>
        </p:nvSpPr>
        <p:spPr>
          <a:xfrm>
            <a:off x="10930384" y="5879157"/>
            <a:ext cx="2655763"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5"/>
          <p:cNvSpPr/>
          <p:nvPr/>
        </p:nvSpPr>
        <p:spPr>
          <a:xfrm>
            <a:off x="11025634" y="5620569"/>
            <a:ext cx="2544936"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ÚLTIMA EJECUCIÓN</a:t>
            </a:r>
            <a:endParaRPr b="0" i="0" sz="975" u="none" cap="none" strike="noStrike">
              <a:solidFill>
                <a:schemeClr val="dk1"/>
              </a:solidFill>
              <a:latin typeface="Calibri"/>
              <a:ea typeface="Calibri"/>
              <a:cs typeface="Calibri"/>
              <a:sym typeface="Calibri"/>
            </a:endParaRPr>
          </a:p>
        </p:txBody>
      </p:sp>
      <p:sp>
        <p:nvSpPr>
          <p:cNvPr id="719" name="Google Shape;719;p15"/>
          <p:cNvSpPr/>
          <p:nvPr/>
        </p:nvSpPr>
        <p:spPr>
          <a:xfrm>
            <a:off x="13586147" y="5879157"/>
            <a:ext cx="3596953"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5"/>
          <p:cNvSpPr/>
          <p:nvPr/>
        </p:nvSpPr>
        <p:spPr>
          <a:xfrm>
            <a:off x="13681397" y="5620569"/>
            <a:ext cx="3609611" cy="220489"/>
          </a:xfrm>
          <a:prstGeom prst="rect">
            <a:avLst/>
          </a:prstGeom>
          <a:noFill/>
          <a:ln>
            <a:noFill/>
          </a:ln>
        </p:spPr>
        <p:txBody>
          <a:bodyPr anchorCtr="0" anchor="ctr"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1" i="0" lang="en-US" sz="975" u="none" cap="none" strike="noStrike">
                <a:solidFill>
                  <a:srgbClr val="605D5D"/>
                </a:solidFill>
                <a:latin typeface="Archivo"/>
                <a:ea typeface="Archivo"/>
                <a:cs typeface="Archivo"/>
                <a:sym typeface="Archivo"/>
              </a:rPr>
              <a:t>NOTAS</a:t>
            </a:r>
            <a:endParaRPr b="0" i="0" sz="975" u="none" cap="none" strike="noStrike">
              <a:solidFill>
                <a:schemeClr val="dk1"/>
              </a:solidFill>
              <a:latin typeface="Calibri"/>
              <a:ea typeface="Calibri"/>
              <a:cs typeface="Calibri"/>
              <a:sym typeface="Calibri"/>
            </a:endParaRPr>
          </a:p>
        </p:txBody>
      </p:sp>
      <p:sp>
        <p:nvSpPr>
          <p:cNvPr id="721" name="Google Shape;721;p15"/>
          <p:cNvSpPr/>
          <p:nvPr/>
        </p:nvSpPr>
        <p:spPr>
          <a:xfrm>
            <a:off x="4876800" y="6382494"/>
            <a:ext cx="43656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5"/>
          <p:cNvSpPr/>
          <p:nvPr/>
        </p:nvSpPr>
        <p:spPr>
          <a:xfrm>
            <a:off x="4876800" y="6012507"/>
            <a:ext cx="4401369" cy="293787"/>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Ingesta API Mercado Público</a:t>
            </a:r>
            <a:endParaRPr b="0" i="0" sz="1275" u="none" cap="none" strike="noStrike">
              <a:solidFill>
                <a:schemeClr val="dk1"/>
              </a:solidFill>
              <a:latin typeface="Calibri"/>
              <a:ea typeface="Calibri"/>
              <a:cs typeface="Calibri"/>
              <a:sym typeface="Calibri"/>
            </a:endParaRPr>
          </a:p>
        </p:txBody>
      </p:sp>
      <p:sp>
        <p:nvSpPr>
          <p:cNvPr id="723" name="Google Shape;723;p15"/>
          <p:cNvSpPr/>
          <p:nvPr/>
        </p:nvSpPr>
        <p:spPr>
          <a:xfrm>
            <a:off x="9242450" y="6382494"/>
            <a:ext cx="168793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5"/>
          <p:cNvSpPr/>
          <p:nvPr/>
        </p:nvSpPr>
        <p:spPr>
          <a:xfrm>
            <a:off x="9337700" y="6012507"/>
            <a:ext cx="1573634" cy="293787"/>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Operativo</a:t>
            </a:r>
            <a:endParaRPr b="0" i="0" sz="1275" u="none" cap="none" strike="noStrike">
              <a:solidFill>
                <a:schemeClr val="dk1"/>
              </a:solidFill>
              <a:latin typeface="Calibri"/>
              <a:ea typeface="Calibri"/>
              <a:cs typeface="Calibri"/>
              <a:sym typeface="Calibri"/>
            </a:endParaRPr>
          </a:p>
        </p:txBody>
      </p:sp>
      <p:sp>
        <p:nvSpPr>
          <p:cNvPr id="725" name="Google Shape;725;p15"/>
          <p:cNvSpPr/>
          <p:nvPr/>
        </p:nvSpPr>
        <p:spPr>
          <a:xfrm>
            <a:off x="10930384" y="6382494"/>
            <a:ext cx="265576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5"/>
          <p:cNvSpPr/>
          <p:nvPr/>
        </p:nvSpPr>
        <p:spPr>
          <a:xfrm>
            <a:off x="11025634" y="6012507"/>
            <a:ext cx="2544936" cy="293787"/>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Hace 4 min</a:t>
            </a:r>
            <a:endParaRPr b="0" i="0" sz="1275" u="none" cap="none" strike="noStrike">
              <a:solidFill>
                <a:schemeClr val="dk1"/>
              </a:solidFill>
              <a:latin typeface="Calibri"/>
              <a:ea typeface="Calibri"/>
              <a:cs typeface="Calibri"/>
              <a:sym typeface="Calibri"/>
            </a:endParaRPr>
          </a:p>
        </p:txBody>
      </p:sp>
      <p:sp>
        <p:nvSpPr>
          <p:cNvPr id="727" name="Google Shape;727;p15"/>
          <p:cNvSpPr/>
          <p:nvPr/>
        </p:nvSpPr>
        <p:spPr>
          <a:xfrm>
            <a:off x="13586147" y="6382494"/>
            <a:ext cx="359695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5"/>
          <p:cNvSpPr/>
          <p:nvPr/>
        </p:nvSpPr>
        <p:spPr>
          <a:xfrm>
            <a:off x="13681397" y="6012507"/>
            <a:ext cx="3609611" cy="293787"/>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2.847 licitaciones indexadas</a:t>
            </a:r>
            <a:endParaRPr b="0" i="0" sz="1275" u="none" cap="none" strike="noStrike">
              <a:solidFill>
                <a:schemeClr val="dk1"/>
              </a:solidFill>
              <a:latin typeface="Calibri"/>
              <a:ea typeface="Calibri"/>
              <a:cs typeface="Calibri"/>
              <a:sym typeface="Calibri"/>
            </a:endParaRPr>
          </a:p>
        </p:txBody>
      </p:sp>
      <p:sp>
        <p:nvSpPr>
          <p:cNvPr id="729" name="Google Shape;729;p15"/>
          <p:cNvSpPr/>
          <p:nvPr/>
        </p:nvSpPr>
        <p:spPr>
          <a:xfrm>
            <a:off x="4876800" y="6871543"/>
            <a:ext cx="43656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5"/>
          <p:cNvSpPr/>
          <p:nvPr/>
        </p:nvSpPr>
        <p:spPr>
          <a:xfrm>
            <a:off x="4876800" y="6506319"/>
            <a:ext cx="4401369"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Extracción PDF complementaria</a:t>
            </a:r>
            <a:endParaRPr b="0" i="0" sz="1275" u="none" cap="none" strike="noStrike">
              <a:solidFill>
                <a:schemeClr val="dk1"/>
              </a:solidFill>
              <a:latin typeface="Calibri"/>
              <a:ea typeface="Calibri"/>
              <a:cs typeface="Calibri"/>
              <a:sym typeface="Calibri"/>
            </a:endParaRPr>
          </a:p>
        </p:txBody>
      </p:sp>
      <p:sp>
        <p:nvSpPr>
          <p:cNvPr id="731" name="Google Shape;731;p15"/>
          <p:cNvSpPr/>
          <p:nvPr/>
        </p:nvSpPr>
        <p:spPr>
          <a:xfrm>
            <a:off x="9242450" y="6871543"/>
            <a:ext cx="168793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15"/>
          <p:cNvSpPr/>
          <p:nvPr/>
        </p:nvSpPr>
        <p:spPr>
          <a:xfrm>
            <a:off x="9337700" y="6506319"/>
            <a:ext cx="1573634"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Operativo</a:t>
            </a:r>
            <a:endParaRPr b="0" i="0" sz="1275" u="none" cap="none" strike="noStrike">
              <a:solidFill>
                <a:schemeClr val="dk1"/>
              </a:solidFill>
              <a:latin typeface="Calibri"/>
              <a:ea typeface="Calibri"/>
              <a:cs typeface="Calibri"/>
              <a:sym typeface="Calibri"/>
            </a:endParaRPr>
          </a:p>
        </p:txBody>
      </p:sp>
      <p:sp>
        <p:nvSpPr>
          <p:cNvPr id="733" name="Google Shape;733;p15"/>
          <p:cNvSpPr/>
          <p:nvPr/>
        </p:nvSpPr>
        <p:spPr>
          <a:xfrm>
            <a:off x="10930384" y="6871543"/>
            <a:ext cx="265576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15"/>
          <p:cNvSpPr/>
          <p:nvPr/>
        </p:nvSpPr>
        <p:spPr>
          <a:xfrm>
            <a:off x="11025634" y="6506319"/>
            <a:ext cx="2544936"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Hace 22 min</a:t>
            </a:r>
            <a:endParaRPr b="0" i="0" sz="1275" u="none" cap="none" strike="noStrike">
              <a:solidFill>
                <a:schemeClr val="dk1"/>
              </a:solidFill>
              <a:latin typeface="Calibri"/>
              <a:ea typeface="Calibri"/>
              <a:cs typeface="Calibri"/>
              <a:sym typeface="Calibri"/>
            </a:endParaRPr>
          </a:p>
        </p:txBody>
      </p:sp>
      <p:sp>
        <p:nvSpPr>
          <p:cNvPr id="735" name="Google Shape;735;p15"/>
          <p:cNvSpPr/>
          <p:nvPr/>
        </p:nvSpPr>
        <p:spPr>
          <a:xfrm>
            <a:off x="13586147" y="6871543"/>
            <a:ext cx="359695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5"/>
          <p:cNvSpPr/>
          <p:nvPr/>
        </p:nvSpPr>
        <p:spPr>
          <a:xfrm>
            <a:off x="13681397" y="6506319"/>
            <a:ext cx="3609611"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a:t>
            </a:r>
            <a:endParaRPr b="0" i="0" sz="1275" u="none" cap="none" strike="noStrike">
              <a:solidFill>
                <a:schemeClr val="dk1"/>
              </a:solidFill>
              <a:latin typeface="Calibri"/>
              <a:ea typeface="Calibri"/>
              <a:cs typeface="Calibri"/>
              <a:sym typeface="Calibri"/>
            </a:endParaRPr>
          </a:p>
        </p:txBody>
      </p:sp>
      <p:sp>
        <p:nvSpPr>
          <p:cNvPr id="737" name="Google Shape;737;p15"/>
          <p:cNvSpPr/>
          <p:nvPr/>
        </p:nvSpPr>
        <p:spPr>
          <a:xfrm>
            <a:off x="4876800" y="7360593"/>
            <a:ext cx="43656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5"/>
          <p:cNvSpPr/>
          <p:nvPr/>
        </p:nvSpPr>
        <p:spPr>
          <a:xfrm>
            <a:off x="4876800" y="6995368"/>
            <a:ext cx="4401369"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Clasificación y resumen LLM</a:t>
            </a:r>
            <a:endParaRPr b="0" i="0" sz="1275" u="none" cap="none" strike="noStrike">
              <a:solidFill>
                <a:schemeClr val="dk1"/>
              </a:solidFill>
              <a:latin typeface="Calibri"/>
              <a:ea typeface="Calibri"/>
              <a:cs typeface="Calibri"/>
              <a:sym typeface="Calibri"/>
            </a:endParaRPr>
          </a:p>
        </p:txBody>
      </p:sp>
      <p:sp>
        <p:nvSpPr>
          <p:cNvPr id="739" name="Google Shape;739;p15"/>
          <p:cNvSpPr/>
          <p:nvPr/>
        </p:nvSpPr>
        <p:spPr>
          <a:xfrm>
            <a:off x="9242450" y="7360593"/>
            <a:ext cx="168793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15"/>
          <p:cNvSpPr/>
          <p:nvPr/>
        </p:nvSpPr>
        <p:spPr>
          <a:xfrm>
            <a:off x="9337700" y="6995368"/>
            <a:ext cx="1573634"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Operativo</a:t>
            </a:r>
            <a:endParaRPr b="0" i="0" sz="1275" u="none" cap="none" strike="noStrike">
              <a:solidFill>
                <a:schemeClr val="dk1"/>
              </a:solidFill>
              <a:latin typeface="Calibri"/>
              <a:ea typeface="Calibri"/>
              <a:cs typeface="Calibri"/>
              <a:sym typeface="Calibri"/>
            </a:endParaRPr>
          </a:p>
        </p:txBody>
      </p:sp>
      <p:sp>
        <p:nvSpPr>
          <p:cNvPr id="741" name="Google Shape;741;p15"/>
          <p:cNvSpPr/>
          <p:nvPr/>
        </p:nvSpPr>
        <p:spPr>
          <a:xfrm>
            <a:off x="10930384" y="7360593"/>
            <a:ext cx="265576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5"/>
          <p:cNvSpPr/>
          <p:nvPr/>
        </p:nvSpPr>
        <p:spPr>
          <a:xfrm>
            <a:off x="11025634" y="6995368"/>
            <a:ext cx="2544936"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Hace 2 min</a:t>
            </a:r>
            <a:endParaRPr b="0" i="0" sz="1275" u="none" cap="none" strike="noStrike">
              <a:solidFill>
                <a:schemeClr val="dk1"/>
              </a:solidFill>
              <a:latin typeface="Calibri"/>
              <a:ea typeface="Calibri"/>
              <a:cs typeface="Calibri"/>
              <a:sym typeface="Calibri"/>
            </a:endParaRPr>
          </a:p>
        </p:txBody>
      </p:sp>
      <p:sp>
        <p:nvSpPr>
          <p:cNvPr id="743" name="Google Shape;743;p15"/>
          <p:cNvSpPr/>
          <p:nvPr/>
        </p:nvSpPr>
        <p:spPr>
          <a:xfrm>
            <a:off x="13586147" y="7360593"/>
            <a:ext cx="359695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5"/>
          <p:cNvSpPr/>
          <p:nvPr/>
        </p:nvSpPr>
        <p:spPr>
          <a:xfrm>
            <a:off x="13681397" y="6995368"/>
            <a:ext cx="3609611"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Latencia media 1,8 s</a:t>
            </a:r>
            <a:endParaRPr b="0" i="0" sz="1275" u="none" cap="none" strike="noStrike">
              <a:solidFill>
                <a:schemeClr val="dk1"/>
              </a:solidFill>
              <a:latin typeface="Calibri"/>
              <a:ea typeface="Calibri"/>
              <a:cs typeface="Calibri"/>
              <a:sym typeface="Calibri"/>
            </a:endParaRPr>
          </a:p>
        </p:txBody>
      </p:sp>
      <p:sp>
        <p:nvSpPr>
          <p:cNvPr id="745" name="Google Shape;745;p15"/>
          <p:cNvSpPr/>
          <p:nvPr/>
        </p:nvSpPr>
        <p:spPr>
          <a:xfrm>
            <a:off x="4876800" y="7849642"/>
            <a:ext cx="43656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5"/>
          <p:cNvSpPr/>
          <p:nvPr/>
        </p:nvSpPr>
        <p:spPr>
          <a:xfrm>
            <a:off x="4876800" y="7484418"/>
            <a:ext cx="4401369"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Notificaciones (correo/WhatsApp)</a:t>
            </a:r>
            <a:endParaRPr b="0" i="0" sz="1275" u="none" cap="none" strike="noStrike">
              <a:solidFill>
                <a:schemeClr val="dk1"/>
              </a:solidFill>
              <a:latin typeface="Calibri"/>
              <a:ea typeface="Calibri"/>
              <a:cs typeface="Calibri"/>
              <a:sym typeface="Calibri"/>
            </a:endParaRPr>
          </a:p>
        </p:txBody>
      </p:sp>
      <p:sp>
        <p:nvSpPr>
          <p:cNvPr id="747" name="Google Shape;747;p15"/>
          <p:cNvSpPr/>
          <p:nvPr/>
        </p:nvSpPr>
        <p:spPr>
          <a:xfrm>
            <a:off x="9242450" y="7849642"/>
            <a:ext cx="168793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5"/>
          <p:cNvSpPr/>
          <p:nvPr/>
        </p:nvSpPr>
        <p:spPr>
          <a:xfrm>
            <a:off x="9337700" y="7484418"/>
            <a:ext cx="1573634"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Degradado</a:t>
            </a:r>
            <a:endParaRPr b="0" i="0" sz="1275" u="none" cap="none" strike="noStrike">
              <a:solidFill>
                <a:schemeClr val="dk1"/>
              </a:solidFill>
              <a:latin typeface="Calibri"/>
              <a:ea typeface="Calibri"/>
              <a:cs typeface="Calibri"/>
              <a:sym typeface="Calibri"/>
            </a:endParaRPr>
          </a:p>
        </p:txBody>
      </p:sp>
      <p:sp>
        <p:nvSpPr>
          <p:cNvPr id="749" name="Google Shape;749;p15"/>
          <p:cNvSpPr/>
          <p:nvPr/>
        </p:nvSpPr>
        <p:spPr>
          <a:xfrm>
            <a:off x="10930384" y="7849642"/>
            <a:ext cx="265576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5"/>
          <p:cNvSpPr/>
          <p:nvPr/>
        </p:nvSpPr>
        <p:spPr>
          <a:xfrm>
            <a:off x="11025634" y="7484418"/>
            <a:ext cx="2544936"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201E1D"/>
              </a:buClr>
              <a:buSzPts val="1275"/>
              <a:buFont typeface="Archivo"/>
              <a:buNone/>
            </a:pPr>
            <a:r>
              <a:rPr b="0" i="0" lang="en-US" sz="1275" u="none" cap="none" strike="noStrike">
                <a:solidFill>
                  <a:srgbClr val="201E1D"/>
                </a:solidFill>
                <a:latin typeface="Archivo"/>
                <a:ea typeface="Archivo"/>
                <a:cs typeface="Archivo"/>
                <a:sym typeface="Archivo"/>
              </a:rPr>
              <a:t>Hace 1 h</a:t>
            </a:r>
            <a:endParaRPr b="0" i="0" sz="1275" u="none" cap="none" strike="noStrike">
              <a:solidFill>
                <a:schemeClr val="dk1"/>
              </a:solidFill>
              <a:latin typeface="Calibri"/>
              <a:ea typeface="Calibri"/>
              <a:cs typeface="Calibri"/>
              <a:sym typeface="Calibri"/>
            </a:endParaRPr>
          </a:p>
        </p:txBody>
      </p:sp>
      <p:sp>
        <p:nvSpPr>
          <p:cNvPr id="751" name="Google Shape;751;p15"/>
          <p:cNvSpPr/>
          <p:nvPr/>
        </p:nvSpPr>
        <p:spPr>
          <a:xfrm>
            <a:off x="13586147" y="7849642"/>
            <a:ext cx="3596953"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5"/>
          <p:cNvSpPr/>
          <p:nvPr/>
        </p:nvSpPr>
        <p:spPr>
          <a:xfrm>
            <a:off x="13681397" y="7484418"/>
            <a:ext cx="3609611" cy="289024"/>
          </a:xfrm>
          <a:prstGeom prst="rect">
            <a:avLst/>
          </a:prstGeom>
          <a:noFill/>
          <a:ln>
            <a:noFill/>
          </a:ln>
        </p:spPr>
        <p:txBody>
          <a:bodyPr anchorCtr="0" anchor="ctr" bIns="25400" lIns="25400" spcFirstLastPara="1" rIns="25400" wrap="square" tIns="25400">
            <a:noAutofit/>
          </a:bodyPr>
          <a:lstStyle/>
          <a:p>
            <a:pPr indent="0" lvl="0" marL="0" marR="0" rtl="0" algn="l">
              <a:lnSpc>
                <a:spcPct val="142432"/>
              </a:lnSpc>
              <a:spcBef>
                <a:spcPts val="0"/>
              </a:spcBef>
              <a:spcAft>
                <a:spcPts val="0"/>
              </a:spcAft>
              <a:buClr>
                <a:srgbClr val="605D5D"/>
              </a:buClr>
              <a:buSzPts val="1275"/>
              <a:buFont typeface="Archivo"/>
              <a:buNone/>
            </a:pPr>
            <a:r>
              <a:rPr b="0" i="0" lang="en-US" sz="1275" u="none" cap="none" strike="noStrike">
                <a:solidFill>
                  <a:srgbClr val="605D5D"/>
                </a:solidFill>
                <a:latin typeface="Archivo"/>
                <a:ea typeface="Archivo"/>
                <a:cs typeface="Archivo"/>
                <a:sym typeface="Archivo"/>
              </a:rPr>
              <a:t>Reintentos en WhatsApp API</a:t>
            </a:r>
            <a:endParaRPr b="0" i="0" sz="1275"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757" name="Shape 757"/>
        <p:cNvGrpSpPr/>
        <p:nvPr/>
      </p:nvGrpSpPr>
      <p:grpSpPr>
        <a:xfrm>
          <a:off x="0" y="0"/>
          <a:ext cx="0" cy="0"/>
          <a:chOff x="0" y="0"/>
          <a:chExt cx="0" cy="0"/>
        </a:xfrm>
      </p:grpSpPr>
      <p:sp>
        <p:nvSpPr>
          <p:cNvPr id="758" name="Google Shape;758;p16"/>
          <p:cNvSpPr/>
          <p:nvPr/>
        </p:nvSpPr>
        <p:spPr>
          <a:xfrm>
            <a:off x="838200" y="609600"/>
            <a:ext cx="18272760" cy="2667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PANTALLA 08 · MOBILE</a:t>
            </a:r>
            <a:endParaRPr b="0" i="0" sz="1800" u="none" cap="none" strike="noStrike">
              <a:solidFill>
                <a:schemeClr val="dk1"/>
              </a:solidFill>
              <a:latin typeface="Calibri"/>
              <a:ea typeface="Calibri"/>
              <a:cs typeface="Calibri"/>
              <a:sym typeface="Calibri"/>
            </a:endParaRPr>
          </a:p>
        </p:txBody>
      </p:sp>
      <p:sp>
        <p:nvSpPr>
          <p:cNvPr id="759" name="Google Shape;759;p16"/>
          <p:cNvSpPr/>
          <p:nvPr/>
        </p:nvSpPr>
        <p:spPr>
          <a:xfrm>
            <a:off x="838200" y="10858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Vista móvil: reaccionar desde el teléfono</a:t>
            </a:r>
            <a:endParaRPr b="0" i="0" sz="4500" u="none" cap="none" strike="noStrike">
              <a:solidFill>
                <a:schemeClr val="dk1"/>
              </a:solidFill>
              <a:latin typeface="Calibri"/>
              <a:ea typeface="Calibri"/>
              <a:cs typeface="Calibri"/>
              <a:sym typeface="Calibri"/>
            </a:endParaRPr>
          </a:p>
        </p:txBody>
      </p:sp>
      <p:sp>
        <p:nvSpPr>
          <p:cNvPr id="760" name="Google Shape;760;p16"/>
          <p:cNvSpPr/>
          <p:nvPr/>
        </p:nvSpPr>
        <p:spPr>
          <a:xfrm>
            <a:off x="838200" y="19278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6"/>
          <p:cNvSpPr/>
          <p:nvPr/>
        </p:nvSpPr>
        <p:spPr>
          <a:xfrm>
            <a:off x="838200" y="2194545"/>
            <a:ext cx="3453384" cy="1158106"/>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La alerta llega al celular; ahí mismo debe poder revisarse y decidirse.</a:t>
            </a:r>
            <a:endParaRPr b="0" i="0" sz="2100" u="none" cap="none" strike="noStrike">
              <a:solidFill>
                <a:schemeClr val="dk1"/>
              </a:solidFill>
              <a:latin typeface="Calibri"/>
              <a:ea typeface="Calibri"/>
              <a:cs typeface="Calibri"/>
              <a:sym typeface="Calibri"/>
            </a:endParaRPr>
          </a:p>
        </p:txBody>
      </p:sp>
      <p:sp>
        <p:nvSpPr>
          <p:cNvPr id="762" name="Google Shape;762;p16"/>
          <p:cNvSpPr/>
          <p:nvPr/>
        </p:nvSpPr>
        <p:spPr>
          <a:xfrm>
            <a:off x="838200" y="3543151"/>
            <a:ext cx="33528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6"/>
          <p:cNvSpPr/>
          <p:nvPr/>
        </p:nvSpPr>
        <p:spPr>
          <a:xfrm>
            <a:off x="838200" y="3781276"/>
            <a:ext cx="3453384" cy="1038225"/>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Mismo contenido, jerarquía distinta </a:t>
            </a:r>
            <a:r>
              <a:rPr b="0" i="0" lang="en-US" sz="1875" u="none" cap="none" strike="noStrike">
                <a:solidFill>
                  <a:srgbClr val="201E1D"/>
                </a:solidFill>
                <a:latin typeface="Archivo"/>
                <a:ea typeface="Archivo"/>
                <a:cs typeface="Archivo"/>
                <a:sym typeface="Archivo"/>
              </a:rPr>
              <a:t>— match, monto y plazo primero.</a:t>
            </a:r>
            <a:endParaRPr b="0" i="0" sz="1875" u="none" cap="none" strike="noStrike">
              <a:solidFill>
                <a:schemeClr val="dk1"/>
              </a:solidFill>
              <a:latin typeface="Calibri"/>
              <a:ea typeface="Calibri"/>
              <a:cs typeface="Calibri"/>
              <a:sym typeface="Calibri"/>
            </a:endParaRPr>
          </a:p>
        </p:txBody>
      </p:sp>
      <p:sp>
        <p:nvSpPr>
          <p:cNvPr id="764" name="Google Shape;764;p16"/>
          <p:cNvSpPr/>
          <p:nvPr/>
        </p:nvSpPr>
        <p:spPr>
          <a:xfrm>
            <a:off x="838200" y="5010001"/>
            <a:ext cx="3453384" cy="704850"/>
          </a:xfrm>
          <a:prstGeom prst="rect">
            <a:avLst/>
          </a:prstGeom>
          <a:noFill/>
          <a:ln>
            <a:noFill/>
          </a:ln>
        </p:spPr>
        <p:txBody>
          <a:bodyPr anchorCtr="0" anchor="t" bIns="25400" lIns="25400" spcFirstLastPara="1" rIns="25400" wrap="square" tIns="25400">
            <a:noAutofit/>
          </a:bodyPr>
          <a:lstStyle/>
          <a:p>
            <a:pPr indent="0" lvl="0" marL="0" marR="0" rtl="0" algn="l">
              <a:lnSpc>
                <a:spcPct val="127273"/>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Dos toques </a:t>
            </a:r>
            <a:r>
              <a:rPr b="0" i="0" lang="en-US" sz="1875" u="none" cap="none" strike="noStrike">
                <a:solidFill>
                  <a:srgbClr val="201E1D"/>
                </a:solidFill>
                <a:latin typeface="Archivo"/>
                <a:ea typeface="Archivo"/>
                <a:cs typeface="Archivo"/>
                <a:sym typeface="Archivo"/>
              </a:rPr>
              <a:t>desde la notificación hasta la decisión.</a:t>
            </a:r>
            <a:endParaRPr b="0" i="0" sz="1875" u="none" cap="none" strike="noStrike">
              <a:solidFill>
                <a:schemeClr val="dk1"/>
              </a:solidFill>
              <a:latin typeface="Calibri"/>
              <a:ea typeface="Calibri"/>
              <a:cs typeface="Calibri"/>
              <a:sym typeface="Calibri"/>
            </a:endParaRPr>
          </a:p>
        </p:txBody>
      </p:sp>
      <p:sp>
        <p:nvSpPr>
          <p:cNvPr id="765" name="Google Shape;765;p16"/>
          <p:cNvSpPr/>
          <p:nvPr/>
        </p:nvSpPr>
        <p:spPr>
          <a:xfrm>
            <a:off x="4610100" y="2194545"/>
            <a:ext cx="3028950" cy="7482855"/>
          </a:xfrm>
          <a:prstGeom prst="rect">
            <a:avLst/>
          </a:prstGeom>
          <a:solidFill>
            <a:srgbClr val="EC3013"/>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6"/>
          <p:cNvSpPr/>
          <p:nvPr/>
        </p:nvSpPr>
        <p:spPr>
          <a:xfrm>
            <a:off x="4762500" y="2241426"/>
            <a:ext cx="317078"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F3F2F2"/>
              </a:buClr>
              <a:buSzPts val="975"/>
              <a:buFont typeface="Archivo"/>
              <a:buNone/>
            </a:pPr>
            <a:r>
              <a:rPr b="0" i="0" lang="en-US" sz="975" u="none" cap="none" strike="noStrike">
                <a:solidFill>
                  <a:srgbClr val="F3F2F2"/>
                </a:solidFill>
                <a:latin typeface="Archivo"/>
                <a:ea typeface="Archivo"/>
                <a:cs typeface="Archivo"/>
                <a:sym typeface="Archivo"/>
              </a:rPr>
              <a:t>9:41</a:t>
            </a:r>
            <a:endParaRPr b="0" i="0" sz="975" u="none" cap="none" strike="noStrike">
              <a:solidFill>
                <a:schemeClr val="dk1"/>
              </a:solidFill>
              <a:latin typeface="Calibri"/>
              <a:ea typeface="Calibri"/>
              <a:cs typeface="Calibri"/>
              <a:sym typeface="Calibri"/>
            </a:endParaRPr>
          </a:p>
        </p:txBody>
      </p:sp>
      <p:sp>
        <p:nvSpPr>
          <p:cNvPr id="767" name="Google Shape;767;p16"/>
          <p:cNvSpPr/>
          <p:nvPr/>
        </p:nvSpPr>
        <p:spPr>
          <a:xfrm>
            <a:off x="6843638" y="2241426"/>
            <a:ext cx="719212"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F3F2F2"/>
              </a:buClr>
              <a:buSzPts val="975"/>
              <a:buFont typeface="Archivo"/>
              <a:buNone/>
            </a:pPr>
            <a:r>
              <a:rPr b="0" i="0" lang="en-US" sz="975" u="none" cap="none" strike="noStrike">
                <a:solidFill>
                  <a:srgbClr val="F3F2F2"/>
                </a:solidFill>
                <a:latin typeface="Archivo"/>
                <a:ea typeface="Archivo"/>
                <a:cs typeface="Archivo"/>
                <a:sym typeface="Archivo"/>
              </a:rPr>
              <a:t>MPWatcher</a:t>
            </a:r>
            <a:endParaRPr b="0" i="0" sz="975" u="none" cap="none" strike="noStrike">
              <a:solidFill>
                <a:schemeClr val="dk1"/>
              </a:solidFill>
              <a:latin typeface="Calibri"/>
              <a:ea typeface="Calibri"/>
              <a:cs typeface="Calibri"/>
              <a:sym typeface="Calibri"/>
            </a:endParaRPr>
          </a:p>
        </p:txBody>
      </p:sp>
      <p:sp>
        <p:nvSpPr>
          <p:cNvPr id="768" name="Google Shape;768;p16"/>
          <p:cNvSpPr/>
          <p:nvPr/>
        </p:nvSpPr>
        <p:spPr>
          <a:xfrm>
            <a:off x="4838700" y="2670795"/>
            <a:ext cx="2828925" cy="362843"/>
          </a:xfrm>
          <a:prstGeom prst="rect">
            <a:avLst/>
          </a:prstGeom>
          <a:noFill/>
          <a:ln>
            <a:noFill/>
          </a:ln>
        </p:spPr>
        <p:txBody>
          <a:bodyPr anchorCtr="0" anchor="t" bIns="25400" lIns="25400" spcFirstLastPara="1" rIns="25400" wrap="square" tIns="25400">
            <a:noAutofit/>
          </a:bodyPr>
          <a:lstStyle/>
          <a:p>
            <a:pPr indent="0" lvl="0" marL="0" marR="0" rtl="0" algn="l">
              <a:lnSpc>
                <a:spcPct val="142083"/>
              </a:lnSpc>
              <a:spcBef>
                <a:spcPts val="0"/>
              </a:spcBef>
              <a:spcAft>
                <a:spcPts val="0"/>
              </a:spcAft>
              <a:buClr>
                <a:srgbClr val="F3F2F2"/>
              </a:buClr>
              <a:buSzPts val="1650"/>
              <a:buFont typeface="Archivo"/>
              <a:buNone/>
            </a:pPr>
            <a:r>
              <a:rPr b="1" i="0" lang="en-US" sz="1650" u="none" cap="none" strike="noStrike">
                <a:solidFill>
                  <a:srgbClr val="F3F2F2"/>
                </a:solidFill>
                <a:latin typeface="Archivo"/>
                <a:ea typeface="Archivo"/>
                <a:cs typeface="Archivo"/>
                <a:sym typeface="Archivo"/>
              </a:rPr>
              <a:t>MPWatcher</a:t>
            </a:r>
            <a:endParaRPr b="0" i="0" sz="1650" u="none" cap="none" strike="noStrike">
              <a:solidFill>
                <a:schemeClr val="dk1"/>
              </a:solidFill>
              <a:latin typeface="Calibri"/>
              <a:ea typeface="Calibri"/>
              <a:cs typeface="Calibri"/>
              <a:sym typeface="Calibri"/>
            </a:endParaRPr>
          </a:p>
        </p:txBody>
      </p:sp>
      <p:sp>
        <p:nvSpPr>
          <p:cNvPr id="769" name="Google Shape;769;p16"/>
          <p:cNvSpPr/>
          <p:nvPr/>
        </p:nvSpPr>
        <p:spPr>
          <a:xfrm>
            <a:off x="4838700" y="4389165"/>
            <a:ext cx="2648903" cy="1592461"/>
          </a:xfrm>
          <a:prstGeom prst="rect">
            <a:avLst/>
          </a:prstGeom>
          <a:noFill/>
          <a:ln>
            <a:noFill/>
          </a:ln>
        </p:spPr>
        <p:txBody>
          <a:bodyPr anchorCtr="0" anchor="t" bIns="25400" lIns="25400" spcFirstLastPara="1" rIns="25400" wrap="square" tIns="25400">
            <a:noAutofit/>
          </a:bodyPr>
          <a:lstStyle/>
          <a:p>
            <a:pPr indent="0" lvl="0" marL="0" marR="0" rtl="0" algn="l">
              <a:lnSpc>
                <a:spcPct val="93793"/>
              </a:lnSpc>
              <a:spcBef>
                <a:spcPts val="0"/>
              </a:spcBef>
              <a:spcAft>
                <a:spcPts val="0"/>
              </a:spcAft>
              <a:buClr>
                <a:srgbClr val="F3F2F2"/>
              </a:buClr>
              <a:buSzPts val="3000"/>
              <a:buFont typeface="Archivo"/>
              <a:buNone/>
            </a:pPr>
            <a:r>
              <a:rPr b="1" i="0" lang="en-US" sz="3000" u="none" cap="none" strike="noStrike">
                <a:solidFill>
                  <a:srgbClr val="F3F2F2"/>
                </a:solidFill>
                <a:latin typeface="Archivo"/>
                <a:ea typeface="Archivo"/>
                <a:cs typeface="Archivo"/>
                <a:sym typeface="Archivo"/>
              </a:rPr>
              <a:t>No busques licitaciones. Que ellas te busquen a ti.</a:t>
            </a:r>
            <a:endParaRPr b="0" i="0" sz="3000" u="none" cap="none" strike="noStrike">
              <a:solidFill>
                <a:schemeClr val="dk1"/>
              </a:solidFill>
              <a:latin typeface="Calibri"/>
              <a:ea typeface="Calibri"/>
              <a:cs typeface="Calibri"/>
              <a:sym typeface="Calibri"/>
            </a:endParaRPr>
          </a:p>
        </p:txBody>
      </p:sp>
      <p:sp>
        <p:nvSpPr>
          <p:cNvPr id="770" name="Google Shape;770;p16"/>
          <p:cNvSpPr/>
          <p:nvPr/>
        </p:nvSpPr>
        <p:spPr>
          <a:xfrm>
            <a:off x="4838700" y="7337227"/>
            <a:ext cx="2648903" cy="944761"/>
          </a:xfrm>
          <a:prstGeom prst="rect">
            <a:avLst/>
          </a:prstGeom>
          <a:noFill/>
          <a:ln>
            <a:noFill/>
          </a:ln>
        </p:spPr>
        <p:txBody>
          <a:bodyPr anchorCtr="0" anchor="t" bIns="25400" lIns="25400" spcFirstLastPara="1" rIns="25400" wrap="square" tIns="25400">
            <a:noAutofit/>
          </a:bodyPr>
          <a:lstStyle/>
          <a:p>
            <a:pPr indent="0" lvl="0" marL="0" marR="0" rtl="0" algn="l">
              <a:lnSpc>
                <a:spcPct val="128649"/>
              </a:lnSpc>
              <a:spcBef>
                <a:spcPts val="0"/>
              </a:spcBef>
              <a:spcAft>
                <a:spcPts val="0"/>
              </a:spcAft>
              <a:buClr>
                <a:srgbClr val="F3F2F2"/>
              </a:buClr>
              <a:buSzPts val="1275"/>
              <a:buFont typeface="Archivo"/>
              <a:buNone/>
            </a:pPr>
            <a:r>
              <a:rPr b="0" i="0" lang="en-US" sz="1275" u="none" cap="none" strike="noStrike">
                <a:solidFill>
                  <a:srgbClr val="F3F2F2"/>
                </a:solidFill>
                <a:latin typeface="Archivo"/>
                <a:ea typeface="Archivo"/>
                <a:cs typeface="Archivo"/>
                <a:sym typeface="Archivo"/>
              </a:rPr>
              <a:t>Monitoreo automático de Mercado Público con IA: filtramos, resumimos y avisamos solo lo relevante para tu pyme.</a:t>
            </a:r>
            <a:endParaRPr b="0" i="0" sz="1275" u="none" cap="none" strike="noStrike">
              <a:solidFill>
                <a:schemeClr val="dk1"/>
              </a:solidFill>
              <a:latin typeface="Calibri"/>
              <a:ea typeface="Calibri"/>
              <a:cs typeface="Calibri"/>
              <a:sym typeface="Calibri"/>
            </a:endParaRPr>
          </a:p>
        </p:txBody>
      </p:sp>
      <p:sp>
        <p:nvSpPr>
          <p:cNvPr id="771" name="Google Shape;771;p16"/>
          <p:cNvSpPr/>
          <p:nvPr/>
        </p:nvSpPr>
        <p:spPr>
          <a:xfrm>
            <a:off x="4838700" y="8377238"/>
            <a:ext cx="2648903" cy="481012"/>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F3F2F2"/>
              </a:buClr>
              <a:buSzPts val="1125"/>
              <a:buFont typeface="Archivo"/>
              <a:buNone/>
            </a:pPr>
            <a:r>
              <a:rPr b="0" i="0" lang="en-US" sz="1125" u="none" cap="none" strike="noStrike">
                <a:solidFill>
                  <a:srgbClr val="F3F2F2"/>
                </a:solidFill>
                <a:latin typeface="Archivo"/>
                <a:ea typeface="Archivo"/>
                <a:cs typeface="Archivo"/>
                <a:sym typeface="Archivo"/>
              </a:rPr>
              <a:t>+2.400 licitaciones/día · Alertas en minutos</a:t>
            </a:r>
            <a:endParaRPr b="0" i="0" sz="1125" u="none" cap="none" strike="noStrike">
              <a:solidFill>
                <a:schemeClr val="dk1"/>
              </a:solidFill>
              <a:latin typeface="Calibri"/>
              <a:ea typeface="Calibri"/>
              <a:cs typeface="Calibri"/>
              <a:sym typeface="Calibri"/>
            </a:endParaRPr>
          </a:p>
        </p:txBody>
      </p:sp>
      <p:sp>
        <p:nvSpPr>
          <p:cNvPr id="772" name="Google Shape;772;p16"/>
          <p:cNvSpPr/>
          <p:nvPr/>
        </p:nvSpPr>
        <p:spPr>
          <a:xfrm>
            <a:off x="4838700" y="8991600"/>
            <a:ext cx="2571750" cy="419100"/>
          </a:xfrm>
          <a:prstGeom prst="rect">
            <a:avLst/>
          </a:prstGeom>
          <a:solidFill>
            <a:srgbClr val="F3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6"/>
          <p:cNvSpPr/>
          <p:nvPr/>
        </p:nvSpPr>
        <p:spPr>
          <a:xfrm>
            <a:off x="4991100" y="8991600"/>
            <a:ext cx="2344103" cy="457200"/>
          </a:xfrm>
          <a:prstGeom prst="rect">
            <a:avLst/>
          </a:prstGeom>
          <a:noFill/>
          <a:ln>
            <a:noFill/>
          </a:ln>
        </p:spPr>
        <p:txBody>
          <a:bodyPr anchorCtr="0" anchor="ctr" bIns="25400" lIns="25400" spcFirstLastPara="1" rIns="25400" wrap="square" tIns="25400">
            <a:noAutofit/>
          </a:bodyPr>
          <a:lstStyle/>
          <a:p>
            <a:pPr indent="0" lvl="0" marL="0" marR="0" rtl="0" algn="l">
              <a:lnSpc>
                <a:spcPct val="139500"/>
              </a:lnSpc>
              <a:spcBef>
                <a:spcPts val="0"/>
              </a:spcBef>
              <a:spcAft>
                <a:spcPts val="0"/>
              </a:spcAft>
              <a:buClr>
                <a:srgbClr val="EC3013"/>
              </a:buClr>
              <a:buSzPts val="1350"/>
              <a:buFont typeface="Archivo"/>
              <a:buNone/>
            </a:pPr>
            <a:r>
              <a:rPr b="1" i="0" lang="en-US" sz="1350" u="none" cap="none" strike="noStrike">
                <a:solidFill>
                  <a:srgbClr val="EC3013"/>
                </a:solidFill>
                <a:latin typeface="Archivo"/>
                <a:ea typeface="Archivo"/>
                <a:cs typeface="Archivo"/>
                <a:sym typeface="Archivo"/>
              </a:rPr>
              <a:t>Crear cuenta gratis</a:t>
            </a:r>
            <a:endParaRPr b="0" i="0" sz="1350" u="none" cap="none" strike="noStrike">
              <a:solidFill>
                <a:schemeClr val="dk1"/>
              </a:solidFill>
              <a:latin typeface="Calibri"/>
              <a:ea typeface="Calibri"/>
              <a:cs typeface="Calibri"/>
              <a:sym typeface="Calibri"/>
            </a:endParaRPr>
          </a:p>
        </p:txBody>
      </p:sp>
      <p:sp>
        <p:nvSpPr>
          <p:cNvPr id="774" name="Google Shape;774;p16"/>
          <p:cNvSpPr/>
          <p:nvPr/>
        </p:nvSpPr>
        <p:spPr>
          <a:xfrm>
            <a:off x="8020050" y="2194545"/>
            <a:ext cx="302895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6"/>
          <p:cNvSpPr/>
          <p:nvPr/>
        </p:nvSpPr>
        <p:spPr>
          <a:xfrm>
            <a:off x="8039100" y="2451720"/>
            <a:ext cx="29908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6"/>
          <p:cNvSpPr/>
          <p:nvPr/>
        </p:nvSpPr>
        <p:spPr>
          <a:xfrm>
            <a:off x="8172450" y="2236663"/>
            <a:ext cx="317078"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0" i="0" lang="en-US" sz="975" u="none" cap="none" strike="noStrike">
                <a:solidFill>
                  <a:srgbClr val="605D5D"/>
                </a:solidFill>
                <a:latin typeface="Archivo"/>
                <a:ea typeface="Archivo"/>
                <a:cs typeface="Archivo"/>
                <a:sym typeface="Archivo"/>
              </a:rPr>
              <a:t>9:41</a:t>
            </a:r>
            <a:endParaRPr b="0" i="0" sz="975" u="none" cap="none" strike="noStrike">
              <a:solidFill>
                <a:schemeClr val="dk1"/>
              </a:solidFill>
              <a:latin typeface="Calibri"/>
              <a:ea typeface="Calibri"/>
              <a:cs typeface="Calibri"/>
              <a:sym typeface="Calibri"/>
            </a:endParaRPr>
          </a:p>
        </p:txBody>
      </p:sp>
      <p:sp>
        <p:nvSpPr>
          <p:cNvPr id="777" name="Google Shape;777;p16"/>
          <p:cNvSpPr/>
          <p:nvPr/>
        </p:nvSpPr>
        <p:spPr>
          <a:xfrm>
            <a:off x="10656838" y="2236663"/>
            <a:ext cx="315962"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0" i="0" lang="en-US" sz="975" u="none" cap="none" strike="noStrike">
                <a:solidFill>
                  <a:srgbClr val="605D5D"/>
                </a:solidFill>
                <a:latin typeface="Archivo"/>
                <a:ea typeface="Archivo"/>
                <a:cs typeface="Archivo"/>
                <a:sym typeface="Archivo"/>
              </a:rPr>
              <a:t>▪ ▪ ▪</a:t>
            </a:r>
            <a:endParaRPr b="0" i="0" sz="975" u="none" cap="none" strike="noStrike">
              <a:solidFill>
                <a:schemeClr val="dk1"/>
              </a:solidFill>
              <a:latin typeface="Calibri"/>
              <a:ea typeface="Calibri"/>
              <a:cs typeface="Calibri"/>
              <a:sym typeface="Calibri"/>
            </a:endParaRPr>
          </a:p>
        </p:txBody>
      </p:sp>
      <p:sp>
        <p:nvSpPr>
          <p:cNvPr id="778" name="Google Shape;778;p16"/>
          <p:cNvSpPr/>
          <p:nvPr/>
        </p:nvSpPr>
        <p:spPr>
          <a:xfrm>
            <a:off x="8039100" y="2861295"/>
            <a:ext cx="29908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6"/>
          <p:cNvSpPr/>
          <p:nvPr/>
        </p:nvSpPr>
        <p:spPr>
          <a:xfrm>
            <a:off x="8191500" y="2521000"/>
            <a:ext cx="1126406" cy="318567"/>
          </a:xfrm>
          <a:prstGeom prst="rect">
            <a:avLst/>
          </a:prstGeom>
          <a:noFill/>
          <a:ln>
            <a:noFill/>
          </a:ln>
        </p:spPr>
        <p:txBody>
          <a:bodyPr anchorCtr="0" anchor="t" bIns="25400" lIns="25400" spcFirstLastPara="1" rIns="25400" wrap="square" tIns="25400">
            <a:noAutofit/>
          </a:bodyPr>
          <a:lstStyle/>
          <a:p>
            <a:pPr indent="0" lvl="0" marL="0" marR="0" rtl="0" algn="l">
              <a:lnSpc>
                <a:spcPct val="143659"/>
              </a:lnSpc>
              <a:spcBef>
                <a:spcPts val="0"/>
              </a:spcBef>
              <a:spcAft>
                <a:spcPts val="0"/>
              </a:spcAft>
              <a:buClr>
                <a:srgbClr val="201E1D"/>
              </a:buClr>
              <a:buSzPts val="1425"/>
              <a:buFont typeface="Archivo"/>
              <a:buNone/>
            </a:pPr>
            <a:r>
              <a:rPr b="1" i="0" lang="en-US" sz="1425" u="none" cap="none" strike="noStrike">
                <a:solidFill>
                  <a:srgbClr val="201E1D"/>
                </a:solidFill>
                <a:latin typeface="Archivo"/>
                <a:ea typeface="Archivo"/>
                <a:cs typeface="Archivo"/>
                <a:sym typeface="Archivo"/>
              </a:rPr>
              <a:t>MPWatcher</a:t>
            </a:r>
            <a:endParaRPr b="0" i="0" sz="1425" u="none" cap="none" strike="noStrike">
              <a:solidFill>
                <a:schemeClr val="dk1"/>
              </a:solidFill>
              <a:latin typeface="Calibri"/>
              <a:ea typeface="Calibri"/>
              <a:cs typeface="Calibri"/>
              <a:sym typeface="Calibri"/>
            </a:endParaRPr>
          </a:p>
        </p:txBody>
      </p:sp>
      <p:sp>
        <p:nvSpPr>
          <p:cNvPr id="780" name="Google Shape;780;p16"/>
          <p:cNvSpPr/>
          <p:nvPr/>
        </p:nvSpPr>
        <p:spPr>
          <a:xfrm>
            <a:off x="8191500" y="3032745"/>
            <a:ext cx="2954655" cy="266700"/>
          </a:xfrm>
          <a:prstGeom prst="rect">
            <a:avLst/>
          </a:prstGeom>
          <a:noFill/>
          <a:ln>
            <a:noFill/>
          </a:ln>
        </p:spPr>
        <p:txBody>
          <a:bodyPr anchorCtr="0" anchor="t" bIns="25400" lIns="25400" spcFirstLastPara="1" rIns="25400" wrap="square" tIns="25400">
            <a:noAutofit/>
          </a:bodyPr>
          <a:lstStyle/>
          <a:p>
            <a:pPr indent="0" lvl="0" marL="0" marR="0" rtl="0" algn="l">
              <a:lnSpc>
                <a:spcPct val="111628"/>
              </a:lnSpc>
              <a:spcBef>
                <a:spcPts val="0"/>
              </a:spcBef>
              <a:spcAft>
                <a:spcPts val="0"/>
              </a:spcAft>
              <a:buClr>
                <a:srgbClr val="201E1D"/>
              </a:buClr>
              <a:buSzPts val="1500"/>
              <a:buFont typeface="Archivo"/>
              <a:buNone/>
            </a:pPr>
            <a:r>
              <a:rPr b="1" i="0" lang="en-US" sz="1500" u="none" cap="none" strike="noStrike">
                <a:solidFill>
                  <a:srgbClr val="201E1D"/>
                </a:solidFill>
                <a:latin typeface="Archivo"/>
                <a:ea typeface="Archivo"/>
                <a:cs typeface="Archivo"/>
                <a:sym typeface="Archivo"/>
              </a:rPr>
              <a:t>Hola, Panadería Los Aromos</a:t>
            </a:r>
            <a:endParaRPr b="0" i="0" sz="1500" u="none" cap="none" strike="noStrike">
              <a:solidFill>
                <a:schemeClr val="dk1"/>
              </a:solidFill>
              <a:latin typeface="Calibri"/>
              <a:ea typeface="Calibri"/>
              <a:cs typeface="Calibri"/>
              <a:sym typeface="Calibri"/>
            </a:endParaRPr>
          </a:p>
        </p:txBody>
      </p:sp>
      <p:sp>
        <p:nvSpPr>
          <p:cNvPr id="781" name="Google Shape;781;p16"/>
          <p:cNvSpPr/>
          <p:nvPr/>
        </p:nvSpPr>
        <p:spPr>
          <a:xfrm>
            <a:off x="8191500" y="4108028"/>
            <a:ext cx="26860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16"/>
          <p:cNvSpPr/>
          <p:nvPr/>
        </p:nvSpPr>
        <p:spPr>
          <a:xfrm>
            <a:off x="8191500" y="3375645"/>
            <a:ext cx="26860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16"/>
          <p:cNvSpPr/>
          <p:nvPr/>
        </p:nvSpPr>
        <p:spPr>
          <a:xfrm>
            <a:off x="8191500" y="3470895"/>
            <a:ext cx="901675" cy="21520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900"/>
              <a:buFont typeface="Archivo"/>
              <a:buNone/>
            </a:pPr>
            <a:r>
              <a:rPr b="0" i="0" lang="en-US" sz="900" u="none" cap="none" strike="noStrike">
                <a:solidFill>
                  <a:srgbClr val="605D5D"/>
                </a:solidFill>
                <a:latin typeface="Archivo"/>
                <a:ea typeface="Archivo"/>
                <a:cs typeface="Archivo"/>
                <a:sym typeface="Archivo"/>
              </a:rPr>
              <a:t>NUEVAS</a:t>
            </a:r>
            <a:endParaRPr b="0" i="0" sz="900" u="none" cap="none" strike="noStrike">
              <a:solidFill>
                <a:schemeClr val="dk1"/>
              </a:solidFill>
              <a:latin typeface="Calibri"/>
              <a:ea typeface="Calibri"/>
              <a:cs typeface="Calibri"/>
              <a:sym typeface="Calibri"/>
            </a:endParaRPr>
          </a:p>
        </p:txBody>
      </p:sp>
      <p:sp>
        <p:nvSpPr>
          <p:cNvPr id="784" name="Google Shape;784;p16"/>
          <p:cNvSpPr/>
          <p:nvPr/>
        </p:nvSpPr>
        <p:spPr>
          <a:xfrm>
            <a:off x="8191500" y="3648001"/>
            <a:ext cx="901675"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1" i="0" lang="en-US" sz="1950" u="none" cap="none" strike="noStrike">
                <a:solidFill>
                  <a:srgbClr val="201E1D"/>
                </a:solidFill>
                <a:latin typeface="Archivo"/>
                <a:ea typeface="Archivo"/>
                <a:cs typeface="Archivo"/>
                <a:sym typeface="Archivo"/>
              </a:rPr>
              <a:t>18</a:t>
            </a:r>
            <a:endParaRPr b="0" i="0" sz="1950" u="none" cap="none" strike="noStrike">
              <a:solidFill>
                <a:schemeClr val="dk1"/>
              </a:solidFill>
              <a:latin typeface="Calibri"/>
              <a:ea typeface="Calibri"/>
              <a:cs typeface="Calibri"/>
              <a:sym typeface="Calibri"/>
            </a:endParaRPr>
          </a:p>
        </p:txBody>
      </p:sp>
      <p:sp>
        <p:nvSpPr>
          <p:cNvPr id="785" name="Google Shape;785;p16"/>
          <p:cNvSpPr/>
          <p:nvPr/>
        </p:nvSpPr>
        <p:spPr>
          <a:xfrm>
            <a:off x="9016975" y="3394695"/>
            <a:ext cx="9525" cy="713333"/>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6"/>
          <p:cNvSpPr/>
          <p:nvPr/>
        </p:nvSpPr>
        <p:spPr>
          <a:xfrm>
            <a:off x="9121750" y="3470895"/>
            <a:ext cx="901750" cy="21520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900"/>
              <a:buFont typeface="Archivo"/>
              <a:buNone/>
            </a:pPr>
            <a:r>
              <a:rPr b="0" i="0" lang="en-US" sz="900" u="none" cap="none" strike="noStrike">
                <a:solidFill>
                  <a:srgbClr val="605D5D"/>
                </a:solidFill>
                <a:latin typeface="Archivo"/>
                <a:ea typeface="Archivo"/>
                <a:cs typeface="Archivo"/>
                <a:sym typeface="Archivo"/>
              </a:rPr>
              <a:t>MATCHES</a:t>
            </a:r>
            <a:endParaRPr b="0" i="0" sz="900" u="none" cap="none" strike="noStrike">
              <a:solidFill>
                <a:schemeClr val="dk1"/>
              </a:solidFill>
              <a:latin typeface="Calibri"/>
              <a:ea typeface="Calibri"/>
              <a:cs typeface="Calibri"/>
              <a:sym typeface="Calibri"/>
            </a:endParaRPr>
          </a:p>
        </p:txBody>
      </p:sp>
      <p:sp>
        <p:nvSpPr>
          <p:cNvPr id="787" name="Google Shape;787;p16"/>
          <p:cNvSpPr/>
          <p:nvPr/>
        </p:nvSpPr>
        <p:spPr>
          <a:xfrm>
            <a:off x="9121750" y="3648001"/>
            <a:ext cx="901750"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5</a:t>
            </a:r>
            <a:endParaRPr b="0" i="0" sz="1950" u="none" cap="none" strike="noStrike">
              <a:solidFill>
                <a:schemeClr val="dk1"/>
              </a:solidFill>
              <a:latin typeface="Calibri"/>
              <a:ea typeface="Calibri"/>
              <a:cs typeface="Calibri"/>
              <a:sym typeface="Calibri"/>
            </a:endParaRPr>
          </a:p>
        </p:txBody>
      </p:sp>
      <p:sp>
        <p:nvSpPr>
          <p:cNvPr id="788" name="Google Shape;788;p16"/>
          <p:cNvSpPr/>
          <p:nvPr/>
        </p:nvSpPr>
        <p:spPr>
          <a:xfrm>
            <a:off x="9947300" y="3394695"/>
            <a:ext cx="9525" cy="713333"/>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6"/>
          <p:cNvSpPr/>
          <p:nvPr/>
        </p:nvSpPr>
        <p:spPr>
          <a:xfrm>
            <a:off x="10052075" y="3470895"/>
            <a:ext cx="901675" cy="21520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900"/>
              <a:buFont typeface="Archivo"/>
              <a:buNone/>
            </a:pPr>
            <a:r>
              <a:rPr b="0" i="0" lang="en-US" sz="900" u="none" cap="none" strike="noStrike">
                <a:solidFill>
                  <a:srgbClr val="605D5D"/>
                </a:solidFill>
                <a:latin typeface="Archivo"/>
                <a:ea typeface="Archivo"/>
                <a:cs typeface="Archivo"/>
                <a:sym typeface="Archivo"/>
              </a:rPr>
              <a:t>ALERTAS</a:t>
            </a:r>
            <a:endParaRPr b="0" i="0" sz="900" u="none" cap="none" strike="noStrike">
              <a:solidFill>
                <a:schemeClr val="dk1"/>
              </a:solidFill>
              <a:latin typeface="Calibri"/>
              <a:ea typeface="Calibri"/>
              <a:cs typeface="Calibri"/>
              <a:sym typeface="Calibri"/>
            </a:endParaRPr>
          </a:p>
        </p:txBody>
      </p:sp>
      <p:sp>
        <p:nvSpPr>
          <p:cNvPr id="790" name="Google Shape;790;p16"/>
          <p:cNvSpPr/>
          <p:nvPr/>
        </p:nvSpPr>
        <p:spPr>
          <a:xfrm>
            <a:off x="10052075" y="3648001"/>
            <a:ext cx="901675"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1" i="0" lang="en-US" sz="1950" u="none" cap="none" strike="noStrike">
                <a:solidFill>
                  <a:srgbClr val="201E1D"/>
                </a:solidFill>
                <a:latin typeface="Archivo"/>
                <a:ea typeface="Archivo"/>
                <a:cs typeface="Archivo"/>
                <a:sym typeface="Archivo"/>
              </a:rPr>
              <a:t>12</a:t>
            </a:r>
            <a:endParaRPr b="0" i="0" sz="1950" u="none" cap="none" strike="noStrike">
              <a:solidFill>
                <a:schemeClr val="dk1"/>
              </a:solidFill>
              <a:latin typeface="Calibri"/>
              <a:ea typeface="Calibri"/>
              <a:cs typeface="Calibri"/>
              <a:sym typeface="Calibri"/>
            </a:endParaRPr>
          </a:p>
        </p:txBody>
      </p:sp>
      <p:sp>
        <p:nvSpPr>
          <p:cNvPr id="791" name="Google Shape;791;p16"/>
          <p:cNvSpPr/>
          <p:nvPr/>
        </p:nvSpPr>
        <p:spPr>
          <a:xfrm>
            <a:off x="8191500" y="5565279"/>
            <a:ext cx="26860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6"/>
          <p:cNvSpPr/>
          <p:nvPr/>
        </p:nvSpPr>
        <p:spPr>
          <a:xfrm>
            <a:off x="8191500" y="4269953"/>
            <a:ext cx="873175" cy="171450"/>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6"/>
          <p:cNvSpPr/>
          <p:nvPr/>
        </p:nvSpPr>
        <p:spPr>
          <a:xfrm>
            <a:off x="8267700" y="4289003"/>
            <a:ext cx="808092" cy="171450"/>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7C1405"/>
              </a:buClr>
              <a:buSzPts val="975"/>
              <a:buFont typeface="Archivo"/>
              <a:buNone/>
            </a:pPr>
            <a:r>
              <a:rPr b="0" i="0" lang="en-US" sz="975" u="none" cap="none" strike="noStrike">
                <a:solidFill>
                  <a:srgbClr val="7C1405"/>
                </a:solidFill>
                <a:latin typeface="Archivo"/>
                <a:ea typeface="Archivo"/>
                <a:cs typeface="Archivo"/>
                <a:sym typeface="Archivo"/>
              </a:rPr>
              <a:t>Alimentación</a:t>
            </a:r>
            <a:endParaRPr b="0" i="0" sz="975" u="none" cap="none" strike="noStrike">
              <a:solidFill>
                <a:schemeClr val="dk1"/>
              </a:solidFill>
              <a:latin typeface="Calibri"/>
              <a:ea typeface="Calibri"/>
              <a:cs typeface="Calibri"/>
              <a:sym typeface="Calibri"/>
            </a:endParaRPr>
          </a:p>
        </p:txBody>
      </p:sp>
      <p:sp>
        <p:nvSpPr>
          <p:cNvPr id="794" name="Google Shape;794;p16"/>
          <p:cNvSpPr/>
          <p:nvPr/>
        </p:nvSpPr>
        <p:spPr>
          <a:xfrm>
            <a:off x="8191500" y="4539035"/>
            <a:ext cx="2766632" cy="426690"/>
          </a:xfrm>
          <a:prstGeom prst="rect">
            <a:avLst/>
          </a:prstGeom>
          <a:noFill/>
          <a:ln>
            <a:noFill/>
          </a:ln>
        </p:spPr>
        <p:txBody>
          <a:bodyPr anchorCtr="0" anchor="t" bIns="25400" lIns="25400" spcFirstLastPara="1" rIns="25400" wrap="square" tIns="25400">
            <a:noAutofit/>
          </a:bodyPr>
          <a:lstStyle/>
          <a:p>
            <a:pPr indent="0" lvl="0" marL="0" marR="0" rtl="0" algn="l">
              <a:lnSpc>
                <a:spcPct val="110270"/>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Pan y pastelería — Hospital Regional</a:t>
            </a:r>
            <a:endParaRPr b="0" i="0" sz="1275" u="none" cap="none" strike="noStrike">
              <a:solidFill>
                <a:schemeClr val="dk1"/>
              </a:solidFill>
              <a:latin typeface="Calibri"/>
              <a:ea typeface="Calibri"/>
              <a:cs typeface="Calibri"/>
              <a:sym typeface="Calibri"/>
            </a:endParaRPr>
          </a:p>
        </p:txBody>
      </p:sp>
      <p:sp>
        <p:nvSpPr>
          <p:cNvPr id="795" name="Google Shape;795;p16"/>
          <p:cNvSpPr/>
          <p:nvPr/>
        </p:nvSpPr>
        <p:spPr>
          <a:xfrm>
            <a:off x="8191500" y="4965725"/>
            <a:ext cx="295465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$14.5M · Cierra en 3 días</a:t>
            </a:r>
            <a:endParaRPr b="0" i="0" sz="1050" u="none" cap="none" strike="noStrike">
              <a:solidFill>
                <a:schemeClr val="dk1"/>
              </a:solidFill>
              <a:latin typeface="Calibri"/>
              <a:ea typeface="Calibri"/>
              <a:cs typeface="Calibri"/>
              <a:sym typeface="Calibri"/>
            </a:endParaRPr>
          </a:p>
        </p:txBody>
      </p:sp>
      <p:sp>
        <p:nvSpPr>
          <p:cNvPr id="796" name="Google Shape;796;p16"/>
          <p:cNvSpPr/>
          <p:nvPr/>
        </p:nvSpPr>
        <p:spPr>
          <a:xfrm>
            <a:off x="8191500" y="5229523"/>
            <a:ext cx="2954655" cy="259556"/>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EC3013"/>
              </a:buClr>
              <a:buSzPts val="1125"/>
              <a:buFont typeface="Archivo"/>
              <a:buNone/>
            </a:pPr>
            <a:r>
              <a:rPr b="1" i="0" lang="en-US" sz="1125" u="none" cap="none" strike="noStrike">
                <a:solidFill>
                  <a:srgbClr val="EC3013"/>
                </a:solidFill>
                <a:latin typeface="Archivo"/>
                <a:ea typeface="Archivo"/>
                <a:cs typeface="Archivo"/>
                <a:sym typeface="Archivo"/>
              </a:rPr>
              <a:t>92% match</a:t>
            </a:r>
            <a:endParaRPr b="0" i="0" sz="1125" u="none" cap="none" strike="noStrike">
              <a:solidFill>
                <a:schemeClr val="dk1"/>
              </a:solidFill>
              <a:latin typeface="Calibri"/>
              <a:ea typeface="Calibri"/>
              <a:cs typeface="Calibri"/>
              <a:sym typeface="Calibri"/>
            </a:endParaRPr>
          </a:p>
        </p:txBody>
      </p:sp>
      <p:sp>
        <p:nvSpPr>
          <p:cNvPr id="797" name="Google Shape;797;p16"/>
          <p:cNvSpPr/>
          <p:nvPr/>
        </p:nvSpPr>
        <p:spPr>
          <a:xfrm>
            <a:off x="8191500" y="6818709"/>
            <a:ext cx="26860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16"/>
          <p:cNvSpPr/>
          <p:nvPr/>
        </p:nvSpPr>
        <p:spPr>
          <a:xfrm>
            <a:off x="8191500" y="5717679"/>
            <a:ext cx="873175" cy="171450"/>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6"/>
          <p:cNvSpPr/>
          <p:nvPr/>
        </p:nvSpPr>
        <p:spPr>
          <a:xfrm>
            <a:off x="8267700" y="5736729"/>
            <a:ext cx="808092" cy="171450"/>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7C1405"/>
              </a:buClr>
              <a:buSzPts val="975"/>
              <a:buFont typeface="Archivo"/>
              <a:buNone/>
            </a:pPr>
            <a:r>
              <a:rPr b="0" i="0" lang="en-US" sz="975" u="none" cap="none" strike="noStrike">
                <a:solidFill>
                  <a:srgbClr val="7C1405"/>
                </a:solidFill>
                <a:latin typeface="Archivo"/>
                <a:ea typeface="Archivo"/>
                <a:cs typeface="Archivo"/>
                <a:sym typeface="Archivo"/>
              </a:rPr>
              <a:t>Alimentación</a:t>
            </a:r>
            <a:endParaRPr b="0" i="0" sz="975" u="none" cap="none" strike="noStrike">
              <a:solidFill>
                <a:schemeClr val="dk1"/>
              </a:solidFill>
              <a:latin typeface="Calibri"/>
              <a:ea typeface="Calibri"/>
              <a:cs typeface="Calibri"/>
              <a:sym typeface="Calibri"/>
            </a:endParaRPr>
          </a:p>
        </p:txBody>
      </p:sp>
      <p:sp>
        <p:nvSpPr>
          <p:cNvPr id="800" name="Google Shape;800;p16"/>
          <p:cNvSpPr/>
          <p:nvPr/>
        </p:nvSpPr>
        <p:spPr>
          <a:xfrm>
            <a:off x="8191500" y="5986760"/>
            <a:ext cx="2954655" cy="232395"/>
          </a:xfrm>
          <a:prstGeom prst="rect">
            <a:avLst/>
          </a:prstGeom>
          <a:noFill/>
          <a:ln>
            <a:noFill/>
          </a:ln>
        </p:spPr>
        <p:txBody>
          <a:bodyPr anchorCtr="0" anchor="t" bIns="25400" lIns="25400" spcFirstLastPara="1" rIns="25400" wrap="square" tIns="25400">
            <a:noAutofit/>
          </a:bodyPr>
          <a:lstStyle/>
          <a:p>
            <a:pPr indent="0" lvl="0" marL="0" marR="0" rtl="0" algn="l">
              <a:lnSpc>
                <a:spcPct val="110270"/>
              </a:lnSpc>
              <a:spcBef>
                <a:spcPts val="0"/>
              </a:spcBef>
              <a:spcAft>
                <a:spcPts val="0"/>
              </a:spcAft>
              <a:buClr>
                <a:srgbClr val="201E1D"/>
              </a:buClr>
              <a:buSzPts val="1275"/>
              <a:buFont typeface="Archivo"/>
              <a:buNone/>
            </a:pPr>
            <a:r>
              <a:rPr b="1" i="0" lang="en-US" sz="1275" u="none" cap="none" strike="noStrike">
                <a:solidFill>
                  <a:srgbClr val="201E1D"/>
                </a:solidFill>
                <a:latin typeface="Archivo"/>
                <a:ea typeface="Archivo"/>
                <a:cs typeface="Archivo"/>
                <a:sym typeface="Archivo"/>
              </a:rPr>
              <a:t>Convenio panificación — Quilpué</a:t>
            </a:r>
            <a:endParaRPr b="0" i="0" sz="1275" u="none" cap="none" strike="noStrike">
              <a:solidFill>
                <a:schemeClr val="dk1"/>
              </a:solidFill>
              <a:latin typeface="Calibri"/>
              <a:ea typeface="Calibri"/>
              <a:cs typeface="Calibri"/>
              <a:sym typeface="Calibri"/>
            </a:endParaRPr>
          </a:p>
        </p:txBody>
      </p:sp>
      <p:sp>
        <p:nvSpPr>
          <p:cNvPr id="801" name="Google Shape;801;p16"/>
          <p:cNvSpPr/>
          <p:nvPr/>
        </p:nvSpPr>
        <p:spPr>
          <a:xfrm>
            <a:off x="8191500" y="6219155"/>
            <a:ext cx="295465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$8.2M · Cierra en 6 días</a:t>
            </a:r>
            <a:endParaRPr b="0" i="0" sz="1050" u="none" cap="none" strike="noStrike">
              <a:solidFill>
                <a:schemeClr val="dk1"/>
              </a:solidFill>
              <a:latin typeface="Calibri"/>
              <a:ea typeface="Calibri"/>
              <a:cs typeface="Calibri"/>
              <a:sym typeface="Calibri"/>
            </a:endParaRPr>
          </a:p>
        </p:txBody>
      </p:sp>
      <p:sp>
        <p:nvSpPr>
          <p:cNvPr id="802" name="Google Shape;802;p16"/>
          <p:cNvSpPr/>
          <p:nvPr/>
        </p:nvSpPr>
        <p:spPr>
          <a:xfrm>
            <a:off x="8191500" y="6482953"/>
            <a:ext cx="2954655" cy="259556"/>
          </a:xfrm>
          <a:prstGeom prst="rect">
            <a:avLst/>
          </a:prstGeom>
          <a:noFill/>
          <a:ln>
            <a:noFill/>
          </a:ln>
        </p:spPr>
        <p:txBody>
          <a:bodyPr anchorCtr="0" anchor="t" bIns="25400" lIns="25400" spcFirstLastPara="1" rIns="25400" wrap="square" tIns="25400">
            <a:noAutofit/>
          </a:bodyPr>
          <a:lstStyle/>
          <a:p>
            <a:pPr indent="0" lvl="0" marL="0" marR="0" rtl="0" algn="l">
              <a:lnSpc>
                <a:spcPct val="145313"/>
              </a:lnSpc>
              <a:spcBef>
                <a:spcPts val="0"/>
              </a:spcBef>
              <a:spcAft>
                <a:spcPts val="0"/>
              </a:spcAft>
              <a:buClr>
                <a:srgbClr val="EC3013"/>
              </a:buClr>
              <a:buSzPts val="1125"/>
              <a:buFont typeface="Archivo"/>
              <a:buNone/>
            </a:pPr>
            <a:r>
              <a:rPr b="1" i="0" lang="en-US" sz="1125" u="none" cap="none" strike="noStrike">
                <a:solidFill>
                  <a:srgbClr val="EC3013"/>
                </a:solidFill>
                <a:latin typeface="Archivo"/>
                <a:ea typeface="Archivo"/>
                <a:cs typeface="Archivo"/>
                <a:sym typeface="Archivo"/>
              </a:rPr>
              <a:t>85% match</a:t>
            </a:r>
            <a:endParaRPr b="0" i="0" sz="1125" u="none" cap="none" strike="noStrike">
              <a:solidFill>
                <a:schemeClr val="dk1"/>
              </a:solidFill>
              <a:latin typeface="Calibri"/>
              <a:ea typeface="Calibri"/>
              <a:cs typeface="Calibri"/>
              <a:sym typeface="Calibri"/>
            </a:endParaRPr>
          </a:p>
        </p:txBody>
      </p:sp>
      <p:sp>
        <p:nvSpPr>
          <p:cNvPr id="803" name="Google Shape;803;p16"/>
          <p:cNvSpPr/>
          <p:nvPr/>
        </p:nvSpPr>
        <p:spPr>
          <a:xfrm>
            <a:off x="8039100" y="9201150"/>
            <a:ext cx="29908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16"/>
          <p:cNvSpPr/>
          <p:nvPr/>
        </p:nvSpPr>
        <p:spPr>
          <a:xfrm>
            <a:off x="8172450" y="9343281"/>
            <a:ext cx="707603"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EC3013"/>
              </a:buClr>
              <a:buSzPts val="975"/>
              <a:buFont typeface="Archivo"/>
              <a:buNone/>
            </a:pPr>
            <a:r>
              <a:rPr b="1" i="0" lang="en-US" sz="975" u="none" cap="none" strike="noStrike">
                <a:solidFill>
                  <a:srgbClr val="EC3013"/>
                </a:solidFill>
                <a:latin typeface="Archivo"/>
                <a:ea typeface="Archivo"/>
                <a:cs typeface="Archivo"/>
                <a:sym typeface="Archivo"/>
              </a:rPr>
              <a:t>Dashboard</a:t>
            </a:r>
            <a:endParaRPr b="0" i="0" sz="975" u="none" cap="none" strike="noStrike">
              <a:solidFill>
                <a:schemeClr val="dk1"/>
              </a:solidFill>
              <a:latin typeface="Calibri"/>
              <a:ea typeface="Calibri"/>
              <a:cs typeface="Calibri"/>
              <a:sym typeface="Calibri"/>
            </a:endParaRPr>
          </a:p>
        </p:txBody>
      </p:sp>
      <p:sp>
        <p:nvSpPr>
          <p:cNvPr id="805" name="Google Shape;805;p16"/>
          <p:cNvSpPr/>
          <p:nvPr/>
        </p:nvSpPr>
        <p:spPr>
          <a:xfrm>
            <a:off x="9060433" y="9343281"/>
            <a:ext cx="730076"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201E1D"/>
              </a:buClr>
              <a:buSzPts val="975"/>
              <a:buFont typeface="Archivo"/>
              <a:buNone/>
            </a:pPr>
            <a:r>
              <a:rPr b="0" i="0" lang="en-US" sz="975" u="none" cap="none" strike="noStrike">
                <a:solidFill>
                  <a:srgbClr val="201E1D"/>
                </a:solidFill>
                <a:latin typeface="Archivo"/>
                <a:ea typeface="Archivo"/>
                <a:cs typeface="Archivo"/>
                <a:sym typeface="Archivo"/>
              </a:rPr>
              <a:t>Licitaciones</a:t>
            </a:r>
            <a:endParaRPr b="0" i="0" sz="975" u="none" cap="none" strike="noStrike">
              <a:solidFill>
                <a:schemeClr val="dk1"/>
              </a:solidFill>
              <a:latin typeface="Calibri"/>
              <a:ea typeface="Calibri"/>
              <a:cs typeface="Calibri"/>
              <a:sym typeface="Calibri"/>
            </a:endParaRPr>
          </a:p>
        </p:txBody>
      </p:sp>
      <p:sp>
        <p:nvSpPr>
          <p:cNvPr id="806" name="Google Shape;806;p16"/>
          <p:cNvSpPr/>
          <p:nvPr/>
        </p:nvSpPr>
        <p:spPr>
          <a:xfrm>
            <a:off x="9970889" y="9343281"/>
            <a:ext cx="464790"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201E1D"/>
              </a:buClr>
              <a:buSzPts val="975"/>
              <a:buFont typeface="Archivo"/>
              <a:buNone/>
            </a:pPr>
            <a:r>
              <a:rPr b="0" i="0" lang="en-US" sz="975" u="none" cap="none" strike="noStrike">
                <a:solidFill>
                  <a:srgbClr val="201E1D"/>
                </a:solidFill>
                <a:latin typeface="Archivo"/>
                <a:ea typeface="Archivo"/>
                <a:cs typeface="Archivo"/>
                <a:sym typeface="Archivo"/>
              </a:rPr>
              <a:t>Alertas</a:t>
            </a:r>
            <a:endParaRPr b="0" i="0" sz="975" u="none" cap="none" strike="noStrike">
              <a:solidFill>
                <a:schemeClr val="dk1"/>
              </a:solidFill>
              <a:latin typeface="Calibri"/>
              <a:ea typeface="Calibri"/>
              <a:cs typeface="Calibri"/>
              <a:sym typeface="Calibri"/>
            </a:endParaRPr>
          </a:p>
        </p:txBody>
      </p:sp>
      <p:sp>
        <p:nvSpPr>
          <p:cNvPr id="807" name="Google Shape;807;p16"/>
          <p:cNvSpPr/>
          <p:nvPr/>
        </p:nvSpPr>
        <p:spPr>
          <a:xfrm>
            <a:off x="10616059" y="9343281"/>
            <a:ext cx="356741"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201E1D"/>
              </a:buClr>
              <a:buSzPts val="975"/>
              <a:buFont typeface="Archivo"/>
              <a:buNone/>
            </a:pPr>
            <a:r>
              <a:rPr b="0" i="0" lang="en-US" sz="975" u="none" cap="none" strike="noStrike">
                <a:solidFill>
                  <a:srgbClr val="201E1D"/>
                </a:solidFill>
                <a:latin typeface="Archivo"/>
                <a:ea typeface="Archivo"/>
                <a:cs typeface="Archivo"/>
                <a:sym typeface="Archivo"/>
              </a:rPr>
              <a:t>Perfil</a:t>
            </a:r>
            <a:endParaRPr b="0" i="0" sz="975" u="none" cap="none" strike="noStrike">
              <a:solidFill>
                <a:schemeClr val="dk1"/>
              </a:solidFill>
              <a:latin typeface="Calibri"/>
              <a:ea typeface="Calibri"/>
              <a:cs typeface="Calibri"/>
              <a:sym typeface="Calibri"/>
            </a:endParaRPr>
          </a:p>
        </p:txBody>
      </p:sp>
      <p:sp>
        <p:nvSpPr>
          <p:cNvPr id="808" name="Google Shape;808;p16"/>
          <p:cNvSpPr/>
          <p:nvPr/>
        </p:nvSpPr>
        <p:spPr>
          <a:xfrm>
            <a:off x="11430000" y="2194545"/>
            <a:ext cx="3028950" cy="7482855"/>
          </a:xfrm>
          <a:prstGeom prst="rect">
            <a:avLst/>
          </a:prstGeom>
          <a:solidFill>
            <a:srgbClr val="FFFFFF"/>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16"/>
          <p:cNvSpPr/>
          <p:nvPr/>
        </p:nvSpPr>
        <p:spPr>
          <a:xfrm>
            <a:off x="11449050" y="2451720"/>
            <a:ext cx="299085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16"/>
          <p:cNvSpPr/>
          <p:nvPr/>
        </p:nvSpPr>
        <p:spPr>
          <a:xfrm>
            <a:off x="11582400" y="2236663"/>
            <a:ext cx="317078"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0" i="0" lang="en-US" sz="975" u="none" cap="none" strike="noStrike">
                <a:solidFill>
                  <a:srgbClr val="605D5D"/>
                </a:solidFill>
                <a:latin typeface="Archivo"/>
                <a:ea typeface="Archivo"/>
                <a:cs typeface="Archivo"/>
                <a:sym typeface="Archivo"/>
              </a:rPr>
              <a:t>9:41</a:t>
            </a:r>
            <a:endParaRPr b="0" i="0" sz="975" u="none" cap="none" strike="noStrike">
              <a:solidFill>
                <a:schemeClr val="dk1"/>
              </a:solidFill>
              <a:latin typeface="Calibri"/>
              <a:ea typeface="Calibri"/>
              <a:cs typeface="Calibri"/>
              <a:sym typeface="Calibri"/>
            </a:endParaRPr>
          </a:p>
        </p:txBody>
      </p:sp>
      <p:sp>
        <p:nvSpPr>
          <p:cNvPr id="811" name="Google Shape;811;p16"/>
          <p:cNvSpPr/>
          <p:nvPr/>
        </p:nvSpPr>
        <p:spPr>
          <a:xfrm>
            <a:off x="14066788" y="2236663"/>
            <a:ext cx="315962"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605D5D"/>
              </a:buClr>
              <a:buSzPts val="975"/>
              <a:buFont typeface="Archivo"/>
              <a:buNone/>
            </a:pPr>
            <a:r>
              <a:rPr b="0" i="0" lang="en-US" sz="975" u="none" cap="none" strike="noStrike">
                <a:solidFill>
                  <a:srgbClr val="605D5D"/>
                </a:solidFill>
                <a:latin typeface="Archivo"/>
                <a:ea typeface="Archivo"/>
                <a:cs typeface="Archivo"/>
                <a:sym typeface="Archivo"/>
              </a:rPr>
              <a:t>▪ ▪ ▪</a:t>
            </a:r>
            <a:endParaRPr b="0" i="0" sz="975" u="none" cap="none" strike="noStrike">
              <a:solidFill>
                <a:schemeClr val="dk1"/>
              </a:solidFill>
              <a:latin typeface="Calibri"/>
              <a:ea typeface="Calibri"/>
              <a:cs typeface="Calibri"/>
              <a:sym typeface="Calibri"/>
            </a:endParaRPr>
          </a:p>
        </p:txBody>
      </p:sp>
      <p:sp>
        <p:nvSpPr>
          <p:cNvPr id="812" name="Google Shape;812;p16"/>
          <p:cNvSpPr/>
          <p:nvPr/>
        </p:nvSpPr>
        <p:spPr>
          <a:xfrm>
            <a:off x="11449050" y="2861295"/>
            <a:ext cx="29908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16"/>
          <p:cNvSpPr/>
          <p:nvPr/>
        </p:nvSpPr>
        <p:spPr>
          <a:xfrm>
            <a:off x="11601450" y="2535808"/>
            <a:ext cx="728514" cy="289024"/>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EC3013"/>
              </a:buClr>
              <a:buSzPts val="1275"/>
              <a:buFont typeface="Archivo"/>
              <a:buNone/>
            </a:pPr>
            <a:r>
              <a:rPr b="1" i="0" lang="en-US" sz="1275" u="none" cap="none" strike="noStrike">
                <a:solidFill>
                  <a:srgbClr val="EC3013"/>
                </a:solidFill>
                <a:latin typeface="Archivo"/>
                <a:ea typeface="Archivo"/>
                <a:cs typeface="Archivo"/>
                <a:sym typeface="Archivo"/>
              </a:rPr>
              <a:t>← Volver</a:t>
            </a:r>
            <a:endParaRPr b="0" i="0" sz="1275" u="none" cap="none" strike="noStrike">
              <a:solidFill>
                <a:schemeClr val="dk1"/>
              </a:solidFill>
              <a:latin typeface="Calibri"/>
              <a:ea typeface="Calibri"/>
              <a:cs typeface="Calibri"/>
              <a:sym typeface="Calibri"/>
            </a:endParaRPr>
          </a:p>
        </p:txBody>
      </p:sp>
      <p:sp>
        <p:nvSpPr>
          <p:cNvPr id="814" name="Google Shape;814;p16"/>
          <p:cNvSpPr/>
          <p:nvPr/>
        </p:nvSpPr>
        <p:spPr>
          <a:xfrm>
            <a:off x="11601450" y="3032745"/>
            <a:ext cx="873175" cy="249064"/>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16"/>
          <p:cNvSpPr/>
          <p:nvPr/>
        </p:nvSpPr>
        <p:spPr>
          <a:xfrm>
            <a:off x="11677650" y="3051795"/>
            <a:ext cx="796975" cy="24906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7C1405"/>
              </a:buClr>
              <a:buSzPts val="975"/>
              <a:buFont typeface="Archivo"/>
              <a:buNone/>
            </a:pPr>
            <a:r>
              <a:rPr b="0" i="0" lang="en-US" sz="975" u="none" cap="none" strike="noStrike">
                <a:solidFill>
                  <a:srgbClr val="7C1405"/>
                </a:solidFill>
                <a:latin typeface="Archivo"/>
                <a:ea typeface="Archivo"/>
                <a:cs typeface="Archivo"/>
                <a:sym typeface="Archivo"/>
              </a:rPr>
              <a:t>Alimentación</a:t>
            </a:r>
            <a:endParaRPr b="0" i="0" sz="975" u="none" cap="none" strike="noStrike">
              <a:solidFill>
                <a:schemeClr val="dk1"/>
              </a:solidFill>
              <a:latin typeface="Calibri"/>
              <a:ea typeface="Calibri"/>
              <a:cs typeface="Calibri"/>
              <a:sym typeface="Calibri"/>
            </a:endParaRPr>
          </a:p>
        </p:txBody>
      </p:sp>
      <p:sp>
        <p:nvSpPr>
          <p:cNvPr id="816" name="Google Shape;816;p16"/>
          <p:cNvSpPr/>
          <p:nvPr/>
        </p:nvSpPr>
        <p:spPr>
          <a:xfrm>
            <a:off x="12531775" y="3032745"/>
            <a:ext cx="567110" cy="249064"/>
          </a:xfrm>
          <a:prstGeom prst="rect">
            <a:avLst/>
          </a:prstGeom>
          <a:noFill/>
          <a:ln cap="flat" cmpd="sng" w="9525">
            <a:solidFill>
              <a:srgbClr val="EC301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16"/>
          <p:cNvSpPr/>
          <p:nvPr/>
        </p:nvSpPr>
        <p:spPr>
          <a:xfrm>
            <a:off x="12617500" y="3061320"/>
            <a:ext cx="471860" cy="230014"/>
          </a:xfrm>
          <a:prstGeom prst="rect">
            <a:avLst/>
          </a:prstGeom>
          <a:noFill/>
          <a:ln>
            <a:noFill/>
          </a:ln>
        </p:spPr>
        <p:txBody>
          <a:bodyPr anchorCtr="0" anchor="t" bIns="25400" lIns="25400" spcFirstLastPara="1" rIns="25400" wrap="square" tIns="25400">
            <a:noAutofit/>
          </a:bodyPr>
          <a:lstStyle/>
          <a:p>
            <a:pPr indent="0" lvl="0" marL="0" marR="0" rtl="0" algn="l">
              <a:lnSpc>
                <a:spcPct val="143929"/>
              </a:lnSpc>
              <a:spcBef>
                <a:spcPts val="0"/>
              </a:spcBef>
              <a:spcAft>
                <a:spcPts val="0"/>
              </a:spcAft>
              <a:buClr>
                <a:srgbClr val="EC3013"/>
              </a:buClr>
              <a:buSzPts val="975"/>
              <a:buFont typeface="Archivo"/>
              <a:buNone/>
            </a:pPr>
            <a:r>
              <a:rPr b="0" i="0" lang="en-US" sz="975" u="none" cap="none" strike="noStrike">
                <a:solidFill>
                  <a:srgbClr val="EC3013"/>
                </a:solidFill>
                <a:latin typeface="Archivo"/>
                <a:ea typeface="Archivo"/>
                <a:cs typeface="Archivo"/>
                <a:sym typeface="Archivo"/>
              </a:rPr>
              <a:t>Abierta</a:t>
            </a:r>
            <a:endParaRPr b="0" i="0" sz="975" u="none" cap="none" strike="noStrike">
              <a:solidFill>
                <a:schemeClr val="dk1"/>
              </a:solidFill>
              <a:latin typeface="Calibri"/>
              <a:ea typeface="Calibri"/>
              <a:cs typeface="Calibri"/>
              <a:sym typeface="Calibri"/>
            </a:endParaRPr>
          </a:p>
        </p:txBody>
      </p:sp>
      <p:sp>
        <p:nvSpPr>
          <p:cNvPr id="818" name="Google Shape;818;p16"/>
          <p:cNvSpPr/>
          <p:nvPr/>
        </p:nvSpPr>
        <p:spPr>
          <a:xfrm>
            <a:off x="11601450" y="3396109"/>
            <a:ext cx="2766632" cy="528786"/>
          </a:xfrm>
          <a:prstGeom prst="rect">
            <a:avLst/>
          </a:prstGeom>
          <a:noFill/>
          <a:ln>
            <a:noFill/>
          </a:ln>
        </p:spPr>
        <p:txBody>
          <a:bodyPr anchorCtr="0" anchor="t" bIns="25400" lIns="25400" spcFirstLastPara="1" rIns="25400" wrap="square" tIns="25400">
            <a:noAutofit/>
          </a:bodyPr>
          <a:lstStyle/>
          <a:p>
            <a:pPr indent="0" lvl="0" marL="0" marR="0" rtl="0" algn="l">
              <a:lnSpc>
                <a:spcPct val="103040"/>
              </a:lnSpc>
              <a:spcBef>
                <a:spcPts val="0"/>
              </a:spcBef>
              <a:spcAft>
                <a:spcPts val="0"/>
              </a:spcAft>
              <a:buClr>
                <a:srgbClr val="201E1D"/>
              </a:buClr>
              <a:buSzPts val="1725"/>
              <a:buFont typeface="Archivo"/>
              <a:buNone/>
            </a:pPr>
            <a:r>
              <a:rPr b="1" i="0" lang="en-US" sz="1725" u="none" cap="none" strike="noStrike">
                <a:solidFill>
                  <a:srgbClr val="201E1D"/>
                </a:solidFill>
                <a:latin typeface="Archivo"/>
                <a:ea typeface="Archivo"/>
                <a:cs typeface="Archivo"/>
                <a:sym typeface="Archivo"/>
              </a:rPr>
              <a:t>Suministro de pan y pastelería</a:t>
            </a:r>
            <a:endParaRPr b="0" i="0" sz="1725" u="none" cap="none" strike="noStrike">
              <a:solidFill>
                <a:schemeClr val="dk1"/>
              </a:solidFill>
              <a:latin typeface="Calibri"/>
              <a:ea typeface="Calibri"/>
              <a:cs typeface="Calibri"/>
              <a:sym typeface="Calibri"/>
            </a:endParaRPr>
          </a:p>
        </p:txBody>
      </p:sp>
      <p:sp>
        <p:nvSpPr>
          <p:cNvPr id="819" name="Google Shape;819;p16"/>
          <p:cNvSpPr/>
          <p:nvPr/>
        </p:nvSpPr>
        <p:spPr>
          <a:xfrm>
            <a:off x="11601450" y="4001095"/>
            <a:ext cx="2954655" cy="244748"/>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605D5D"/>
              </a:buClr>
              <a:buSzPts val="1050"/>
              <a:buFont typeface="Archivo"/>
              <a:buNone/>
            </a:pPr>
            <a:r>
              <a:rPr b="0" i="0" lang="en-US" sz="1050" u="none" cap="none" strike="noStrike">
                <a:solidFill>
                  <a:srgbClr val="605D5D"/>
                </a:solidFill>
                <a:latin typeface="Archivo"/>
                <a:ea typeface="Archivo"/>
                <a:cs typeface="Archivo"/>
                <a:sym typeface="Archivo"/>
              </a:rPr>
              <a:t>Hospital Regional de Rancagua</a:t>
            </a:r>
            <a:endParaRPr b="0" i="0" sz="1050" u="none" cap="none" strike="noStrike">
              <a:solidFill>
                <a:schemeClr val="dk1"/>
              </a:solidFill>
              <a:latin typeface="Calibri"/>
              <a:ea typeface="Calibri"/>
              <a:cs typeface="Calibri"/>
              <a:sym typeface="Calibri"/>
            </a:endParaRPr>
          </a:p>
        </p:txBody>
      </p:sp>
      <p:sp>
        <p:nvSpPr>
          <p:cNvPr id="820" name="Google Shape;820;p16"/>
          <p:cNvSpPr/>
          <p:nvPr/>
        </p:nvSpPr>
        <p:spPr>
          <a:xfrm>
            <a:off x="11601450" y="4322043"/>
            <a:ext cx="2686050" cy="1062930"/>
          </a:xfrm>
          <a:prstGeom prst="rect">
            <a:avLst/>
          </a:prstGeom>
          <a:solidFill>
            <a:srgbClr val="FFF2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16"/>
          <p:cNvSpPr/>
          <p:nvPr/>
        </p:nvSpPr>
        <p:spPr>
          <a:xfrm>
            <a:off x="11715750" y="4436343"/>
            <a:ext cx="2703195" cy="21520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7C1405"/>
              </a:buClr>
              <a:buSzPts val="900"/>
              <a:buFont typeface="Archivo"/>
              <a:buNone/>
            </a:pPr>
            <a:r>
              <a:rPr b="1" i="0" lang="en-US" sz="900" u="none" cap="none" strike="noStrike">
                <a:solidFill>
                  <a:srgbClr val="7C1405"/>
                </a:solidFill>
                <a:latin typeface="Archivo"/>
                <a:ea typeface="Archivo"/>
                <a:cs typeface="Archivo"/>
                <a:sym typeface="Archivo"/>
              </a:rPr>
              <a:t>RESUMEN IA</a:t>
            </a:r>
            <a:endParaRPr b="0" i="0" sz="900" u="none" cap="none" strike="noStrike">
              <a:solidFill>
                <a:schemeClr val="dk1"/>
              </a:solidFill>
              <a:latin typeface="Calibri"/>
              <a:ea typeface="Calibri"/>
              <a:cs typeface="Calibri"/>
              <a:sym typeface="Calibri"/>
            </a:endParaRPr>
          </a:p>
        </p:txBody>
      </p:sp>
      <p:sp>
        <p:nvSpPr>
          <p:cNvPr id="822" name="Google Shape;822;p16"/>
          <p:cNvSpPr/>
          <p:nvPr/>
        </p:nvSpPr>
        <p:spPr>
          <a:xfrm>
            <a:off x="11715750" y="4670599"/>
            <a:ext cx="2533650" cy="638175"/>
          </a:xfrm>
          <a:prstGeom prst="rect">
            <a:avLst/>
          </a:prstGeom>
          <a:noFill/>
          <a:ln>
            <a:noFill/>
          </a:ln>
        </p:spPr>
        <p:txBody>
          <a:bodyPr anchorCtr="0" anchor="t" bIns="25400" lIns="25400" spcFirstLastPara="1" rIns="25400" wrap="square" tIns="25400">
            <a:noAutofit/>
          </a:bodyPr>
          <a:lstStyle/>
          <a:p>
            <a:pPr indent="0" lvl="0" marL="0" marR="0" rtl="0" algn="l">
              <a:lnSpc>
                <a:spcPct val="131250"/>
              </a:lnSpc>
              <a:spcBef>
                <a:spcPts val="0"/>
              </a:spcBef>
              <a:spcAft>
                <a:spcPts val="0"/>
              </a:spcAft>
              <a:buClr>
                <a:srgbClr val="201E1D"/>
              </a:buClr>
              <a:buSzPts val="1125"/>
              <a:buFont typeface="Archivo"/>
              <a:buNone/>
            </a:pPr>
            <a:r>
              <a:rPr b="0" i="0" lang="en-US" sz="1125" u="none" cap="none" strike="noStrike">
                <a:solidFill>
                  <a:srgbClr val="201E1D"/>
                </a:solidFill>
                <a:latin typeface="Archivo"/>
                <a:ea typeface="Archivo"/>
                <a:cs typeface="Archivo"/>
                <a:sym typeface="Archivo"/>
              </a:rPr>
              <a:t>Compra periódica de pan; despacho diario lunes a sábado; requiere certificación sanitaria vigente.</a:t>
            </a:r>
            <a:endParaRPr b="0" i="0" sz="1125" u="none" cap="none" strike="noStrike">
              <a:solidFill>
                <a:schemeClr val="dk1"/>
              </a:solidFill>
              <a:latin typeface="Calibri"/>
              <a:ea typeface="Calibri"/>
              <a:cs typeface="Calibri"/>
              <a:sym typeface="Calibri"/>
            </a:endParaRPr>
          </a:p>
        </p:txBody>
      </p:sp>
      <p:sp>
        <p:nvSpPr>
          <p:cNvPr id="823" name="Google Shape;823;p16"/>
          <p:cNvSpPr/>
          <p:nvPr/>
        </p:nvSpPr>
        <p:spPr>
          <a:xfrm>
            <a:off x="11601450" y="6143104"/>
            <a:ext cx="26860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16"/>
          <p:cNvSpPr/>
          <p:nvPr/>
        </p:nvSpPr>
        <p:spPr>
          <a:xfrm>
            <a:off x="11601450" y="5499274"/>
            <a:ext cx="268605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6"/>
          <p:cNvSpPr/>
          <p:nvPr/>
        </p:nvSpPr>
        <p:spPr>
          <a:xfrm>
            <a:off x="11601450" y="5594524"/>
            <a:ext cx="901675" cy="21520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900"/>
              <a:buFont typeface="Archivo"/>
              <a:buNone/>
            </a:pPr>
            <a:r>
              <a:rPr b="0" i="0" lang="en-US" sz="900" u="none" cap="none" strike="noStrike">
                <a:solidFill>
                  <a:srgbClr val="605D5D"/>
                </a:solidFill>
                <a:latin typeface="Archivo"/>
                <a:ea typeface="Archivo"/>
                <a:cs typeface="Archivo"/>
                <a:sym typeface="Archivo"/>
              </a:rPr>
              <a:t>MONTO</a:t>
            </a:r>
            <a:endParaRPr b="0" i="0" sz="900" u="none" cap="none" strike="noStrike">
              <a:solidFill>
                <a:schemeClr val="dk1"/>
              </a:solidFill>
              <a:latin typeface="Calibri"/>
              <a:ea typeface="Calibri"/>
              <a:cs typeface="Calibri"/>
              <a:sym typeface="Calibri"/>
            </a:endParaRPr>
          </a:p>
        </p:txBody>
      </p:sp>
      <p:sp>
        <p:nvSpPr>
          <p:cNvPr id="826" name="Google Shape;826;p16"/>
          <p:cNvSpPr/>
          <p:nvPr/>
        </p:nvSpPr>
        <p:spPr>
          <a:xfrm>
            <a:off x="11601450" y="5771629"/>
            <a:ext cx="901675" cy="333375"/>
          </a:xfrm>
          <a:prstGeom prst="rect">
            <a:avLst/>
          </a:prstGeom>
          <a:noFill/>
          <a:ln>
            <a:noFill/>
          </a:ln>
        </p:spPr>
        <p:txBody>
          <a:bodyPr anchorCtr="0" anchor="t" bIns="25400" lIns="25400" spcFirstLastPara="1" rIns="25400" wrap="square" tIns="25400">
            <a:noAutofit/>
          </a:bodyPr>
          <a:lstStyle/>
          <a:p>
            <a:pPr indent="0" lvl="0" marL="0" marR="0" rtl="0" algn="l">
              <a:lnSpc>
                <a:spcPct val="144186"/>
              </a:lnSpc>
              <a:spcBef>
                <a:spcPts val="0"/>
              </a:spcBef>
              <a:spcAft>
                <a:spcPts val="0"/>
              </a:spcAft>
              <a:buClr>
                <a:srgbClr val="201E1D"/>
              </a:buClr>
              <a:buSzPts val="1500"/>
              <a:buFont typeface="Archivo"/>
              <a:buNone/>
            </a:pPr>
            <a:r>
              <a:rPr b="1" i="0" lang="en-US" sz="1500" u="none" cap="none" strike="noStrike">
                <a:solidFill>
                  <a:srgbClr val="201E1D"/>
                </a:solidFill>
                <a:latin typeface="Archivo"/>
                <a:ea typeface="Archivo"/>
                <a:cs typeface="Archivo"/>
                <a:sym typeface="Archivo"/>
              </a:rPr>
              <a:t>$14.5M</a:t>
            </a:r>
            <a:endParaRPr b="0" i="0" sz="1500" u="none" cap="none" strike="noStrike">
              <a:solidFill>
                <a:schemeClr val="dk1"/>
              </a:solidFill>
              <a:latin typeface="Calibri"/>
              <a:ea typeface="Calibri"/>
              <a:cs typeface="Calibri"/>
              <a:sym typeface="Calibri"/>
            </a:endParaRPr>
          </a:p>
        </p:txBody>
      </p:sp>
      <p:sp>
        <p:nvSpPr>
          <p:cNvPr id="827" name="Google Shape;827;p16"/>
          <p:cNvSpPr/>
          <p:nvPr/>
        </p:nvSpPr>
        <p:spPr>
          <a:xfrm>
            <a:off x="12426925" y="5518324"/>
            <a:ext cx="9525" cy="62478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6"/>
          <p:cNvSpPr/>
          <p:nvPr/>
        </p:nvSpPr>
        <p:spPr>
          <a:xfrm>
            <a:off x="12531700" y="5594524"/>
            <a:ext cx="901750" cy="21520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900"/>
              <a:buFont typeface="Archivo"/>
              <a:buNone/>
            </a:pPr>
            <a:r>
              <a:rPr b="0" i="0" lang="en-US" sz="900" u="none" cap="none" strike="noStrike">
                <a:solidFill>
                  <a:srgbClr val="605D5D"/>
                </a:solidFill>
                <a:latin typeface="Archivo"/>
                <a:ea typeface="Archivo"/>
                <a:cs typeface="Archivo"/>
                <a:sym typeface="Archivo"/>
              </a:rPr>
              <a:t>CIERRA</a:t>
            </a:r>
            <a:endParaRPr b="0" i="0" sz="900" u="none" cap="none" strike="noStrike">
              <a:solidFill>
                <a:schemeClr val="dk1"/>
              </a:solidFill>
              <a:latin typeface="Calibri"/>
              <a:ea typeface="Calibri"/>
              <a:cs typeface="Calibri"/>
              <a:sym typeface="Calibri"/>
            </a:endParaRPr>
          </a:p>
        </p:txBody>
      </p:sp>
      <p:sp>
        <p:nvSpPr>
          <p:cNvPr id="829" name="Google Shape;829;p16"/>
          <p:cNvSpPr/>
          <p:nvPr/>
        </p:nvSpPr>
        <p:spPr>
          <a:xfrm>
            <a:off x="12531700" y="5771629"/>
            <a:ext cx="901750" cy="333375"/>
          </a:xfrm>
          <a:prstGeom prst="rect">
            <a:avLst/>
          </a:prstGeom>
          <a:noFill/>
          <a:ln>
            <a:noFill/>
          </a:ln>
        </p:spPr>
        <p:txBody>
          <a:bodyPr anchorCtr="0" anchor="t" bIns="25400" lIns="25400" spcFirstLastPara="1" rIns="25400" wrap="square" tIns="25400">
            <a:noAutofit/>
          </a:bodyPr>
          <a:lstStyle/>
          <a:p>
            <a:pPr indent="0" lvl="0" marL="0" marR="0" rtl="0" algn="l">
              <a:lnSpc>
                <a:spcPct val="144186"/>
              </a:lnSpc>
              <a:spcBef>
                <a:spcPts val="0"/>
              </a:spcBef>
              <a:spcAft>
                <a:spcPts val="0"/>
              </a:spcAft>
              <a:buClr>
                <a:srgbClr val="201E1D"/>
              </a:buClr>
              <a:buSzPts val="1500"/>
              <a:buFont typeface="Archivo"/>
              <a:buNone/>
            </a:pPr>
            <a:r>
              <a:rPr b="1" i="0" lang="en-US" sz="1500" u="none" cap="none" strike="noStrike">
                <a:solidFill>
                  <a:srgbClr val="201E1D"/>
                </a:solidFill>
                <a:latin typeface="Archivo"/>
                <a:ea typeface="Archivo"/>
                <a:cs typeface="Archivo"/>
                <a:sym typeface="Archivo"/>
              </a:rPr>
              <a:t>3 días</a:t>
            </a:r>
            <a:endParaRPr b="0" i="0" sz="1500" u="none" cap="none" strike="noStrike">
              <a:solidFill>
                <a:schemeClr val="dk1"/>
              </a:solidFill>
              <a:latin typeface="Calibri"/>
              <a:ea typeface="Calibri"/>
              <a:cs typeface="Calibri"/>
              <a:sym typeface="Calibri"/>
            </a:endParaRPr>
          </a:p>
        </p:txBody>
      </p:sp>
      <p:sp>
        <p:nvSpPr>
          <p:cNvPr id="830" name="Google Shape;830;p16"/>
          <p:cNvSpPr/>
          <p:nvPr/>
        </p:nvSpPr>
        <p:spPr>
          <a:xfrm>
            <a:off x="13357250" y="5518324"/>
            <a:ext cx="9525" cy="62478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16"/>
          <p:cNvSpPr/>
          <p:nvPr/>
        </p:nvSpPr>
        <p:spPr>
          <a:xfrm>
            <a:off x="13462025" y="5594524"/>
            <a:ext cx="901675" cy="21520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900"/>
              <a:buFont typeface="Archivo"/>
              <a:buNone/>
            </a:pPr>
            <a:r>
              <a:rPr b="0" i="0" lang="en-US" sz="900" u="none" cap="none" strike="noStrike">
                <a:solidFill>
                  <a:srgbClr val="605D5D"/>
                </a:solidFill>
                <a:latin typeface="Archivo"/>
                <a:ea typeface="Archivo"/>
                <a:cs typeface="Archivo"/>
                <a:sym typeface="Archivo"/>
              </a:rPr>
              <a:t>MATCH</a:t>
            </a:r>
            <a:endParaRPr b="0" i="0" sz="900" u="none" cap="none" strike="noStrike">
              <a:solidFill>
                <a:schemeClr val="dk1"/>
              </a:solidFill>
              <a:latin typeface="Calibri"/>
              <a:ea typeface="Calibri"/>
              <a:cs typeface="Calibri"/>
              <a:sym typeface="Calibri"/>
            </a:endParaRPr>
          </a:p>
        </p:txBody>
      </p:sp>
      <p:sp>
        <p:nvSpPr>
          <p:cNvPr id="832" name="Google Shape;832;p16"/>
          <p:cNvSpPr/>
          <p:nvPr/>
        </p:nvSpPr>
        <p:spPr>
          <a:xfrm>
            <a:off x="13462025" y="5771629"/>
            <a:ext cx="901675" cy="333375"/>
          </a:xfrm>
          <a:prstGeom prst="rect">
            <a:avLst/>
          </a:prstGeom>
          <a:noFill/>
          <a:ln>
            <a:noFill/>
          </a:ln>
        </p:spPr>
        <p:txBody>
          <a:bodyPr anchorCtr="0" anchor="t" bIns="25400" lIns="25400" spcFirstLastPara="1" rIns="25400" wrap="square" tIns="25400">
            <a:noAutofit/>
          </a:bodyPr>
          <a:lstStyle/>
          <a:p>
            <a:pPr indent="0" lvl="0" marL="0" marR="0" rtl="0" algn="l">
              <a:lnSpc>
                <a:spcPct val="144186"/>
              </a:lnSpc>
              <a:spcBef>
                <a:spcPts val="0"/>
              </a:spcBef>
              <a:spcAft>
                <a:spcPts val="0"/>
              </a:spcAft>
              <a:buClr>
                <a:srgbClr val="EC3013"/>
              </a:buClr>
              <a:buSzPts val="1500"/>
              <a:buFont typeface="Archivo"/>
              <a:buNone/>
            </a:pPr>
            <a:r>
              <a:rPr b="1" i="0" lang="en-US" sz="1500" u="none" cap="none" strike="noStrike">
                <a:solidFill>
                  <a:srgbClr val="EC3013"/>
                </a:solidFill>
                <a:latin typeface="Archivo"/>
                <a:ea typeface="Archivo"/>
                <a:cs typeface="Archivo"/>
                <a:sym typeface="Archivo"/>
              </a:rPr>
              <a:t>92%</a:t>
            </a:r>
            <a:endParaRPr b="0" i="0" sz="1500" u="none" cap="none" strike="noStrike">
              <a:solidFill>
                <a:schemeClr val="dk1"/>
              </a:solidFill>
              <a:latin typeface="Calibri"/>
              <a:ea typeface="Calibri"/>
              <a:cs typeface="Calibri"/>
              <a:sym typeface="Calibri"/>
            </a:endParaRPr>
          </a:p>
        </p:txBody>
      </p:sp>
      <p:sp>
        <p:nvSpPr>
          <p:cNvPr id="833" name="Google Shape;833;p16"/>
          <p:cNvSpPr/>
          <p:nvPr/>
        </p:nvSpPr>
        <p:spPr>
          <a:xfrm>
            <a:off x="11601450" y="8591550"/>
            <a:ext cx="2686050" cy="400050"/>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16"/>
          <p:cNvSpPr/>
          <p:nvPr/>
        </p:nvSpPr>
        <p:spPr>
          <a:xfrm>
            <a:off x="11734800" y="8591550"/>
            <a:ext cx="2499932" cy="43815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F3F2F2"/>
              </a:buClr>
              <a:buSzPts val="1200"/>
              <a:buFont typeface="Archivo"/>
              <a:buNone/>
            </a:pPr>
            <a:r>
              <a:rPr b="1" i="0" lang="en-US" sz="1200" u="none" cap="none" strike="noStrike">
                <a:solidFill>
                  <a:srgbClr val="F3F2F2"/>
                </a:solidFill>
                <a:latin typeface="Archivo"/>
                <a:ea typeface="Archivo"/>
                <a:cs typeface="Archivo"/>
                <a:sym typeface="Archivo"/>
              </a:rPr>
              <a:t>Marcar como postulada</a:t>
            </a:r>
            <a:endParaRPr b="0" i="0" sz="1200" u="none" cap="none" strike="noStrike">
              <a:solidFill>
                <a:schemeClr val="dk1"/>
              </a:solidFill>
              <a:latin typeface="Calibri"/>
              <a:ea typeface="Calibri"/>
              <a:cs typeface="Calibri"/>
              <a:sym typeface="Calibri"/>
            </a:endParaRPr>
          </a:p>
        </p:txBody>
      </p:sp>
      <p:sp>
        <p:nvSpPr>
          <p:cNvPr id="835" name="Google Shape;835;p16"/>
          <p:cNvSpPr/>
          <p:nvPr/>
        </p:nvSpPr>
        <p:spPr>
          <a:xfrm>
            <a:off x="11601450" y="9105900"/>
            <a:ext cx="2686050" cy="400050"/>
          </a:xfrm>
          <a:prstGeom prst="rect">
            <a:avLst/>
          </a:prstGeom>
          <a:noFill/>
          <a:ln cap="flat" cmpd="sng" w="9525">
            <a:solidFill>
              <a:srgbClr val="201E1E">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6"/>
          <p:cNvSpPr/>
          <p:nvPr/>
        </p:nvSpPr>
        <p:spPr>
          <a:xfrm>
            <a:off x="11744325" y="9115425"/>
            <a:ext cx="2480882" cy="419100"/>
          </a:xfrm>
          <a:prstGeom prst="rect">
            <a:avLst/>
          </a:prstGeom>
          <a:noFill/>
          <a:ln>
            <a:noFill/>
          </a:ln>
        </p:spPr>
        <p:txBody>
          <a:bodyPr anchorCtr="0" anchor="ctr" bIns="25400" lIns="25400" spcFirstLastPara="1" rIns="25400" wrap="square" tIns="25400">
            <a:noAutofit/>
          </a:bodyPr>
          <a:lstStyle/>
          <a:p>
            <a:pPr indent="0" lvl="0" marL="0" marR="0" rtl="0" algn="l">
              <a:lnSpc>
                <a:spcPct val="141714"/>
              </a:lnSpc>
              <a:spcBef>
                <a:spcPts val="0"/>
              </a:spcBef>
              <a:spcAft>
                <a:spcPts val="0"/>
              </a:spcAft>
              <a:buClr>
                <a:srgbClr val="201E1D"/>
              </a:buClr>
              <a:buSzPts val="1200"/>
              <a:buFont typeface="Archivo"/>
              <a:buNone/>
            </a:pPr>
            <a:r>
              <a:rPr b="1" i="0" lang="en-US" sz="1200" u="none" cap="none" strike="noStrike">
                <a:solidFill>
                  <a:srgbClr val="201E1D"/>
                </a:solidFill>
                <a:latin typeface="Archivo"/>
                <a:ea typeface="Archivo"/>
                <a:cs typeface="Archivo"/>
                <a:sym typeface="Archivo"/>
              </a:rPr>
              <a:t>Guardar para revisar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3013"/>
        </a:solidFill>
      </p:bgPr>
    </p:bg>
    <p:spTree>
      <p:nvGrpSpPr>
        <p:cNvPr id="841" name="Shape 841"/>
        <p:cNvGrpSpPr/>
        <p:nvPr/>
      </p:nvGrpSpPr>
      <p:grpSpPr>
        <a:xfrm>
          <a:off x="0" y="0"/>
          <a:ext cx="0" cy="0"/>
          <a:chOff x="0" y="0"/>
          <a:chExt cx="0" cy="0"/>
        </a:xfrm>
      </p:grpSpPr>
      <p:sp>
        <p:nvSpPr>
          <p:cNvPr id="842" name="Google Shape;842;p17"/>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F3F2F2"/>
              </a:buClr>
              <a:buSzPts val="1950"/>
              <a:buFont typeface="Archivo"/>
              <a:buNone/>
            </a:pPr>
            <a:r>
              <a:rPr b="1" i="0" lang="en-US" sz="1950" u="none" cap="none" strike="noStrike">
                <a:solidFill>
                  <a:srgbClr val="F3F2F2"/>
                </a:solidFill>
                <a:latin typeface="Archivo"/>
                <a:ea typeface="Archivo"/>
                <a:cs typeface="Archivo"/>
                <a:sym typeface="Archivo"/>
              </a:rPr>
              <a:t>04</a:t>
            </a:r>
            <a:endParaRPr b="0" i="0" sz="1950" u="none" cap="none" strike="noStrike">
              <a:solidFill>
                <a:schemeClr val="dk1"/>
              </a:solidFill>
              <a:latin typeface="Calibri"/>
              <a:ea typeface="Calibri"/>
              <a:cs typeface="Calibri"/>
              <a:sym typeface="Calibri"/>
            </a:endParaRPr>
          </a:p>
        </p:txBody>
      </p:sp>
      <p:sp>
        <p:nvSpPr>
          <p:cNvPr id="843" name="Google Shape;843;p17"/>
          <p:cNvSpPr/>
          <p:nvPr/>
        </p:nvSpPr>
        <p:spPr>
          <a:xfrm>
            <a:off x="838200" y="3516139"/>
            <a:ext cx="14716125" cy="2752725"/>
          </a:xfrm>
          <a:prstGeom prst="rect">
            <a:avLst/>
          </a:prstGeom>
          <a:noFill/>
          <a:ln>
            <a:noFill/>
          </a:ln>
        </p:spPr>
        <p:txBody>
          <a:bodyPr anchorCtr="0" anchor="t" bIns="25400" lIns="25400" spcFirstLastPara="1" rIns="25400" wrap="square" tIns="25400">
            <a:noAutofit/>
          </a:bodyPr>
          <a:lstStyle/>
          <a:p>
            <a:pPr indent="0" lvl="0" marL="0" marR="0" rtl="0" algn="l">
              <a:lnSpc>
                <a:spcPct val="87423"/>
              </a:lnSpc>
              <a:spcBef>
                <a:spcPts val="0"/>
              </a:spcBef>
              <a:spcAft>
                <a:spcPts val="0"/>
              </a:spcAft>
              <a:buClr>
                <a:srgbClr val="F3F2F2"/>
              </a:buClr>
              <a:buSzPts val="11250"/>
              <a:buFont typeface="Archivo"/>
              <a:buNone/>
            </a:pPr>
            <a:r>
              <a:rPr b="1" i="0" lang="en-US" sz="11250" u="none" cap="none" strike="noStrike">
                <a:solidFill>
                  <a:srgbClr val="F3F2F2"/>
                </a:solidFill>
                <a:latin typeface="Archivo"/>
                <a:ea typeface="Archivo"/>
                <a:cs typeface="Archivo"/>
                <a:sym typeface="Archivo"/>
              </a:rPr>
              <a:t>Arquitectura e inteligencia artificial</a:t>
            </a:r>
            <a:endParaRPr b="0" i="0" sz="11250" u="none" cap="none" strike="noStrike">
              <a:solidFill>
                <a:schemeClr val="dk1"/>
              </a:solidFill>
              <a:latin typeface="Calibri"/>
              <a:ea typeface="Calibri"/>
              <a:cs typeface="Calibri"/>
              <a:sym typeface="Calibri"/>
            </a:endParaRPr>
          </a:p>
        </p:txBody>
      </p:sp>
      <p:sp>
        <p:nvSpPr>
          <p:cNvPr id="844" name="Google Shape;844;p17"/>
          <p:cNvSpPr/>
          <p:nvPr/>
        </p:nvSpPr>
        <p:spPr>
          <a:xfrm>
            <a:off x="838200" y="8813527"/>
            <a:ext cx="16611600" cy="19050"/>
          </a:xfrm>
          <a:prstGeom prst="rect">
            <a:avLst/>
          </a:prstGeom>
          <a:solidFill>
            <a:srgbClr val="F3F2F2">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7"/>
          <p:cNvSpPr/>
          <p:nvPr/>
        </p:nvSpPr>
        <p:spPr>
          <a:xfrm>
            <a:off x="838200" y="9099277"/>
            <a:ext cx="18272760"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F3F2F2"/>
              </a:buClr>
              <a:buSzPts val="2550"/>
              <a:buFont typeface="Archivo"/>
              <a:buNone/>
            </a:pPr>
            <a:r>
              <a:rPr b="0" i="0" lang="en-US" sz="2550" u="none" cap="none" strike="noStrike">
                <a:solidFill>
                  <a:srgbClr val="F3F2F2"/>
                </a:solidFill>
                <a:latin typeface="Archivo"/>
                <a:ea typeface="Archivo"/>
                <a:cs typeface="Archivo"/>
                <a:sym typeface="Archivo"/>
              </a:rPr>
              <a:t>Cuatro módulos, una base de datos y un despliegue en la nube de mantención simple</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850" name="Shape 850"/>
        <p:cNvGrpSpPr/>
        <p:nvPr/>
      </p:nvGrpSpPr>
      <p:grpSpPr>
        <a:xfrm>
          <a:off x="0" y="0"/>
          <a:ext cx="0" cy="0"/>
          <a:chOff x="0" y="0"/>
          <a:chExt cx="0" cy="0"/>
        </a:xfrm>
      </p:grpSpPr>
      <p:sp>
        <p:nvSpPr>
          <p:cNvPr id="851" name="Google Shape;851;p18"/>
          <p:cNvSpPr/>
          <p:nvPr/>
        </p:nvSpPr>
        <p:spPr>
          <a:xfrm>
            <a:off x="838200" y="6096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04 · ARQUITECTURA E IA</a:t>
            </a:r>
            <a:endParaRPr b="0" i="0" sz="1950" u="none" cap="none" strike="noStrike">
              <a:solidFill>
                <a:schemeClr val="dk1"/>
              </a:solidFill>
              <a:latin typeface="Calibri"/>
              <a:ea typeface="Calibri"/>
              <a:cs typeface="Calibri"/>
              <a:sym typeface="Calibri"/>
            </a:endParaRPr>
          </a:p>
        </p:txBody>
      </p:sp>
      <p:sp>
        <p:nvSpPr>
          <p:cNvPr id="852" name="Google Shape;852;p18"/>
          <p:cNvSpPr/>
          <p:nvPr/>
        </p:nvSpPr>
        <p:spPr>
          <a:xfrm>
            <a:off x="838200" y="114300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Cuatro módulos en cadena</a:t>
            </a:r>
            <a:endParaRPr b="0" i="0" sz="4500" u="none" cap="none" strike="noStrike">
              <a:solidFill>
                <a:schemeClr val="dk1"/>
              </a:solidFill>
              <a:latin typeface="Calibri"/>
              <a:ea typeface="Calibri"/>
              <a:cs typeface="Calibri"/>
              <a:sym typeface="Calibri"/>
            </a:endParaRPr>
          </a:p>
        </p:txBody>
      </p:sp>
      <p:sp>
        <p:nvSpPr>
          <p:cNvPr id="853" name="Google Shape;853;p18"/>
          <p:cNvSpPr/>
          <p:nvPr/>
        </p:nvSpPr>
        <p:spPr>
          <a:xfrm>
            <a:off x="838200" y="202309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8"/>
          <p:cNvSpPr/>
          <p:nvPr/>
        </p:nvSpPr>
        <p:spPr>
          <a:xfrm>
            <a:off x="838200" y="2385045"/>
            <a:ext cx="5130775" cy="2432447"/>
          </a:xfrm>
          <a:prstGeom prst="rect">
            <a:avLst/>
          </a:prstGeom>
          <a:no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18"/>
          <p:cNvSpPr/>
          <p:nvPr/>
        </p:nvSpPr>
        <p:spPr>
          <a:xfrm>
            <a:off x="1085850" y="2651745"/>
            <a:ext cx="5099023"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MÓDULO 1</a:t>
            </a:r>
            <a:endParaRPr b="0" i="0" sz="1800" u="none" cap="none" strike="noStrike">
              <a:solidFill>
                <a:schemeClr val="dk1"/>
              </a:solidFill>
              <a:latin typeface="Calibri"/>
              <a:ea typeface="Calibri"/>
              <a:cs typeface="Calibri"/>
              <a:sym typeface="Calibri"/>
            </a:endParaRPr>
          </a:p>
        </p:txBody>
      </p:sp>
      <p:sp>
        <p:nvSpPr>
          <p:cNvPr id="856" name="Google Shape;856;p18"/>
          <p:cNvSpPr/>
          <p:nvPr/>
        </p:nvSpPr>
        <p:spPr>
          <a:xfrm>
            <a:off x="1085850" y="3120330"/>
            <a:ext cx="5099023"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Ingesta de datos</a:t>
            </a:r>
            <a:endParaRPr b="0" i="0" sz="2550" u="none" cap="none" strike="noStrike">
              <a:solidFill>
                <a:schemeClr val="dk1"/>
              </a:solidFill>
              <a:latin typeface="Calibri"/>
              <a:ea typeface="Calibri"/>
              <a:cs typeface="Calibri"/>
              <a:sym typeface="Calibri"/>
            </a:endParaRPr>
          </a:p>
        </p:txBody>
      </p:sp>
      <p:sp>
        <p:nvSpPr>
          <p:cNvPr id="857" name="Google Shape;857;p18"/>
          <p:cNvSpPr/>
          <p:nvPr/>
        </p:nvSpPr>
        <p:spPr>
          <a:xfrm>
            <a:off x="1085850" y="3590851"/>
            <a:ext cx="4774539" cy="998041"/>
          </a:xfrm>
          <a:prstGeom prst="rect">
            <a:avLst/>
          </a:prstGeom>
          <a:noFill/>
          <a:ln>
            <a:noFill/>
          </a:ln>
        </p:spPr>
        <p:txBody>
          <a:bodyPr anchorCtr="0" anchor="t" bIns="25400" lIns="25400" spcFirstLastPara="1" rIns="25400" wrap="square" tIns="25400">
            <a:noAutofit/>
          </a:bodyPr>
          <a:lstStyle/>
          <a:p>
            <a:pPr indent="0" lvl="0" marL="0" marR="0" rtl="0" algn="l">
              <a:lnSpc>
                <a:spcPct val="129231"/>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Consulta periódica a la API de Mercado Público y extracción de bases en PDF cuando falta información.</a:t>
            </a:r>
            <a:endParaRPr b="0" i="0" sz="1800" u="none" cap="none" strike="noStrike">
              <a:solidFill>
                <a:schemeClr val="dk1"/>
              </a:solidFill>
              <a:latin typeface="Calibri"/>
              <a:ea typeface="Calibri"/>
              <a:cs typeface="Calibri"/>
              <a:sym typeface="Calibri"/>
            </a:endParaRPr>
          </a:p>
        </p:txBody>
      </p:sp>
      <p:sp>
        <p:nvSpPr>
          <p:cNvPr id="858" name="Google Shape;858;p18"/>
          <p:cNvSpPr/>
          <p:nvPr/>
        </p:nvSpPr>
        <p:spPr>
          <a:xfrm>
            <a:off x="5930875" y="2385045"/>
            <a:ext cx="685800" cy="2470547"/>
          </a:xfrm>
          <a:prstGeom prst="rect">
            <a:avLst/>
          </a:prstGeom>
          <a:noFill/>
          <a:ln>
            <a:noFill/>
          </a:ln>
        </p:spPr>
        <p:txBody>
          <a:bodyPr anchorCtr="0" anchor="ctr" bIns="25400" lIns="25400" spcFirstLastPara="1" rIns="25400" wrap="square" tIns="25400">
            <a:noAutofit/>
          </a:bodyPr>
          <a:lstStyle/>
          <a:p>
            <a:pPr indent="0" lvl="0" marL="0" marR="0" rtl="0" algn="ctr">
              <a:lnSpc>
                <a:spcPct val="143579"/>
              </a:lnSpc>
              <a:spcBef>
                <a:spcPts val="0"/>
              </a:spcBef>
              <a:spcAft>
                <a:spcPts val="0"/>
              </a:spcAft>
              <a:buClr>
                <a:srgbClr val="EC3013"/>
              </a:buClr>
              <a:buSzPts val="3300"/>
              <a:buFont typeface="Archivo"/>
              <a:buNone/>
            </a:pPr>
            <a:r>
              <a:rPr b="0" i="0" lang="en-US" sz="3300" u="none" cap="none" strike="noStrike">
                <a:solidFill>
                  <a:srgbClr val="EC3013"/>
                </a:solidFill>
                <a:latin typeface="Archivo"/>
                <a:ea typeface="Archivo"/>
                <a:cs typeface="Archivo"/>
                <a:sym typeface="Archivo"/>
              </a:rPr>
              <a:t>→</a:t>
            </a:r>
            <a:endParaRPr b="0" i="0" sz="3300" u="none" cap="none" strike="noStrike">
              <a:solidFill>
                <a:schemeClr val="dk1"/>
              </a:solidFill>
              <a:latin typeface="Calibri"/>
              <a:ea typeface="Calibri"/>
              <a:cs typeface="Calibri"/>
              <a:sym typeface="Calibri"/>
            </a:endParaRPr>
          </a:p>
        </p:txBody>
      </p:sp>
      <p:sp>
        <p:nvSpPr>
          <p:cNvPr id="859" name="Google Shape;859;p18"/>
          <p:cNvSpPr/>
          <p:nvPr/>
        </p:nvSpPr>
        <p:spPr>
          <a:xfrm>
            <a:off x="6578575" y="2385045"/>
            <a:ext cx="5130850" cy="2432447"/>
          </a:xfrm>
          <a:prstGeom prst="rect">
            <a:avLst/>
          </a:prstGeom>
          <a:solidFill>
            <a:srgbClr val="EC3013"/>
          </a:solid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18"/>
          <p:cNvSpPr/>
          <p:nvPr/>
        </p:nvSpPr>
        <p:spPr>
          <a:xfrm>
            <a:off x="6826225" y="2651745"/>
            <a:ext cx="5099105"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MÓDULO 2</a:t>
            </a:r>
            <a:endParaRPr b="0" i="0" sz="1800" u="none" cap="none" strike="noStrike">
              <a:solidFill>
                <a:schemeClr val="dk1"/>
              </a:solidFill>
              <a:latin typeface="Calibri"/>
              <a:ea typeface="Calibri"/>
              <a:cs typeface="Calibri"/>
              <a:sym typeface="Calibri"/>
            </a:endParaRPr>
          </a:p>
        </p:txBody>
      </p:sp>
      <p:sp>
        <p:nvSpPr>
          <p:cNvPr id="861" name="Google Shape;861;p18"/>
          <p:cNvSpPr/>
          <p:nvPr/>
        </p:nvSpPr>
        <p:spPr>
          <a:xfrm>
            <a:off x="6826225" y="3120330"/>
            <a:ext cx="5099105"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F3F2F2"/>
              </a:buClr>
              <a:buSzPts val="2550"/>
              <a:buFont typeface="Archivo"/>
              <a:buNone/>
            </a:pPr>
            <a:r>
              <a:rPr b="1" i="0" lang="en-US" sz="2550" u="none" cap="none" strike="noStrike">
                <a:solidFill>
                  <a:srgbClr val="F3F2F2"/>
                </a:solidFill>
                <a:latin typeface="Archivo"/>
                <a:ea typeface="Archivo"/>
                <a:cs typeface="Archivo"/>
                <a:sym typeface="Archivo"/>
              </a:rPr>
              <a:t>Procesamiento con LLM</a:t>
            </a:r>
            <a:endParaRPr b="0" i="0" sz="2550" u="none" cap="none" strike="noStrike">
              <a:solidFill>
                <a:schemeClr val="dk1"/>
              </a:solidFill>
              <a:latin typeface="Calibri"/>
              <a:ea typeface="Calibri"/>
              <a:cs typeface="Calibri"/>
              <a:sym typeface="Calibri"/>
            </a:endParaRPr>
          </a:p>
        </p:txBody>
      </p:sp>
      <p:sp>
        <p:nvSpPr>
          <p:cNvPr id="862" name="Google Shape;862;p18"/>
          <p:cNvSpPr/>
          <p:nvPr/>
        </p:nvSpPr>
        <p:spPr>
          <a:xfrm>
            <a:off x="6826225" y="3590851"/>
            <a:ext cx="4774616" cy="678061"/>
          </a:xfrm>
          <a:prstGeom prst="rect">
            <a:avLst/>
          </a:prstGeom>
          <a:noFill/>
          <a:ln>
            <a:noFill/>
          </a:ln>
        </p:spPr>
        <p:txBody>
          <a:bodyPr anchorCtr="0" anchor="t" bIns="25400" lIns="25400" spcFirstLastPara="1" rIns="25400" wrap="square" tIns="25400">
            <a:noAutofit/>
          </a:bodyPr>
          <a:lstStyle/>
          <a:p>
            <a:pPr indent="0" lvl="0" marL="0" marR="0" rtl="0" algn="l">
              <a:lnSpc>
                <a:spcPct val="129231"/>
              </a:lnSpc>
              <a:spcBef>
                <a:spcPts val="0"/>
              </a:spcBef>
              <a:spcAft>
                <a:spcPts val="0"/>
              </a:spcAft>
              <a:buClr>
                <a:srgbClr val="F3F2F2"/>
              </a:buClr>
              <a:buSzPts val="1800"/>
              <a:buFont typeface="Archivo"/>
              <a:buNone/>
            </a:pPr>
            <a:r>
              <a:rPr b="0" i="0" lang="en-US" sz="1800" u="none" cap="none" strike="noStrike">
                <a:solidFill>
                  <a:srgbClr val="F3F2F2"/>
                </a:solidFill>
                <a:latin typeface="Archivo"/>
                <a:ea typeface="Archivo"/>
                <a:cs typeface="Archivo"/>
                <a:sym typeface="Archivo"/>
              </a:rPr>
              <a:t>Clasifica, resume y calcula compatibilidad con el perfil declarado por el usuario.</a:t>
            </a:r>
            <a:endParaRPr b="0" i="0" sz="1800" u="none" cap="none" strike="noStrike">
              <a:solidFill>
                <a:schemeClr val="dk1"/>
              </a:solidFill>
              <a:latin typeface="Calibri"/>
              <a:ea typeface="Calibri"/>
              <a:cs typeface="Calibri"/>
              <a:sym typeface="Calibri"/>
            </a:endParaRPr>
          </a:p>
        </p:txBody>
      </p:sp>
      <p:sp>
        <p:nvSpPr>
          <p:cNvPr id="863" name="Google Shape;863;p18"/>
          <p:cNvSpPr/>
          <p:nvPr/>
        </p:nvSpPr>
        <p:spPr>
          <a:xfrm>
            <a:off x="11671325" y="2385045"/>
            <a:ext cx="685800" cy="2470547"/>
          </a:xfrm>
          <a:prstGeom prst="rect">
            <a:avLst/>
          </a:prstGeom>
          <a:noFill/>
          <a:ln>
            <a:noFill/>
          </a:ln>
        </p:spPr>
        <p:txBody>
          <a:bodyPr anchorCtr="0" anchor="ctr" bIns="25400" lIns="25400" spcFirstLastPara="1" rIns="25400" wrap="square" tIns="25400">
            <a:noAutofit/>
          </a:bodyPr>
          <a:lstStyle/>
          <a:p>
            <a:pPr indent="0" lvl="0" marL="0" marR="0" rtl="0" algn="ctr">
              <a:lnSpc>
                <a:spcPct val="143579"/>
              </a:lnSpc>
              <a:spcBef>
                <a:spcPts val="0"/>
              </a:spcBef>
              <a:spcAft>
                <a:spcPts val="0"/>
              </a:spcAft>
              <a:buClr>
                <a:srgbClr val="EC3013"/>
              </a:buClr>
              <a:buSzPts val="3300"/>
              <a:buFont typeface="Archivo"/>
              <a:buNone/>
            </a:pPr>
            <a:r>
              <a:rPr b="0" i="0" lang="en-US" sz="3300" u="none" cap="none" strike="noStrike">
                <a:solidFill>
                  <a:srgbClr val="EC3013"/>
                </a:solidFill>
                <a:latin typeface="Archivo"/>
                <a:ea typeface="Archivo"/>
                <a:cs typeface="Archivo"/>
                <a:sym typeface="Archivo"/>
              </a:rPr>
              <a:t>→</a:t>
            </a:r>
            <a:endParaRPr b="0" i="0" sz="3300" u="none" cap="none" strike="noStrike">
              <a:solidFill>
                <a:schemeClr val="dk1"/>
              </a:solidFill>
              <a:latin typeface="Calibri"/>
              <a:ea typeface="Calibri"/>
              <a:cs typeface="Calibri"/>
              <a:sym typeface="Calibri"/>
            </a:endParaRPr>
          </a:p>
        </p:txBody>
      </p:sp>
      <p:sp>
        <p:nvSpPr>
          <p:cNvPr id="864" name="Google Shape;864;p18"/>
          <p:cNvSpPr/>
          <p:nvPr/>
        </p:nvSpPr>
        <p:spPr>
          <a:xfrm>
            <a:off x="12319025" y="2385045"/>
            <a:ext cx="5130775" cy="2432447"/>
          </a:xfrm>
          <a:prstGeom prst="rect">
            <a:avLst/>
          </a:prstGeom>
          <a:no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8"/>
          <p:cNvSpPr/>
          <p:nvPr/>
        </p:nvSpPr>
        <p:spPr>
          <a:xfrm>
            <a:off x="12566675" y="2651745"/>
            <a:ext cx="5099023"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MÓDULO 3</a:t>
            </a:r>
            <a:endParaRPr b="0" i="0" sz="1800" u="none" cap="none" strike="noStrike">
              <a:solidFill>
                <a:schemeClr val="dk1"/>
              </a:solidFill>
              <a:latin typeface="Calibri"/>
              <a:ea typeface="Calibri"/>
              <a:cs typeface="Calibri"/>
              <a:sym typeface="Calibri"/>
            </a:endParaRPr>
          </a:p>
        </p:txBody>
      </p:sp>
      <p:sp>
        <p:nvSpPr>
          <p:cNvPr id="866" name="Google Shape;866;p18"/>
          <p:cNvSpPr/>
          <p:nvPr/>
        </p:nvSpPr>
        <p:spPr>
          <a:xfrm>
            <a:off x="12566675" y="3120330"/>
            <a:ext cx="5099023"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Notificación</a:t>
            </a:r>
            <a:endParaRPr b="0" i="0" sz="2550" u="none" cap="none" strike="noStrike">
              <a:solidFill>
                <a:schemeClr val="dk1"/>
              </a:solidFill>
              <a:latin typeface="Calibri"/>
              <a:ea typeface="Calibri"/>
              <a:cs typeface="Calibri"/>
              <a:sym typeface="Calibri"/>
            </a:endParaRPr>
          </a:p>
        </p:txBody>
      </p:sp>
      <p:sp>
        <p:nvSpPr>
          <p:cNvPr id="867" name="Google Shape;867;p18"/>
          <p:cNvSpPr/>
          <p:nvPr/>
        </p:nvSpPr>
        <p:spPr>
          <a:xfrm>
            <a:off x="12566675" y="3590851"/>
            <a:ext cx="4774539" cy="998041"/>
          </a:xfrm>
          <a:prstGeom prst="rect">
            <a:avLst/>
          </a:prstGeom>
          <a:noFill/>
          <a:ln>
            <a:noFill/>
          </a:ln>
        </p:spPr>
        <p:txBody>
          <a:bodyPr anchorCtr="0" anchor="t" bIns="25400" lIns="25400" spcFirstLastPara="1" rIns="25400" wrap="square" tIns="25400">
            <a:noAutofit/>
          </a:bodyPr>
          <a:lstStyle/>
          <a:p>
            <a:pPr indent="0" lvl="0" marL="0" marR="0" rtl="0" algn="l">
              <a:lnSpc>
                <a:spcPct val="129231"/>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Envío por correo electrónico y, opcionalmente, otros canales, con el resumen y el plazo.</a:t>
            </a:r>
            <a:endParaRPr b="0" i="0" sz="1800" u="none" cap="none" strike="noStrike">
              <a:solidFill>
                <a:schemeClr val="dk1"/>
              </a:solidFill>
              <a:latin typeface="Calibri"/>
              <a:ea typeface="Calibri"/>
              <a:cs typeface="Calibri"/>
              <a:sym typeface="Calibri"/>
            </a:endParaRPr>
          </a:p>
        </p:txBody>
      </p:sp>
      <p:sp>
        <p:nvSpPr>
          <p:cNvPr id="868" name="Google Shape;868;p18"/>
          <p:cNvSpPr/>
          <p:nvPr/>
        </p:nvSpPr>
        <p:spPr>
          <a:xfrm>
            <a:off x="838200" y="5103242"/>
            <a:ext cx="16611600" cy="1617241"/>
          </a:xfrm>
          <a:prstGeom prst="rect">
            <a:avLst/>
          </a:prstGeom>
          <a:noFill/>
          <a:ln cap="flat" cmpd="sng" w="19050">
            <a:solidFill>
              <a:srgbClr val="201E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18"/>
          <p:cNvSpPr/>
          <p:nvPr/>
        </p:nvSpPr>
        <p:spPr>
          <a:xfrm>
            <a:off x="1104900" y="5350892"/>
            <a:ext cx="2943225" cy="746671"/>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MÓDULO 4 · TRANSVERSAL</a:t>
            </a:r>
            <a:endParaRPr b="0" i="0" sz="1800" u="none" cap="none" strike="noStrike">
              <a:solidFill>
                <a:schemeClr val="dk1"/>
              </a:solidFill>
              <a:latin typeface="Calibri"/>
              <a:ea typeface="Calibri"/>
              <a:cs typeface="Calibri"/>
              <a:sym typeface="Calibri"/>
            </a:endParaRPr>
          </a:p>
        </p:txBody>
      </p:sp>
      <p:sp>
        <p:nvSpPr>
          <p:cNvPr id="870" name="Google Shape;870;p18"/>
          <p:cNvSpPr/>
          <p:nvPr/>
        </p:nvSpPr>
        <p:spPr>
          <a:xfrm>
            <a:off x="1104900" y="6116613"/>
            <a:ext cx="3143250" cy="394320"/>
          </a:xfrm>
          <a:prstGeom prst="rect">
            <a:avLst/>
          </a:prstGeom>
          <a:noFill/>
          <a:ln>
            <a:noFill/>
          </a:ln>
        </p:spPr>
        <p:txBody>
          <a:bodyPr anchorCtr="0" anchor="t" bIns="25400" lIns="25400" spcFirstLastPara="1" rIns="25400" wrap="square" tIns="25400">
            <a:noAutofit/>
          </a:bodyPr>
          <a:lstStyle/>
          <a:p>
            <a:pPr indent="0" lvl="0" marL="0" marR="0" rtl="0" algn="l">
              <a:lnSpc>
                <a:spcPct val="101081"/>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Base de datos</a:t>
            </a:r>
            <a:endParaRPr b="0" i="0" sz="2550" u="none" cap="none" strike="noStrike">
              <a:solidFill>
                <a:schemeClr val="dk1"/>
              </a:solidFill>
              <a:latin typeface="Calibri"/>
              <a:ea typeface="Calibri"/>
              <a:cs typeface="Calibri"/>
              <a:sym typeface="Calibri"/>
            </a:endParaRPr>
          </a:p>
        </p:txBody>
      </p:sp>
      <p:sp>
        <p:nvSpPr>
          <p:cNvPr id="871" name="Google Shape;871;p18"/>
          <p:cNvSpPr/>
          <p:nvPr/>
        </p:nvSpPr>
        <p:spPr>
          <a:xfrm>
            <a:off x="4343400" y="5738515"/>
            <a:ext cx="14123670" cy="384795"/>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Historial de licitaciones · Perfiles y filtros de usuario · Alertas enviadas y su estado de lectura</a:t>
            </a:r>
            <a:endParaRPr b="0" i="0" sz="1950" u="none" cap="none" strike="noStrike">
              <a:solidFill>
                <a:schemeClr val="dk1"/>
              </a:solidFill>
              <a:latin typeface="Calibri"/>
              <a:ea typeface="Calibri"/>
              <a:cs typeface="Calibri"/>
              <a:sym typeface="Calibri"/>
            </a:endParaRPr>
          </a:p>
        </p:txBody>
      </p:sp>
      <p:sp>
        <p:nvSpPr>
          <p:cNvPr id="872" name="Google Shape;872;p18"/>
          <p:cNvSpPr/>
          <p:nvPr/>
        </p:nvSpPr>
        <p:spPr>
          <a:xfrm>
            <a:off x="838200" y="7006233"/>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18"/>
          <p:cNvSpPr/>
          <p:nvPr/>
        </p:nvSpPr>
        <p:spPr>
          <a:xfrm>
            <a:off x="838200" y="7244358"/>
            <a:ext cx="314325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DESPLIEGUE</a:t>
            </a:r>
            <a:endParaRPr b="0" i="0" sz="1800" u="none" cap="none" strike="noStrike">
              <a:solidFill>
                <a:schemeClr val="dk1"/>
              </a:solidFill>
              <a:latin typeface="Calibri"/>
              <a:ea typeface="Calibri"/>
              <a:cs typeface="Calibri"/>
              <a:sym typeface="Calibri"/>
            </a:endParaRPr>
          </a:p>
        </p:txBody>
      </p:sp>
      <p:sp>
        <p:nvSpPr>
          <p:cNvPr id="874" name="Google Shape;874;p18"/>
          <p:cNvSpPr/>
          <p:nvPr/>
        </p:nvSpPr>
        <p:spPr>
          <a:xfrm>
            <a:off x="3962400" y="7234833"/>
            <a:ext cx="13476030" cy="411435"/>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201E1D"/>
              </a:buClr>
              <a:buSzPts val="2100"/>
              <a:buFont typeface="Archivo"/>
              <a:buNone/>
            </a:pPr>
            <a:r>
              <a:rPr b="0" i="0" lang="en-US" sz="2100" u="none" cap="none" strike="noStrike">
                <a:solidFill>
                  <a:srgbClr val="201E1D"/>
                </a:solidFill>
                <a:latin typeface="Archivo"/>
                <a:ea typeface="Archivo"/>
                <a:cs typeface="Archivo"/>
                <a:sym typeface="Archivo"/>
              </a:rPr>
              <a:t>Arquitectura desplegable en la nube, con ejecución continua y prioridad en la simplicidad de mantención.</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879" name="Shape 879"/>
        <p:cNvGrpSpPr/>
        <p:nvPr/>
      </p:nvGrpSpPr>
      <p:grpSpPr>
        <a:xfrm>
          <a:off x="0" y="0"/>
          <a:ext cx="0" cy="0"/>
          <a:chOff x="0" y="0"/>
          <a:chExt cx="0" cy="0"/>
        </a:xfrm>
      </p:grpSpPr>
      <p:sp>
        <p:nvSpPr>
          <p:cNvPr id="880" name="Google Shape;880;p19"/>
          <p:cNvSpPr/>
          <p:nvPr/>
        </p:nvSpPr>
        <p:spPr>
          <a:xfrm>
            <a:off x="838200" y="6096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04 · ARQUITECTURA E IA</a:t>
            </a:r>
            <a:endParaRPr b="0" i="0" sz="1950" u="none" cap="none" strike="noStrike">
              <a:solidFill>
                <a:schemeClr val="dk1"/>
              </a:solidFill>
              <a:latin typeface="Calibri"/>
              <a:ea typeface="Calibri"/>
              <a:cs typeface="Calibri"/>
              <a:sym typeface="Calibri"/>
            </a:endParaRPr>
          </a:p>
        </p:txBody>
      </p:sp>
      <p:sp>
        <p:nvSpPr>
          <p:cNvPr id="881" name="Google Shape;881;p19"/>
          <p:cNvSpPr/>
          <p:nvPr/>
        </p:nvSpPr>
        <p:spPr>
          <a:xfrm>
            <a:off x="838200" y="114300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Qué hace exactamente el modelo de lenguaje</a:t>
            </a:r>
            <a:endParaRPr b="0" i="0" sz="4500" u="none" cap="none" strike="noStrike">
              <a:solidFill>
                <a:schemeClr val="dk1"/>
              </a:solidFill>
              <a:latin typeface="Calibri"/>
              <a:ea typeface="Calibri"/>
              <a:cs typeface="Calibri"/>
              <a:sym typeface="Calibri"/>
            </a:endParaRPr>
          </a:p>
        </p:txBody>
      </p:sp>
      <p:sp>
        <p:nvSpPr>
          <p:cNvPr id="882" name="Google Shape;882;p19"/>
          <p:cNvSpPr/>
          <p:nvPr/>
        </p:nvSpPr>
        <p:spPr>
          <a:xfrm>
            <a:off x="838200" y="202309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9"/>
          <p:cNvSpPr/>
          <p:nvPr/>
        </p:nvSpPr>
        <p:spPr>
          <a:xfrm>
            <a:off x="838200" y="2327895"/>
            <a:ext cx="93345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19"/>
          <p:cNvSpPr/>
          <p:nvPr/>
        </p:nvSpPr>
        <p:spPr>
          <a:xfrm>
            <a:off x="838200" y="2537445"/>
            <a:ext cx="10267950"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Clasificar</a:t>
            </a:r>
            <a:endParaRPr b="0" i="0" sz="2550" u="none" cap="none" strike="noStrike">
              <a:solidFill>
                <a:schemeClr val="dk1"/>
              </a:solidFill>
              <a:latin typeface="Calibri"/>
              <a:ea typeface="Calibri"/>
              <a:cs typeface="Calibri"/>
              <a:sym typeface="Calibri"/>
            </a:endParaRPr>
          </a:p>
        </p:txBody>
      </p:sp>
      <p:sp>
        <p:nvSpPr>
          <p:cNvPr id="885" name="Google Shape;885;p19"/>
          <p:cNvSpPr/>
          <p:nvPr/>
        </p:nvSpPr>
        <p:spPr>
          <a:xfrm>
            <a:off x="838200" y="3115568"/>
            <a:ext cx="9614535" cy="758130"/>
          </a:xfrm>
          <a:prstGeom prst="rect">
            <a:avLst/>
          </a:prstGeom>
          <a:noFill/>
          <a:ln>
            <a:noFill/>
          </a:ln>
        </p:spPr>
        <p:txBody>
          <a:bodyPr anchorCtr="0" anchor="t" bIns="25400" lIns="25400" spcFirstLastPara="1" rIns="25400" wrap="square" tIns="25400">
            <a:noAutofit/>
          </a:bodyPr>
          <a:lstStyle/>
          <a:p>
            <a:pPr indent="0" lvl="0" marL="0" marR="0" rtl="0" algn="l">
              <a:lnSpc>
                <a:spcPct val="130345"/>
              </a:lnSpc>
              <a:spcBef>
                <a:spcPts val="0"/>
              </a:spcBef>
              <a:spcAft>
                <a:spcPts val="0"/>
              </a:spcAft>
              <a:buClr>
                <a:srgbClr val="201E1D"/>
              </a:buClr>
              <a:buSzPts val="2025"/>
              <a:buFont typeface="Archivo"/>
              <a:buNone/>
            </a:pPr>
            <a:r>
              <a:rPr b="0" i="0" lang="en-US" sz="2025" u="none" cap="none" strike="noStrike">
                <a:solidFill>
                  <a:srgbClr val="201E1D"/>
                </a:solidFill>
                <a:latin typeface="Archivo"/>
                <a:ea typeface="Archivo"/>
                <a:cs typeface="Archivo"/>
                <a:sym typeface="Archivo"/>
              </a:rPr>
              <a:t>Determina si el proceso pertenece al rubro del usuario, más allá de la palabra clave que usó el organismo al publicar.</a:t>
            </a:r>
            <a:endParaRPr b="0" i="0" sz="2025" u="none" cap="none" strike="noStrike">
              <a:solidFill>
                <a:schemeClr val="dk1"/>
              </a:solidFill>
              <a:latin typeface="Calibri"/>
              <a:ea typeface="Calibri"/>
              <a:cs typeface="Calibri"/>
              <a:sym typeface="Calibri"/>
            </a:endParaRPr>
          </a:p>
        </p:txBody>
      </p:sp>
      <p:sp>
        <p:nvSpPr>
          <p:cNvPr id="886" name="Google Shape;886;p19"/>
          <p:cNvSpPr/>
          <p:nvPr/>
        </p:nvSpPr>
        <p:spPr>
          <a:xfrm>
            <a:off x="838200" y="4083248"/>
            <a:ext cx="93345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19"/>
          <p:cNvSpPr/>
          <p:nvPr/>
        </p:nvSpPr>
        <p:spPr>
          <a:xfrm>
            <a:off x="838200" y="4292798"/>
            <a:ext cx="10267950"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Resumir</a:t>
            </a:r>
            <a:endParaRPr b="0" i="0" sz="2550" u="none" cap="none" strike="noStrike">
              <a:solidFill>
                <a:schemeClr val="dk1"/>
              </a:solidFill>
              <a:latin typeface="Calibri"/>
              <a:ea typeface="Calibri"/>
              <a:cs typeface="Calibri"/>
              <a:sym typeface="Calibri"/>
            </a:endParaRPr>
          </a:p>
        </p:txBody>
      </p:sp>
      <p:sp>
        <p:nvSpPr>
          <p:cNvPr id="888" name="Google Shape;888;p19"/>
          <p:cNvSpPr/>
          <p:nvPr/>
        </p:nvSpPr>
        <p:spPr>
          <a:xfrm>
            <a:off x="838200" y="4870921"/>
            <a:ext cx="9614535" cy="758130"/>
          </a:xfrm>
          <a:prstGeom prst="rect">
            <a:avLst/>
          </a:prstGeom>
          <a:noFill/>
          <a:ln>
            <a:noFill/>
          </a:ln>
        </p:spPr>
        <p:txBody>
          <a:bodyPr anchorCtr="0" anchor="t" bIns="25400" lIns="25400" spcFirstLastPara="1" rIns="25400" wrap="square" tIns="25400">
            <a:noAutofit/>
          </a:bodyPr>
          <a:lstStyle/>
          <a:p>
            <a:pPr indent="0" lvl="0" marL="0" marR="0" rtl="0" algn="l">
              <a:lnSpc>
                <a:spcPct val="130345"/>
              </a:lnSpc>
              <a:spcBef>
                <a:spcPts val="0"/>
              </a:spcBef>
              <a:spcAft>
                <a:spcPts val="0"/>
              </a:spcAft>
              <a:buClr>
                <a:srgbClr val="201E1D"/>
              </a:buClr>
              <a:buSzPts val="2025"/>
              <a:buFont typeface="Archivo"/>
              <a:buNone/>
            </a:pPr>
            <a:r>
              <a:rPr b="0" i="0" lang="en-US" sz="2025" u="none" cap="none" strike="noStrike">
                <a:solidFill>
                  <a:srgbClr val="201E1D"/>
                </a:solidFill>
                <a:latin typeface="Archivo"/>
                <a:ea typeface="Archivo"/>
                <a:cs typeface="Archivo"/>
                <a:sym typeface="Archivo"/>
              </a:rPr>
              <a:t>Reduce bases de decenas de páginas a un párrafo y una lista de requisitos verificables.</a:t>
            </a:r>
            <a:endParaRPr b="0" i="0" sz="2025" u="none" cap="none" strike="noStrike">
              <a:solidFill>
                <a:schemeClr val="dk1"/>
              </a:solidFill>
              <a:latin typeface="Calibri"/>
              <a:ea typeface="Calibri"/>
              <a:cs typeface="Calibri"/>
              <a:sym typeface="Calibri"/>
            </a:endParaRPr>
          </a:p>
        </p:txBody>
      </p:sp>
      <p:sp>
        <p:nvSpPr>
          <p:cNvPr id="889" name="Google Shape;889;p19"/>
          <p:cNvSpPr/>
          <p:nvPr/>
        </p:nvSpPr>
        <p:spPr>
          <a:xfrm>
            <a:off x="838200" y="5838602"/>
            <a:ext cx="93345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19"/>
          <p:cNvSpPr/>
          <p:nvPr/>
        </p:nvSpPr>
        <p:spPr>
          <a:xfrm>
            <a:off x="838200" y="6048152"/>
            <a:ext cx="10267950"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Puntuar</a:t>
            </a:r>
            <a:endParaRPr b="0" i="0" sz="2550" u="none" cap="none" strike="noStrike">
              <a:solidFill>
                <a:schemeClr val="dk1"/>
              </a:solidFill>
              <a:latin typeface="Calibri"/>
              <a:ea typeface="Calibri"/>
              <a:cs typeface="Calibri"/>
              <a:sym typeface="Calibri"/>
            </a:endParaRPr>
          </a:p>
        </p:txBody>
      </p:sp>
      <p:sp>
        <p:nvSpPr>
          <p:cNvPr id="891" name="Google Shape;891;p19"/>
          <p:cNvSpPr/>
          <p:nvPr/>
        </p:nvSpPr>
        <p:spPr>
          <a:xfrm>
            <a:off x="838200" y="6626275"/>
            <a:ext cx="9614535" cy="758130"/>
          </a:xfrm>
          <a:prstGeom prst="rect">
            <a:avLst/>
          </a:prstGeom>
          <a:noFill/>
          <a:ln>
            <a:noFill/>
          </a:ln>
        </p:spPr>
        <p:txBody>
          <a:bodyPr anchorCtr="0" anchor="t" bIns="25400" lIns="25400" spcFirstLastPara="1" rIns="25400" wrap="square" tIns="25400">
            <a:noAutofit/>
          </a:bodyPr>
          <a:lstStyle/>
          <a:p>
            <a:pPr indent="0" lvl="0" marL="0" marR="0" rtl="0" algn="l">
              <a:lnSpc>
                <a:spcPct val="130345"/>
              </a:lnSpc>
              <a:spcBef>
                <a:spcPts val="0"/>
              </a:spcBef>
              <a:spcAft>
                <a:spcPts val="0"/>
              </a:spcAft>
              <a:buClr>
                <a:srgbClr val="201E1D"/>
              </a:buClr>
              <a:buSzPts val="2025"/>
              <a:buFont typeface="Archivo"/>
              <a:buNone/>
            </a:pPr>
            <a:r>
              <a:rPr b="0" i="0" lang="en-US" sz="2025" u="none" cap="none" strike="noStrike">
                <a:solidFill>
                  <a:srgbClr val="201E1D"/>
                </a:solidFill>
                <a:latin typeface="Archivo"/>
                <a:ea typeface="Archivo"/>
                <a:cs typeface="Archivo"/>
                <a:sym typeface="Archivo"/>
              </a:rPr>
              <a:t>Asigna un porcentaje de match contra el perfil: rubro, región, monto y capacidad declarada.</a:t>
            </a:r>
            <a:endParaRPr b="0" i="0" sz="2025" u="none" cap="none" strike="noStrike">
              <a:solidFill>
                <a:schemeClr val="dk1"/>
              </a:solidFill>
              <a:latin typeface="Calibri"/>
              <a:ea typeface="Calibri"/>
              <a:cs typeface="Calibri"/>
              <a:sym typeface="Calibri"/>
            </a:endParaRPr>
          </a:p>
        </p:txBody>
      </p:sp>
      <p:sp>
        <p:nvSpPr>
          <p:cNvPr id="892" name="Google Shape;892;p19"/>
          <p:cNvSpPr/>
          <p:nvPr/>
        </p:nvSpPr>
        <p:spPr>
          <a:xfrm>
            <a:off x="10782300" y="2327895"/>
            <a:ext cx="6667500" cy="4415656"/>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19"/>
          <p:cNvSpPr/>
          <p:nvPr/>
        </p:nvSpPr>
        <p:spPr>
          <a:xfrm>
            <a:off x="11144250" y="2708895"/>
            <a:ext cx="653796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F9783"/>
              </a:buClr>
              <a:buSzPts val="1800"/>
              <a:buFont typeface="Archivo"/>
              <a:buNone/>
            </a:pPr>
            <a:r>
              <a:rPr b="1" i="0" lang="en-US" sz="1800" u="none" cap="none" strike="noStrike">
                <a:solidFill>
                  <a:srgbClr val="FF9783"/>
                </a:solidFill>
                <a:latin typeface="Archivo"/>
                <a:ea typeface="Archivo"/>
                <a:cs typeface="Archivo"/>
                <a:sym typeface="Archivo"/>
              </a:rPr>
              <a:t>CONTROL DE COSTO</a:t>
            </a:r>
            <a:endParaRPr b="0" i="0" sz="1800" u="none" cap="none" strike="noStrike">
              <a:solidFill>
                <a:schemeClr val="dk1"/>
              </a:solidFill>
              <a:latin typeface="Calibri"/>
              <a:ea typeface="Calibri"/>
              <a:cs typeface="Calibri"/>
              <a:sym typeface="Calibri"/>
            </a:endParaRPr>
          </a:p>
        </p:txBody>
      </p:sp>
      <p:sp>
        <p:nvSpPr>
          <p:cNvPr id="894" name="Google Shape;894;p19"/>
          <p:cNvSpPr/>
          <p:nvPr/>
        </p:nvSpPr>
        <p:spPr>
          <a:xfrm>
            <a:off x="11144250" y="3272730"/>
            <a:ext cx="6121908" cy="1318171"/>
          </a:xfrm>
          <a:prstGeom prst="rect">
            <a:avLst/>
          </a:prstGeom>
          <a:noFill/>
          <a:ln>
            <a:noFill/>
          </a:ln>
        </p:spPr>
        <p:txBody>
          <a:bodyPr anchorCtr="0" anchor="t" bIns="25400" lIns="25400" spcFirstLastPara="1" rIns="25400" wrap="square" tIns="25400">
            <a:noAutofit/>
          </a:bodyPr>
          <a:lstStyle/>
          <a:p>
            <a:pPr indent="0" lvl="0" marL="0" marR="0" rtl="0" algn="l">
              <a:lnSpc>
                <a:spcPct val="102989"/>
              </a:lnSpc>
              <a:spcBef>
                <a:spcPts val="0"/>
              </a:spcBef>
              <a:spcAft>
                <a:spcPts val="0"/>
              </a:spcAft>
              <a:buClr>
                <a:srgbClr val="F3F2F2"/>
              </a:buClr>
              <a:buSzPts val="3000"/>
              <a:buFont typeface="Archivo"/>
              <a:buNone/>
            </a:pPr>
            <a:r>
              <a:rPr b="1" i="0" lang="en-US" sz="3000" u="none" cap="none" strike="noStrike">
                <a:solidFill>
                  <a:srgbClr val="F3F2F2"/>
                </a:solidFill>
                <a:latin typeface="Archivo"/>
                <a:ea typeface="Archivo"/>
                <a:cs typeface="Archivo"/>
                <a:sym typeface="Archivo"/>
              </a:rPr>
              <a:t>Primero se filtra por reglas; el LLM solo ve lo que ya pasó ese filtro.</a:t>
            </a:r>
            <a:endParaRPr b="0" i="0" sz="3000" u="none" cap="none" strike="noStrike">
              <a:solidFill>
                <a:schemeClr val="dk1"/>
              </a:solidFill>
              <a:latin typeface="Calibri"/>
              <a:ea typeface="Calibri"/>
              <a:cs typeface="Calibri"/>
              <a:sym typeface="Calibri"/>
            </a:endParaRPr>
          </a:p>
        </p:txBody>
      </p:sp>
      <p:sp>
        <p:nvSpPr>
          <p:cNvPr id="895" name="Google Shape;895;p19"/>
          <p:cNvSpPr/>
          <p:nvPr/>
        </p:nvSpPr>
        <p:spPr>
          <a:xfrm>
            <a:off x="11144250" y="4762351"/>
            <a:ext cx="5943600" cy="9525"/>
          </a:xfrm>
          <a:prstGeom prst="rect">
            <a:avLst/>
          </a:prstGeom>
          <a:solidFill>
            <a:srgbClr val="F3F2F2">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19"/>
          <p:cNvSpPr/>
          <p:nvPr/>
        </p:nvSpPr>
        <p:spPr>
          <a:xfrm>
            <a:off x="11144250" y="4981426"/>
            <a:ext cx="6121908" cy="1419225"/>
          </a:xfrm>
          <a:prstGeom prst="rect">
            <a:avLst/>
          </a:prstGeom>
          <a:noFill/>
          <a:ln>
            <a:noFill/>
          </a:ln>
        </p:spPr>
        <p:txBody>
          <a:bodyPr anchorCtr="0" anchor="t" bIns="25400" lIns="25400" spcFirstLastPara="1" rIns="25400" wrap="square" tIns="25400">
            <a:noAutofit/>
          </a:bodyPr>
          <a:lstStyle/>
          <a:p>
            <a:pPr indent="0" lvl="0" marL="0" marR="0" rtl="0" algn="l">
              <a:lnSpc>
                <a:spcPct val="131818"/>
              </a:lnSpc>
              <a:spcBef>
                <a:spcPts val="0"/>
              </a:spcBef>
              <a:spcAft>
                <a:spcPts val="0"/>
              </a:spcAft>
              <a:buClr>
                <a:srgbClr val="F3F2F2"/>
              </a:buClr>
              <a:buSzPts val="1875"/>
              <a:buFont typeface="Archivo"/>
              <a:buNone/>
            </a:pPr>
            <a:r>
              <a:rPr b="0" i="0" lang="en-US" sz="1875" u="none" cap="none" strike="noStrike">
                <a:solidFill>
                  <a:srgbClr val="F3F2F2"/>
                </a:solidFill>
                <a:latin typeface="Archivo"/>
                <a:ea typeface="Archivo"/>
                <a:cs typeface="Archivo"/>
                <a:sym typeface="Archivo"/>
              </a:rPr>
              <a:t>Rubro, región y monto se resuelven con consultas a la base de datos. Recién ahí se llama al modelo, y se usan modelos más económicos donde no se requiere alta precisión.</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3013"/>
        </a:solidFill>
      </p:bgPr>
    </p:bg>
    <p:spTree>
      <p:nvGrpSpPr>
        <p:cNvPr id="901" name="Shape 901"/>
        <p:cNvGrpSpPr/>
        <p:nvPr/>
      </p:nvGrpSpPr>
      <p:grpSpPr>
        <a:xfrm>
          <a:off x="0" y="0"/>
          <a:ext cx="0" cy="0"/>
          <a:chOff x="0" y="0"/>
          <a:chExt cx="0" cy="0"/>
        </a:xfrm>
      </p:grpSpPr>
      <p:sp>
        <p:nvSpPr>
          <p:cNvPr id="902" name="Google Shape;902;p20"/>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F3F2F2"/>
              </a:buClr>
              <a:buSzPts val="1950"/>
              <a:buFont typeface="Archivo"/>
              <a:buNone/>
            </a:pPr>
            <a:r>
              <a:rPr b="1" i="0" lang="en-US" sz="1950" u="none" cap="none" strike="noStrike">
                <a:solidFill>
                  <a:srgbClr val="F3F2F2"/>
                </a:solidFill>
                <a:latin typeface="Archivo"/>
                <a:ea typeface="Archivo"/>
                <a:cs typeface="Archivo"/>
                <a:sym typeface="Archivo"/>
              </a:rPr>
              <a:t>05</a:t>
            </a:r>
            <a:endParaRPr b="0" i="0" sz="1950" u="none" cap="none" strike="noStrike">
              <a:solidFill>
                <a:schemeClr val="dk1"/>
              </a:solidFill>
              <a:latin typeface="Calibri"/>
              <a:ea typeface="Calibri"/>
              <a:cs typeface="Calibri"/>
              <a:sym typeface="Calibri"/>
            </a:endParaRPr>
          </a:p>
        </p:txBody>
      </p:sp>
      <p:sp>
        <p:nvSpPr>
          <p:cNvPr id="903" name="Google Shape;903;p20"/>
          <p:cNvSpPr/>
          <p:nvPr/>
        </p:nvSpPr>
        <p:spPr>
          <a:xfrm>
            <a:off x="838200" y="3516139"/>
            <a:ext cx="14716125" cy="2752725"/>
          </a:xfrm>
          <a:prstGeom prst="rect">
            <a:avLst/>
          </a:prstGeom>
          <a:noFill/>
          <a:ln>
            <a:noFill/>
          </a:ln>
        </p:spPr>
        <p:txBody>
          <a:bodyPr anchorCtr="0" anchor="t" bIns="25400" lIns="25400" spcFirstLastPara="1" rIns="25400" wrap="square" tIns="25400">
            <a:noAutofit/>
          </a:bodyPr>
          <a:lstStyle/>
          <a:p>
            <a:pPr indent="0" lvl="0" marL="0" marR="0" rtl="0" algn="l">
              <a:lnSpc>
                <a:spcPct val="87423"/>
              </a:lnSpc>
              <a:spcBef>
                <a:spcPts val="0"/>
              </a:spcBef>
              <a:spcAft>
                <a:spcPts val="0"/>
              </a:spcAft>
              <a:buClr>
                <a:srgbClr val="F3F2F2"/>
              </a:buClr>
              <a:buSzPts val="11250"/>
              <a:buFont typeface="Archivo"/>
              <a:buNone/>
            </a:pPr>
            <a:r>
              <a:rPr b="1" i="0" lang="en-US" sz="11250" u="none" cap="none" strike="noStrike">
                <a:solidFill>
                  <a:srgbClr val="F3F2F2"/>
                </a:solidFill>
                <a:latin typeface="Archivo"/>
                <a:ea typeface="Archivo"/>
                <a:cs typeface="Archivo"/>
                <a:sym typeface="Archivo"/>
              </a:rPr>
              <a:t>Objetivos, plan y factibilidad</a:t>
            </a:r>
            <a:endParaRPr b="0" i="0" sz="11250" u="none" cap="none" strike="noStrike">
              <a:solidFill>
                <a:schemeClr val="dk1"/>
              </a:solidFill>
              <a:latin typeface="Calibri"/>
              <a:ea typeface="Calibri"/>
              <a:cs typeface="Calibri"/>
              <a:sym typeface="Calibri"/>
            </a:endParaRPr>
          </a:p>
        </p:txBody>
      </p:sp>
      <p:sp>
        <p:nvSpPr>
          <p:cNvPr id="904" name="Google Shape;904;p20"/>
          <p:cNvSpPr/>
          <p:nvPr/>
        </p:nvSpPr>
        <p:spPr>
          <a:xfrm>
            <a:off x="838200" y="8813527"/>
            <a:ext cx="16611600" cy="19050"/>
          </a:xfrm>
          <a:prstGeom prst="rect">
            <a:avLst/>
          </a:prstGeom>
          <a:solidFill>
            <a:srgbClr val="F3F2F2">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0"/>
          <p:cNvSpPr/>
          <p:nvPr/>
        </p:nvSpPr>
        <p:spPr>
          <a:xfrm>
            <a:off x="838200" y="9099277"/>
            <a:ext cx="18272760"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F3F2F2"/>
              </a:buClr>
              <a:buSzPts val="2550"/>
              <a:buFont typeface="Archivo"/>
              <a:buNone/>
            </a:pPr>
            <a:r>
              <a:rPr b="0" i="0" lang="en-US" sz="2550" u="none" cap="none" strike="noStrike">
                <a:solidFill>
                  <a:srgbClr val="F3F2F2"/>
                </a:solidFill>
                <a:latin typeface="Archivo"/>
                <a:ea typeface="Archivo"/>
                <a:cs typeface="Archivo"/>
                <a:sym typeface="Archivo"/>
              </a:rPr>
              <a:t>Qué vamos a entregar, en qué orden y con qué recursos</a:t>
            </a:r>
            <a:endParaRPr b="0" i="0" sz="25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910" name="Shape 910"/>
        <p:cNvGrpSpPr/>
        <p:nvPr/>
      </p:nvGrpSpPr>
      <p:grpSpPr>
        <a:xfrm>
          <a:off x="0" y="0"/>
          <a:ext cx="0" cy="0"/>
          <a:chOff x="0" y="0"/>
          <a:chExt cx="0" cy="0"/>
        </a:xfrm>
      </p:grpSpPr>
      <p:sp>
        <p:nvSpPr>
          <p:cNvPr id="911" name="Google Shape;911;p21"/>
          <p:cNvSpPr/>
          <p:nvPr/>
        </p:nvSpPr>
        <p:spPr>
          <a:xfrm>
            <a:off x="838200" y="6096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05 · OBJETIVOS</a:t>
            </a:r>
            <a:endParaRPr b="0" i="0" sz="1950" u="none" cap="none" strike="noStrike">
              <a:solidFill>
                <a:schemeClr val="dk1"/>
              </a:solidFill>
              <a:latin typeface="Calibri"/>
              <a:ea typeface="Calibri"/>
              <a:cs typeface="Calibri"/>
              <a:sym typeface="Calibri"/>
            </a:endParaRPr>
          </a:p>
        </p:txBody>
      </p:sp>
      <p:sp>
        <p:nvSpPr>
          <p:cNvPr id="912" name="Google Shape;912;p21"/>
          <p:cNvSpPr/>
          <p:nvPr/>
        </p:nvSpPr>
        <p:spPr>
          <a:xfrm>
            <a:off x="838200" y="11239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Objetivo general y específicos</a:t>
            </a:r>
            <a:endParaRPr b="0" i="0" sz="4500" u="none" cap="none" strike="noStrike">
              <a:solidFill>
                <a:schemeClr val="dk1"/>
              </a:solidFill>
              <a:latin typeface="Calibri"/>
              <a:ea typeface="Calibri"/>
              <a:cs typeface="Calibri"/>
              <a:sym typeface="Calibri"/>
            </a:endParaRPr>
          </a:p>
        </p:txBody>
      </p:sp>
      <p:sp>
        <p:nvSpPr>
          <p:cNvPr id="913" name="Google Shape;913;p21"/>
          <p:cNvSpPr/>
          <p:nvPr/>
        </p:nvSpPr>
        <p:spPr>
          <a:xfrm>
            <a:off x="838200" y="198499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1"/>
          <p:cNvSpPr/>
          <p:nvPr/>
        </p:nvSpPr>
        <p:spPr>
          <a:xfrm>
            <a:off x="838200" y="2270745"/>
            <a:ext cx="16611600" cy="2398588"/>
          </a:xfrm>
          <a:prstGeom prst="rect">
            <a:avLst/>
          </a:prstGeom>
          <a:solidFill>
            <a:srgbClr val="EAE9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1"/>
          <p:cNvSpPr/>
          <p:nvPr/>
        </p:nvSpPr>
        <p:spPr>
          <a:xfrm>
            <a:off x="1181100" y="2594595"/>
            <a:ext cx="1751838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OBJETIVO GENERAL</a:t>
            </a:r>
            <a:endParaRPr b="0" i="0" sz="1800" u="none" cap="none" strike="noStrike">
              <a:solidFill>
                <a:schemeClr val="dk1"/>
              </a:solidFill>
              <a:latin typeface="Calibri"/>
              <a:ea typeface="Calibri"/>
              <a:cs typeface="Calibri"/>
              <a:sym typeface="Calibri"/>
            </a:endParaRPr>
          </a:p>
        </p:txBody>
      </p:sp>
      <p:sp>
        <p:nvSpPr>
          <p:cNvPr id="916" name="Google Shape;916;p21"/>
          <p:cNvSpPr/>
          <p:nvPr/>
        </p:nvSpPr>
        <p:spPr>
          <a:xfrm>
            <a:off x="1181100" y="3063180"/>
            <a:ext cx="16403574" cy="1320403"/>
          </a:xfrm>
          <a:prstGeom prst="rect">
            <a:avLst/>
          </a:prstGeom>
          <a:noFill/>
          <a:ln>
            <a:noFill/>
          </a:ln>
        </p:spPr>
        <p:txBody>
          <a:bodyPr anchorCtr="0" anchor="t" bIns="25400" lIns="25400" spcFirstLastPara="1" rIns="25400" wrap="square" tIns="25400">
            <a:noAutofit/>
          </a:bodyPr>
          <a:lstStyle/>
          <a:p>
            <a:pPr indent="0" lvl="0" marL="0" marR="0" rtl="0" algn="l">
              <a:lnSpc>
                <a:spcPct val="121297"/>
              </a:lnSpc>
              <a:spcBef>
                <a:spcPts val="0"/>
              </a:spcBef>
              <a:spcAft>
                <a:spcPts val="0"/>
              </a:spcAft>
              <a:buClr>
                <a:srgbClr val="201E1D"/>
              </a:buClr>
              <a:buSzPts val="2550"/>
              <a:buFont typeface="Archivo"/>
              <a:buNone/>
            </a:pPr>
            <a:r>
              <a:rPr b="0" i="0" lang="en-US" sz="2550" u="none" cap="none" strike="noStrike">
                <a:solidFill>
                  <a:srgbClr val="201E1D"/>
                </a:solidFill>
                <a:latin typeface="Archivo"/>
                <a:ea typeface="Archivo"/>
                <a:cs typeface="Archivo"/>
                <a:sym typeface="Archivo"/>
              </a:rPr>
              <a:t>Desarrollar un agente de software capaz de monitorear automáticamente las licitaciones de Mercado Público, filtrarlas según el perfil de una pyme y notificar oportunamente las relevantes, reduciendo el tiempo de búsqueda manual.</a:t>
            </a:r>
            <a:endParaRPr b="0" i="0" sz="2550" u="none" cap="none" strike="noStrike">
              <a:solidFill>
                <a:schemeClr val="dk1"/>
              </a:solidFill>
              <a:latin typeface="Calibri"/>
              <a:ea typeface="Calibri"/>
              <a:cs typeface="Calibri"/>
              <a:sym typeface="Calibri"/>
            </a:endParaRPr>
          </a:p>
        </p:txBody>
      </p:sp>
      <p:sp>
        <p:nvSpPr>
          <p:cNvPr id="917" name="Google Shape;917;p21"/>
          <p:cNvSpPr/>
          <p:nvPr/>
        </p:nvSpPr>
        <p:spPr>
          <a:xfrm>
            <a:off x="838200" y="4936034"/>
            <a:ext cx="800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1"/>
          <p:cNvSpPr/>
          <p:nvPr/>
        </p:nvSpPr>
        <p:spPr>
          <a:xfrm>
            <a:off x="838200" y="5097959"/>
            <a:ext cx="495300" cy="695325"/>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01</a:t>
            </a:r>
            <a:endParaRPr b="0" i="0" sz="1950" u="none" cap="none" strike="noStrike">
              <a:solidFill>
                <a:schemeClr val="dk1"/>
              </a:solidFill>
              <a:latin typeface="Calibri"/>
              <a:ea typeface="Calibri"/>
              <a:cs typeface="Calibri"/>
              <a:sym typeface="Calibri"/>
            </a:endParaRPr>
          </a:p>
        </p:txBody>
      </p:sp>
      <p:sp>
        <p:nvSpPr>
          <p:cNvPr id="919" name="Google Shape;919;p21"/>
          <p:cNvSpPr/>
          <p:nvPr/>
        </p:nvSpPr>
        <p:spPr>
          <a:xfrm>
            <a:off x="1466850" y="5097959"/>
            <a:ext cx="7593521" cy="695325"/>
          </a:xfrm>
          <a:prstGeom prst="rect">
            <a:avLst/>
          </a:prstGeom>
          <a:noFill/>
          <a:ln>
            <a:noFill/>
          </a:ln>
        </p:spPr>
        <p:txBody>
          <a:bodyPr anchorCtr="0" anchor="t" bIns="25400" lIns="25400" spcFirstLastPara="1" rIns="25400" wrap="square" tIns="25400">
            <a:noAutofit/>
          </a:bodyPr>
          <a:lstStyle/>
          <a:p>
            <a:pPr indent="0" lvl="0" marL="0" marR="0" rtl="0" algn="l">
              <a:lnSpc>
                <a:spcPct val="125455"/>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Implementar </a:t>
            </a:r>
            <a:r>
              <a:rPr b="0" i="0" lang="en-US" sz="1875" u="none" cap="none" strike="noStrike">
                <a:solidFill>
                  <a:srgbClr val="201E1D"/>
                </a:solidFill>
                <a:latin typeface="Archivo"/>
                <a:ea typeface="Archivo"/>
                <a:cs typeface="Archivo"/>
                <a:sym typeface="Archivo"/>
              </a:rPr>
              <a:t>el módulo de ingesta que consulta la API y extrae las bases en PDF.</a:t>
            </a:r>
            <a:endParaRPr b="0" i="0" sz="1875" u="none" cap="none" strike="noStrike">
              <a:solidFill>
                <a:schemeClr val="dk1"/>
              </a:solidFill>
              <a:latin typeface="Calibri"/>
              <a:ea typeface="Calibri"/>
              <a:cs typeface="Calibri"/>
              <a:sym typeface="Calibri"/>
            </a:endParaRPr>
          </a:p>
        </p:txBody>
      </p:sp>
      <p:sp>
        <p:nvSpPr>
          <p:cNvPr id="920" name="Google Shape;920;p21"/>
          <p:cNvSpPr/>
          <p:nvPr/>
        </p:nvSpPr>
        <p:spPr>
          <a:xfrm>
            <a:off x="838200" y="5907584"/>
            <a:ext cx="800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1"/>
          <p:cNvSpPr/>
          <p:nvPr/>
        </p:nvSpPr>
        <p:spPr>
          <a:xfrm>
            <a:off x="838200" y="6069509"/>
            <a:ext cx="495300" cy="695325"/>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02</a:t>
            </a:r>
            <a:endParaRPr b="0" i="0" sz="1950" u="none" cap="none" strike="noStrike">
              <a:solidFill>
                <a:schemeClr val="dk1"/>
              </a:solidFill>
              <a:latin typeface="Calibri"/>
              <a:ea typeface="Calibri"/>
              <a:cs typeface="Calibri"/>
              <a:sym typeface="Calibri"/>
            </a:endParaRPr>
          </a:p>
        </p:txBody>
      </p:sp>
      <p:sp>
        <p:nvSpPr>
          <p:cNvPr id="922" name="Google Shape;922;p21"/>
          <p:cNvSpPr/>
          <p:nvPr/>
        </p:nvSpPr>
        <p:spPr>
          <a:xfrm>
            <a:off x="1466850" y="6069509"/>
            <a:ext cx="7593521" cy="695325"/>
          </a:xfrm>
          <a:prstGeom prst="rect">
            <a:avLst/>
          </a:prstGeom>
          <a:noFill/>
          <a:ln>
            <a:noFill/>
          </a:ln>
        </p:spPr>
        <p:txBody>
          <a:bodyPr anchorCtr="0" anchor="t" bIns="25400" lIns="25400" spcFirstLastPara="1" rIns="25400" wrap="square" tIns="25400">
            <a:noAutofit/>
          </a:bodyPr>
          <a:lstStyle/>
          <a:p>
            <a:pPr indent="0" lvl="0" marL="0" marR="0" rtl="0" algn="l">
              <a:lnSpc>
                <a:spcPct val="125455"/>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Desarrollar </a:t>
            </a:r>
            <a:r>
              <a:rPr b="0" i="0" lang="en-US" sz="1875" u="none" cap="none" strike="noStrike">
                <a:solidFill>
                  <a:srgbClr val="201E1D"/>
                </a:solidFill>
                <a:latin typeface="Archivo"/>
                <a:ea typeface="Archivo"/>
                <a:cs typeface="Archivo"/>
                <a:sym typeface="Archivo"/>
              </a:rPr>
              <a:t>el módulo de procesamiento con LLM que clasifica y resume cada licitación.</a:t>
            </a:r>
            <a:endParaRPr b="0" i="0" sz="1875" u="none" cap="none" strike="noStrike">
              <a:solidFill>
                <a:schemeClr val="dk1"/>
              </a:solidFill>
              <a:latin typeface="Calibri"/>
              <a:ea typeface="Calibri"/>
              <a:cs typeface="Calibri"/>
              <a:sym typeface="Calibri"/>
            </a:endParaRPr>
          </a:p>
        </p:txBody>
      </p:sp>
      <p:sp>
        <p:nvSpPr>
          <p:cNvPr id="923" name="Google Shape;923;p21"/>
          <p:cNvSpPr/>
          <p:nvPr/>
        </p:nvSpPr>
        <p:spPr>
          <a:xfrm>
            <a:off x="838200" y="6879134"/>
            <a:ext cx="800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1"/>
          <p:cNvSpPr/>
          <p:nvPr/>
        </p:nvSpPr>
        <p:spPr>
          <a:xfrm>
            <a:off x="838200" y="7041059"/>
            <a:ext cx="495300" cy="695325"/>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03</a:t>
            </a:r>
            <a:endParaRPr b="0" i="0" sz="1950" u="none" cap="none" strike="noStrike">
              <a:solidFill>
                <a:schemeClr val="dk1"/>
              </a:solidFill>
              <a:latin typeface="Calibri"/>
              <a:ea typeface="Calibri"/>
              <a:cs typeface="Calibri"/>
              <a:sym typeface="Calibri"/>
            </a:endParaRPr>
          </a:p>
        </p:txBody>
      </p:sp>
      <p:sp>
        <p:nvSpPr>
          <p:cNvPr id="925" name="Google Shape;925;p21"/>
          <p:cNvSpPr/>
          <p:nvPr/>
        </p:nvSpPr>
        <p:spPr>
          <a:xfrm>
            <a:off x="1466850" y="7041059"/>
            <a:ext cx="7593521" cy="695325"/>
          </a:xfrm>
          <a:prstGeom prst="rect">
            <a:avLst/>
          </a:prstGeom>
          <a:noFill/>
          <a:ln>
            <a:noFill/>
          </a:ln>
        </p:spPr>
        <p:txBody>
          <a:bodyPr anchorCtr="0" anchor="t" bIns="25400" lIns="25400" spcFirstLastPara="1" rIns="25400" wrap="square" tIns="25400">
            <a:noAutofit/>
          </a:bodyPr>
          <a:lstStyle/>
          <a:p>
            <a:pPr indent="0" lvl="0" marL="0" marR="0" rtl="0" algn="l">
              <a:lnSpc>
                <a:spcPct val="125455"/>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Diseñar y administrar </a:t>
            </a:r>
            <a:r>
              <a:rPr b="0" i="0" lang="en-US" sz="1875" u="none" cap="none" strike="noStrike">
                <a:solidFill>
                  <a:srgbClr val="201E1D"/>
                </a:solidFill>
                <a:latin typeface="Archivo"/>
                <a:ea typeface="Archivo"/>
                <a:cs typeface="Archivo"/>
                <a:sym typeface="Archivo"/>
              </a:rPr>
              <a:t>la base de datos de licitaciones, perfiles y alertas.</a:t>
            </a:r>
            <a:endParaRPr b="0" i="0" sz="1875" u="none" cap="none" strike="noStrike">
              <a:solidFill>
                <a:schemeClr val="dk1"/>
              </a:solidFill>
              <a:latin typeface="Calibri"/>
              <a:ea typeface="Calibri"/>
              <a:cs typeface="Calibri"/>
              <a:sym typeface="Calibri"/>
            </a:endParaRPr>
          </a:p>
        </p:txBody>
      </p:sp>
      <p:sp>
        <p:nvSpPr>
          <p:cNvPr id="926" name="Google Shape;926;p21"/>
          <p:cNvSpPr/>
          <p:nvPr/>
        </p:nvSpPr>
        <p:spPr>
          <a:xfrm>
            <a:off x="9448800" y="4936034"/>
            <a:ext cx="800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1"/>
          <p:cNvSpPr/>
          <p:nvPr/>
        </p:nvSpPr>
        <p:spPr>
          <a:xfrm>
            <a:off x="9448800" y="5097959"/>
            <a:ext cx="495300" cy="421928"/>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04</a:t>
            </a:r>
            <a:endParaRPr b="0" i="0" sz="1950" u="none" cap="none" strike="noStrike">
              <a:solidFill>
                <a:schemeClr val="dk1"/>
              </a:solidFill>
              <a:latin typeface="Calibri"/>
              <a:ea typeface="Calibri"/>
              <a:cs typeface="Calibri"/>
              <a:sym typeface="Calibri"/>
            </a:endParaRPr>
          </a:p>
        </p:txBody>
      </p:sp>
      <p:sp>
        <p:nvSpPr>
          <p:cNvPr id="928" name="Google Shape;928;p21"/>
          <p:cNvSpPr/>
          <p:nvPr/>
        </p:nvSpPr>
        <p:spPr>
          <a:xfrm>
            <a:off x="10077450" y="5097959"/>
            <a:ext cx="7377301" cy="421928"/>
          </a:xfrm>
          <a:prstGeom prst="rect">
            <a:avLst/>
          </a:prstGeom>
          <a:noFill/>
          <a:ln>
            <a:noFill/>
          </a:ln>
        </p:spPr>
        <p:txBody>
          <a:bodyPr anchorCtr="0" anchor="t" bIns="25400" lIns="25400" spcFirstLastPara="1" rIns="25400" wrap="square" tIns="25400">
            <a:noAutofit/>
          </a:bodyPr>
          <a:lstStyle/>
          <a:p>
            <a:pPr indent="0" lvl="0" marL="0" marR="0" rtl="0" algn="l">
              <a:lnSpc>
                <a:spcPct val="125455"/>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Construir </a:t>
            </a:r>
            <a:r>
              <a:rPr b="0" i="0" lang="en-US" sz="1875" u="none" cap="none" strike="noStrike">
                <a:solidFill>
                  <a:srgbClr val="201E1D"/>
                </a:solidFill>
                <a:latin typeface="Archivo"/>
                <a:ea typeface="Archivo"/>
                <a:cs typeface="Archivo"/>
                <a:sym typeface="Archivo"/>
              </a:rPr>
              <a:t>el módulo de notificación por correo y canales opcionales.</a:t>
            </a:r>
            <a:endParaRPr b="0" i="0" sz="1875" u="none" cap="none" strike="noStrike">
              <a:solidFill>
                <a:schemeClr val="dk1"/>
              </a:solidFill>
              <a:latin typeface="Calibri"/>
              <a:ea typeface="Calibri"/>
              <a:cs typeface="Calibri"/>
              <a:sym typeface="Calibri"/>
            </a:endParaRPr>
          </a:p>
        </p:txBody>
      </p:sp>
      <p:sp>
        <p:nvSpPr>
          <p:cNvPr id="929" name="Google Shape;929;p21"/>
          <p:cNvSpPr/>
          <p:nvPr/>
        </p:nvSpPr>
        <p:spPr>
          <a:xfrm>
            <a:off x="9448800" y="5634186"/>
            <a:ext cx="800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1"/>
          <p:cNvSpPr/>
          <p:nvPr/>
        </p:nvSpPr>
        <p:spPr>
          <a:xfrm>
            <a:off x="9448800" y="5796111"/>
            <a:ext cx="495300" cy="695325"/>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05</a:t>
            </a:r>
            <a:endParaRPr b="0" i="0" sz="1950" u="none" cap="none" strike="noStrike">
              <a:solidFill>
                <a:schemeClr val="dk1"/>
              </a:solidFill>
              <a:latin typeface="Calibri"/>
              <a:ea typeface="Calibri"/>
              <a:cs typeface="Calibri"/>
              <a:sym typeface="Calibri"/>
            </a:endParaRPr>
          </a:p>
        </p:txBody>
      </p:sp>
      <p:sp>
        <p:nvSpPr>
          <p:cNvPr id="931" name="Google Shape;931;p21"/>
          <p:cNvSpPr/>
          <p:nvPr/>
        </p:nvSpPr>
        <p:spPr>
          <a:xfrm>
            <a:off x="10077450" y="5796111"/>
            <a:ext cx="7593521" cy="695325"/>
          </a:xfrm>
          <a:prstGeom prst="rect">
            <a:avLst/>
          </a:prstGeom>
          <a:noFill/>
          <a:ln>
            <a:noFill/>
          </a:ln>
        </p:spPr>
        <p:txBody>
          <a:bodyPr anchorCtr="0" anchor="t" bIns="25400" lIns="25400" spcFirstLastPara="1" rIns="25400" wrap="square" tIns="25400">
            <a:noAutofit/>
          </a:bodyPr>
          <a:lstStyle/>
          <a:p>
            <a:pPr indent="0" lvl="0" marL="0" marR="0" rtl="0" algn="l">
              <a:lnSpc>
                <a:spcPct val="125455"/>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Desplegar </a:t>
            </a:r>
            <a:r>
              <a:rPr b="0" i="0" lang="en-US" sz="1875" u="none" cap="none" strike="noStrike">
                <a:solidFill>
                  <a:srgbClr val="201E1D"/>
                </a:solidFill>
                <a:latin typeface="Archivo"/>
                <a:ea typeface="Archivo"/>
                <a:cs typeface="Archivo"/>
                <a:sym typeface="Archivo"/>
              </a:rPr>
              <a:t>el sistema en una arquitectura cloud escalable y de mantención simple.</a:t>
            </a:r>
            <a:endParaRPr b="0" i="0" sz="1875" u="none" cap="none" strike="noStrike">
              <a:solidFill>
                <a:schemeClr val="dk1"/>
              </a:solidFill>
              <a:latin typeface="Calibri"/>
              <a:ea typeface="Calibri"/>
              <a:cs typeface="Calibri"/>
              <a:sym typeface="Calibri"/>
            </a:endParaRPr>
          </a:p>
        </p:txBody>
      </p:sp>
      <p:sp>
        <p:nvSpPr>
          <p:cNvPr id="932" name="Google Shape;932;p21"/>
          <p:cNvSpPr/>
          <p:nvPr/>
        </p:nvSpPr>
        <p:spPr>
          <a:xfrm>
            <a:off x="9448800" y="6605736"/>
            <a:ext cx="800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1"/>
          <p:cNvSpPr/>
          <p:nvPr/>
        </p:nvSpPr>
        <p:spPr>
          <a:xfrm>
            <a:off x="9448800" y="6767661"/>
            <a:ext cx="495300" cy="695325"/>
          </a:xfrm>
          <a:prstGeom prst="rect">
            <a:avLst/>
          </a:prstGeom>
          <a:noFill/>
          <a:ln>
            <a:noFill/>
          </a:ln>
        </p:spPr>
        <p:txBody>
          <a:bodyPr anchorCtr="0" anchor="t"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06</a:t>
            </a:r>
            <a:endParaRPr b="0" i="0" sz="1950" u="none" cap="none" strike="noStrike">
              <a:solidFill>
                <a:schemeClr val="dk1"/>
              </a:solidFill>
              <a:latin typeface="Calibri"/>
              <a:ea typeface="Calibri"/>
              <a:cs typeface="Calibri"/>
              <a:sym typeface="Calibri"/>
            </a:endParaRPr>
          </a:p>
        </p:txBody>
      </p:sp>
      <p:sp>
        <p:nvSpPr>
          <p:cNvPr id="934" name="Google Shape;934;p21"/>
          <p:cNvSpPr/>
          <p:nvPr/>
        </p:nvSpPr>
        <p:spPr>
          <a:xfrm>
            <a:off x="10077450" y="6767661"/>
            <a:ext cx="7593521" cy="695325"/>
          </a:xfrm>
          <a:prstGeom prst="rect">
            <a:avLst/>
          </a:prstGeom>
          <a:noFill/>
          <a:ln>
            <a:noFill/>
          </a:ln>
        </p:spPr>
        <p:txBody>
          <a:bodyPr anchorCtr="0" anchor="t" bIns="25400" lIns="25400" spcFirstLastPara="1" rIns="25400" wrap="square" tIns="25400">
            <a:noAutofit/>
          </a:bodyPr>
          <a:lstStyle/>
          <a:p>
            <a:pPr indent="0" lvl="0" marL="0" marR="0" rtl="0" algn="l">
              <a:lnSpc>
                <a:spcPct val="125455"/>
              </a:lnSpc>
              <a:spcBef>
                <a:spcPts val="0"/>
              </a:spcBef>
              <a:spcAft>
                <a:spcPts val="0"/>
              </a:spcAft>
              <a:buClr>
                <a:srgbClr val="201E1D"/>
              </a:buClr>
              <a:buSzPts val="1875"/>
              <a:buFont typeface="Archivo"/>
              <a:buNone/>
            </a:pPr>
            <a:r>
              <a:rPr b="1" i="0" lang="en-US" sz="1875" u="none" cap="none" strike="noStrike">
                <a:solidFill>
                  <a:srgbClr val="201E1D"/>
                </a:solidFill>
                <a:latin typeface="Archivo"/>
                <a:ea typeface="Archivo"/>
                <a:cs typeface="Archivo"/>
                <a:sym typeface="Archivo"/>
              </a:rPr>
              <a:t>Evaluar </a:t>
            </a:r>
            <a:r>
              <a:rPr b="0" i="0" lang="en-US" sz="1875" u="none" cap="none" strike="noStrike">
                <a:solidFill>
                  <a:srgbClr val="201E1D"/>
                </a:solidFill>
                <a:latin typeface="Archivo"/>
                <a:ea typeface="Archivo"/>
                <a:cs typeface="Archivo"/>
                <a:sym typeface="Archivo"/>
              </a:rPr>
              <a:t>el sistema con perfiles reales o simulados, midiendo precisión y tiempo ahorrado.</a:t>
            </a:r>
            <a:endParaRPr b="0" i="0" sz="1875"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939" name="Shape 939"/>
        <p:cNvGrpSpPr/>
        <p:nvPr/>
      </p:nvGrpSpPr>
      <p:grpSpPr>
        <a:xfrm>
          <a:off x="0" y="0"/>
          <a:ext cx="0" cy="0"/>
          <a:chOff x="0" y="0"/>
          <a:chExt cx="0" cy="0"/>
        </a:xfrm>
      </p:grpSpPr>
      <p:sp>
        <p:nvSpPr>
          <p:cNvPr id="940" name="Google Shape;940;p22"/>
          <p:cNvSpPr/>
          <p:nvPr/>
        </p:nvSpPr>
        <p:spPr>
          <a:xfrm>
            <a:off x="838200" y="6096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05 · METODOLOGÍA</a:t>
            </a:r>
            <a:endParaRPr b="0" i="0" sz="1950" u="none" cap="none" strike="noStrike">
              <a:solidFill>
                <a:schemeClr val="dk1"/>
              </a:solidFill>
              <a:latin typeface="Calibri"/>
              <a:ea typeface="Calibri"/>
              <a:cs typeface="Calibri"/>
              <a:sym typeface="Calibri"/>
            </a:endParaRPr>
          </a:p>
        </p:txBody>
      </p:sp>
      <p:sp>
        <p:nvSpPr>
          <p:cNvPr id="941" name="Google Shape;941;p22"/>
          <p:cNvSpPr/>
          <p:nvPr/>
        </p:nvSpPr>
        <p:spPr>
          <a:xfrm>
            <a:off x="838200" y="114300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Metodología ágil, iterativa e incremental</a:t>
            </a:r>
            <a:endParaRPr b="0" i="0" sz="4500" u="none" cap="none" strike="noStrike">
              <a:solidFill>
                <a:schemeClr val="dk1"/>
              </a:solidFill>
              <a:latin typeface="Calibri"/>
              <a:ea typeface="Calibri"/>
              <a:cs typeface="Calibri"/>
              <a:sym typeface="Calibri"/>
            </a:endParaRPr>
          </a:p>
        </p:txBody>
      </p:sp>
      <p:sp>
        <p:nvSpPr>
          <p:cNvPr id="942" name="Google Shape;942;p22"/>
          <p:cNvSpPr/>
          <p:nvPr/>
        </p:nvSpPr>
        <p:spPr>
          <a:xfrm>
            <a:off x="838200" y="202309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2"/>
          <p:cNvSpPr/>
          <p:nvPr/>
        </p:nvSpPr>
        <p:spPr>
          <a:xfrm>
            <a:off x="838200" y="2327895"/>
            <a:ext cx="14225588" cy="879277"/>
          </a:xfrm>
          <a:prstGeom prst="rect">
            <a:avLst/>
          </a:prstGeom>
          <a:noFill/>
          <a:ln>
            <a:noFill/>
          </a:ln>
        </p:spPr>
        <p:txBody>
          <a:bodyPr anchorCtr="0" anchor="t" bIns="25400" lIns="25400" spcFirstLastPara="1" rIns="25400" wrap="square" tIns="25400">
            <a:noAutofit/>
          </a:bodyPr>
          <a:lstStyle/>
          <a:p>
            <a:pPr indent="0" lvl="0" marL="0" marR="0" rtl="0" algn="l">
              <a:lnSpc>
                <a:spcPct val="128000"/>
              </a:lnSpc>
              <a:spcBef>
                <a:spcPts val="0"/>
              </a:spcBef>
              <a:spcAft>
                <a:spcPts val="0"/>
              </a:spcAft>
              <a:buClr>
                <a:srgbClr val="201E1D"/>
              </a:buClr>
              <a:buSzPts val="2400"/>
              <a:buFont typeface="Archivo"/>
              <a:buNone/>
            </a:pPr>
            <a:r>
              <a:rPr b="0" i="0" lang="en-US" sz="2400" u="none" cap="none" strike="noStrike">
                <a:solidFill>
                  <a:srgbClr val="201E1D"/>
                </a:solidFill>
                <a:latin typeface="Archivo"/>
                <a:ea typeface="Archivo"/>
                <a:cs typeface="Archivo"/>
                <a:sym typeface="Archivo"/>
              </a:rPr>
              <a:t>Trabajamos en sprints cortos inspirados en Scrum: cada módulo se construye, se prueba y se integra antes de pasar al siguiente, en lugar de dejar la integración para el final.</a:t>
            </a:r>
            <a:endParaRPr b="0" i="0" sz="2400" u="none" cap="none" strike="noStrike">
              <a:solidFill>
                <a:schemeClr val="dk1"/>
              </a:solidFill>
              <a:latin typeface="Calibri"/>
              <a:ea typeface="Calibri"/>
              <a:cs typeface="Calibri"/>
              <a:sym typeface="Calibri"/>
            </a:endParaRPr>
          </a:p>
        </p:txBody>
      </p:sp>
      <p:sp>
        <p:nvSpPr>
          <p:cNvPr id="944" name="Google Shape;944;p22"/>
          <p:cNvSpPr/>
          <p:nvPr/>
        </p:nvSpPr>
        <p:spPr>
          <a:xfrm>
            <a:off x="4141440" y="3511972"/>
            <a:ext cx="19050" cy="616542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2"/>
          <p:cNvSpPr/>
          <p:nvPr/>
        </p:nvSpPr>
        <p:spPr>
          <a:xfrm>
            <a:off x="838200" y="3816772"/>
            <a:ext cx="3340194" cy="4953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3600"/>
              <a:buFont typeface="Archivo"/>
              <a:buNone/>
            </a:pPr>
            <a:r>
              <a:rPr b="1" i="0" lang="en-US" sz="3600" u="none" cap="none" strike="noStrike">
                <a:solidFill>
                  <a:srgbClr val="EC3013"/>
                </a:solidFill>
                <a:latin typeface="Archivo"/>
                <a:ea typeface="Archivo"/>
                <a:cs typeface="Archivo"/>
                <a:sym typeface="Archivo"/>
              </a:rPr>
              <a:t>1</a:t>
            </a:r>
            <a:endParaRPr b="0" i="0" sz="3600" u="none" cap="none" strike="noStrike">
              <a:solidFill>
                <a:schemeClr val="dk1"/>
              </a:solidFill>
              <a:latin typeface="Calibri"/>
              <a:ea typeface="Calibri"/>
              <a:cs typeface="Calibri"/>
              <a:sym typeface="Calibri"/>
            </a:endParaRPr>
          </a:p>
        </p:txBody>
      </p:sp>
      <p:sp>
        <p:nvSpPr>
          <p:cNvPr id="946" name="Google Shape;946;p22"/>
          <p:cNvSpPr/>
          <p:nvPr/>
        </p:nvSpPr>
        <p:spPr>
          <a:xfrm>
            <a:off x="838200" y="4407322"/>
            <a:ext cx="3127636" cy="651421"/>
          </a:xfrm>
          <a:prstGeom prst="rect">
            <a:avLst/>
          </a:prstGeom>
          <a:noFill/>
          <a:ln>
            <a:noFill/>
          </a:ln>
        </p:spPr>
        <p:txBody>
          <a:bodyPr anchorCtr="0" anchor="t" bIns="25400" lIns="25400" spcFirstLastPara="1" rIns="25400" wrap="square" tIns="25400">
            <a:noAutofit/>
          </a:bodyPr>
          <a:lstStyle/>
          <a:p>
            <a:pPr indent="0" lvl="0" marL="0" marR="0" rtl="0" algn="l">
              <a:lnSpc>
                <a:spcPct val="105574"/>
              </a:lnSpc>
              <a:spcBef>
                <a:spcPts val="0"/>
              </a:spcBef>
              <a:spcAft>
                <a:spcPts val="0"/>
              </a:spcAft>
              <a:buClr>
                <a:srgbClr val="201E1D"/>
              </a:buClr>
              <a:buSzPts val="2100"/>
              <a:buFont typeface="Archivo"/>
              <a:buNone/>
            </a:pPr>
            <a:r>
              <a:rPr b="1" i="0" lang="en-US" sz="2100" u="none" cap="none" strike="noStrike">
                <a:solidFill>
                  <a:srgbClr val="201E1D"/>
                </a:solidFill>
                <a:latin typeface="Archivo"/>
                <a:ea typeface="Archivo"/>
                <a:cs typeface="Archivo"/>
                <a:sym typeface="Archivo"/>
              </a:rPr>
              <a:t>Levantamiento y diseño</a:t>
            </a:r>
            <a:endParaRPr b="0" i="0" sz="2100" u="none" cap="none" strike="noStrike">
              <a:solidFill>
                <a:schemeClr val="dk1"/>
              </a:solidFill>
              <a:latin typeface="Calibri"/>
              <a:ea typeface="Calibri"/>
              <a:cs typeface="Calibri"/>
              <a:sym typeface="Calibri"/>
            </a:endParaRPr>
          </a:p>
        </p:txBody>
      </p:sp>
      <p:sp>
        <p:nvSpPr>
          <p:cNvPr id="947" name="Google Shape;947;p22"/>
          <p:cNvSpPr/>
          <p:nvPr/>
        </p:nvSpPr>
        <p:spPr>
          <a:xfrm>
            <a:off x="838200" y="5153992"/>
            <a:ext cx="3127636" cy="1078185"/>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Alcance del MVP, arquitectura y esquema de base de datos.</a:t>
            </a:r>
            <a:endParaRPr b="0" i="0" sz="1950" u="none" cap="none" strike="noStrike">
              <a:solidFill>
                <a:schemeClr val="dk1"/>
              </a:solidFill>
              <a:latin typeface="Calibri"/>
              <a:ea typeface="Calibri"/>
              <a:cs typeface="Calibri"/>
              <a:sym typeface="Calibri"/>
            </a:endParaRPr>
          </a:p>
        </p:txBody>
      </p:sp>
      <p:sp>
        <p:nvSpPr>
          <p:cNvPr id="948" name="Google Shape;948;p22"/>
          <p:cNvSpPr/>
          <p:nvPr/>
        </p:nvSpPr>
        <p:spPr>
          <a:xfrm>
            <a:off x="7463730" y="3511972"/>
            <a:ext cx="19050" cy="616542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2"/>
          <p:cNvSpPr/>
          <p:nvPr/>
        </p:nvSpPr>
        <p:spPr>
          <a:xfrm>
            <a:off x="4427190" y="3816772"/>
            <a:ext cx="3046824" cy="4953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3600"/>
              <a:buFont typeface="Archivo"/>
              <a:buNone/>
            </a:pPr>
            <a:r>
              <a:rPr b="1" i="0" lang="en-US" sz="3600" u="none" cap="none" strike="noStrike">
                <a:solidFill>
                  <a:srgbClr val="EC3013"/>
                </a:solidFill>
                <a:latin typeface="Archivo"/>
                <a:ea typeface="Archivo"/>
                <a:cs typeface="Archivo"/>
                <a:sym typeface="Archivo"/>
              </a:rPr>
              <a:t>2</a:t>
            </a:r>
            <a:endParaRPr b="0" i="0" sz="3600" u="none" cap="none" strike="noStrike">
              <a:solidFill>
                <a:schemeClr val="dk1"/>
              </a:solidFill>
              <a:latin typeface="Calibri"/>
              <a:ea typeface="Calibri"/>
              <a:cs typeface="Calibri"/>
              <a:sym typeface="Calibri"/>
            </a:endParaRPr>
          </a:p>
        </p:txBody>
      </p:sp>
      <p:sp>
        <p:nvSpPr>
          <p:cNvPr id="950" name="Google Shape;950;p22"/>
          <p:cNvSpPr/>
          <p:nvPr/>
        </p:nvSpPr>
        <p:spPr>
          <a:xfrm>
            <a:off x="4427190" y="4407322"/>
            <a:ext cx="2852935" cy="651421"/>
          </a:xfrm>
          <a:prstGeom prst="rect">
            <a:avLst/>
          </a:prstGeom>
          <a:noFill/>
          <a:ln>
            <a:noFill/>
          </a:ln>
        </p:spPr>
        <p:txBody>
          <a:bodyPr anchorCtr="0" anchor="t" bIns="25400" lIns="25400" spcFirstLastPara="1" rIns="25400" wrap="square" tIns="25400">
            <a:noAutofit/>
          </a:bodyPr>
          <a:lstStyle/>
          <a:p>
            <a:pPr indent="0" lvl="0" marL="0" marR="0" rtl="0" algn="l">
              <a:lnSpc>
                <a:spcPct val="105574"/>
              </a:lnSpc>
              <a:spcBef>
                <a:spcPts val="0"/>
              </a:spcBef>
              <a:spcAft>
                <a:spcPts val="0"/>
              </a:spcAft>
              <a:buClr>
                <a:srgbClr val="201E1D"/>
              </a:buClr>
              <a:buSzPts val="2100"/>
              <a:buFont typeface="Archivo"/>
              <a:buNone/>
            </a:pPr>
            <a:r>
              <a:rPr b="1" i="0" lang="en-US" sz="2100" u="none" cap="none" strike="noStrike">
                <a:solidFill>
                  <a:srgbClr val="201E1D"/>
                </a:solidFill>
                <a:latin typeface="Archivo"/>
                <a:ea typeface="Archivo"/>
                <a:cs typeface="Archivo"/>
                <a:sym typeface="Archivo"/>
              </a:rPr>
              <a:t>Desarrollo por módulos</a:t>
            </a:r>
            <a:endParaRPr b="0" i="0" sz="2100" u="none" cap="none" strike="noStrike">
              <a:solidFill>
                <a:schemeClr val="dk1"/>
              </a:solidFill>
              <a:latin typeface="Calibri"/>
              <a:ea typeface="Calibri"/>
              <a:cs typeface="Calibri"/>
              <a:sym typeface="Calibri"/>
            </a:endParaRPr>
          </a:p>
        </p:txBody>
      </p:sp>
      <p:sp>
        <p:nvSpPr>
          <p:cNvPr id="951" name="Google Shape;951;p22"/>
          <p:cNvSpPr/>
          <p:nvPr/>
        </p:nvSpPr>
        <p:spPr>
          <a:xfrm>
            <a:off x="4427190" y="5153992"/>
            <a:ext cx="2852935" cy="142488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Ingesta, IA, base de datos y notificaciones, integrados progresivamente.</a:t>
            </a:r>
            <a:endParaRPr b="0" i="0" sz="1950" u="none" cap="none" strike="noStrike">
              <a:solidFill>
                <a:schemeClr val="dk1"/>
              </a:solidFill>
              <a:latin typeface="Calibri"/>
              <a:ea typeface="Calibri"/>
              <a:cs typeface="Calibri"/>
              <a:sym typeface="Calibri"/>
            </a:endParaRPr>
          </a:p>
        </p:txBody>
      </p:sp>
      <p:sp>
        <p:nvSpPr>
          <p:cNvPr id="952" name="Google Shape;952;p22"/>
          <p:cNvSpPr/>
          <p:nvPr/>
        </p:nvSpPr>
        <p:spPr>
          <a:xfrm>
            <a:off x="10786095" y="3511972"/>
            <a:ext cx="19050" cy="616542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2"/>
          <p:cNvSpPr/>
          <p:nvPr/>
        </p:nvSpPr>
        <p:spPr>
          <a:xfrm>
            <a:off x="7749480" y="3816772"/>
            <a:ext cx="3046906" cy="4953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3600"/>
              <a:buFont typeface="Archivo"/>
              <a:buNone/>
            </a:pPr>
            <a:r>
              <a:rPr b="1" i="0" lang="en-US" sz="3600" u="none" cap="none" strike="noStrike">
                <a:solidFill>
                  <a:srgbClr val="EC3013"/>
                </a:solidFill>
                <a:latin typeface="Archivo"/>
                <a:ea typeface="Archivo"/>
                <a:cs typeface="Archivo"/>
                <a:sym typeface="Archivo"/>
              </a:rPr>
              <a:t>3</a:t>
            </a:r>
            <a:endParaRPr b="0" i="0" sz="3600" u="none" cap="none" strike="noStrike">
              <a:solidFill>
                <a:schemeClr val="dk1"/>
              </a:solidFill>
              <a:latin typeface="Calibri"/>
              <a:ea typeface="Calibri"/>
              <a:cs typeface="Calibri"/>
              <a:sym typeface="Calibri"/>
            </a:endParaRPr>
          </a:p>
        </p:txBody>
      </p:sp>
      <p:sp>
        <p:nvSpPr>
          <p:cNvPr id="954" name="Google Shape;954;p22"/>
          <p:cNvSpPr/>
          <p:nvPr/>
        </p:nvSpPr>
        <p:spPr>
          <a:xfrm>
            <a:off x="7749480" y="4407322"/>
            <a:ext cx="3046906" cy="344760"/>
          </a:xfrm>
          <a:prstGeom prst="rect">
            <a:avLst/>
          </a:prstGeom>
          <a:noFill/>
          <a:ln>
            <a:noFill/>
          </a:ln>
        </p:spPr>
        <p:txBody>
          <a:bodyPr anchorCtr="0" anchor="t" bIns="25400" lIns="25400" spcFirstLastPara="1" rIns="25400" wrap="square" tIns="25400">
            <a:noAutofit/>
          </a:bodyPr>
          <a:lstStyle/>
          <a:p>
            <a:pPr indent="0" lvl="0" marL="0" marR="0" rtl="0" algn="l">
              <a:lnSpc>
                <a:spcPct val="105574"/>
              </a:lnSpc>
              <a:spcBef>
                <a:spcPts val="0"/>
              </a:spcBef>
              <a:spcAft>
                <a:spcPts val="0"/>
              </a:spcAft>
              <a:buClr>
                <a:srgbClr val="201E1D"/>
              </a:buClr>
              <a:buSzPts val="2100"/>
              <a:buFont typeface="Archivo"/>
              <a:buNone/>
            </a:pPr>
            <a:r>
              <a:rPr b="1" i="0" lang="en-US" sz="2100" u="none" cap="none" strike="noStrike">
                <a:solidFill>
                  <a:srgbClr val="201E1D"/>
                </a:solidFill>
                <a:latin typeface="Archivo"/>
                <a:ea typeface="Archivo"/>
                <a:cs typeface="Archivo"/>
                <a:sym typeface="Archivo"/>
              </a:rPr>
              <a:t>Pruebas</a:t>
            </a:r>
            <a:endParaRPr b="0" i="0" sz="2100" u="none" cap="none" strike="noStrike">
              <a:solidFill>
                <a:schemeClr val="dk1"/>
              </a:solidFill>
              <a:latin typeface="Calibri"/>
              <a:ea typeface="Calibri"/>
              <a:cs typeface="Calibri"/>
              <a:sym typeface="Calibri"/>
            </a:endParaRPr>
          </a:p>
        </p:txBody>
      </p:sp>
      <p:sp>
        <p:nvSpPr>
          <p:cNvPr id="955" name="Google Shape;955;p22"/>
          <p:cNvSpPr/>
          <p:nvPr/>
        </p:nvSpPr>
        <p:spPr>
          <a:xfrm>
            <a:off x="7749480" y="4847332"/>
            <a:ext cx="2853012" cy="142488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Validación por módulo y del sistema completo: precisión del filtrado y envío correcto.</a:t>
            </a:r>
            <a:endParaRPr b="0" i="0" sz="1950" u="none" cap="none" strike="noStrike">
              <a:solidFill>
                <a:schemeClr val="dk1"/>
              </a:solidFill>
              <a:latin typeface="Calibri"/>
              <a:ea typeface="Calibri"/>
              <a:cs typeface="Calibri"/>
              <a:sym typeface="Calibri"/>
            </a:endParaRPr>
          </a:p>
        </p:txBody>
      </p:sp>
      <p:sp>
        <p:nvSpPr>
          <p:cNvPr id="956" name="Google Shape;956;p22"/>
          <p:cNvSpPr/>
          <p:nvPr/>
        </p:nvSpPr>
        <p:spPr>
          <a:xfrm>
            <a:off x="14108385" y="3511972"/>
            <a:ext cx="19050" cy="616542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2"/>
          <p:cNvSpPr/>
          <p:nvPr/>
        </p:nvSpPr>
        <p:spPr>
          <a:xfrm>
            <a:off x="11071845" y="3816772"/>
            <a:ext cx="3046824" cy="4953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3600"/>
              <a:buFont typeface="Archivo"/>
              <a:buNone/>
            </a:pPr>
            <a:r>
              <a:rPr b="1" i="0" lang="en-US" sz="3600" u="none" cap="none" strike="noStrike">
                <a:solidFill>
                  <a:srgbClr val="EC3013"/>
                </a:solidFill>
                <a:latin typeface="Archivo"/>
                <a:ea typeface="Archivo"/>
                <a:cs typeface="Archivo"/>
                <a:sym typeface="Archivo"/>
              </a:rPr>
              <a:t>4</a:t>
            </a:r>
            <a:endParaRPr b="0" i="0" sz="3600" u="none" cap="none" strike="noStrike">
              <a:solidFill>
                <a:schemeClr val="dk1"/>
              </a:solidFill>
              <a:latin typeface="Calibri"/>
              <a:ea typeface="Calibri"/>
              <a:cs typeface="Calibri"/>
              <a:sym typeface="Calibri"/>
            </a:endParaRPr>
          </a:p>
        </p:txBody>
      </p:sp>
      <p:sp>
        <p:nvSpPr>
          <p:cNvPr id="958" name="Google Shape;958;p22"/>
          <p:cNvSpPr/>
          <p:nvPr/>
        </p:nvSpPr>
        <p:spPr>
          <a:xfrm>
            <a:off x="11071845" y="4407322"/>
            <a:ext cx="3046824" cy="344760"/>
          </a:xfrm>
          <a:prstGeom prst="rect">
            <a:avLst/>
          </a:prstGeom>
          <a:noFill/>
          <a:ln>
            <a:noFill/>
          </a:ln>
        </p:spPr>
        <p:txBody>
          <a:bodyPr anchorCtr="0" anchor="t" bIns="25400" lIns="25400" spcFirstLastPara="1" rIns="25400" wrap="square" tIns="25400">
            <a:noAutofit/>
          </a:bodyPr>
          <a:lstStyle/>
          <a:p>
            <a:pPr indent="0" lvl="0" marL="0" marR="0" rtl="0" algn="l">
              <a:lnSpc>
                <a:spcPct val="105574"/>
              </a:lnSpc>
              <a:spcBef>
                <a:spcPts val="0"/>
              </a:spcBef>
              <a:spcAft>
                <a:spcPts val="0"/>
              </a:spcAft>
              <a:buClr>
                <a:srgbClr val="201E1D"/>
              </a:buClr>
              <a:buSzPts val="2100"/>
              <a:buFont typeface="Archivo"/>
              <a:buNone/>
            </a:pPr>
            <a:r>
              <a:rPr b="1" i="0" lang="en-US" sz="2100" u="none" cap="none" strike="noStrike">
                <a:solidFill>
                  <a:srgbClr val="201E1D"/>
                </a:solidFill>
                <a:latin typeface="Archivo"/>
                <a:ea typeface="Archivo"/>
                <a:cs typeface="Archivo"/>
                <a:sym typeface="Archivo"/>
              </a:rPr>
              <a:t>Despliegue</a:t>
            </a:r>
            <a:endParaRPr b="0" i="0" sz="2100" u="none" cap="none" strike="noStrike">
              <a:solidFill>
                <a:schemeClr val="dk1"/>
              </a:solidFill>
              <a:latin typeface="Calibri"/>
              <a:ea typeface="Calibri"/>
              <a:cs typeface="Calibri"/>
              <a:sym typeface="Calibri"/>
            </a:endParaRPr>
          </a:p>
        </p:txBody>
      </p:sp>
      <p:sp>
        <p:nvSpPr>
          <p:cNvPr id="959" name="Google Shape;959;p22"/>
          <p:cNvSpPr/>
          <p:nvPr/>
        </p:nvSpPr>
        <p:spPr>
          <a:xfrm>
            <a:off x="11071845" y="4847332"/>
            <a:ext cx="2852935" cy="1078185"/>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Puesta en producción en la infraestructura cloud definida.</a:t>
            </a:r>
            <a:endParaRPr b="0" i="0" sz="1950" u="none" cap="none" strike="noStrike">
              <a:solidFill>
                <a:schemeClr val="dk1"/>
              </a:solidFill>
              <a:latin typeface="Calibri"/>
              <a:ea typeface="Calibri"/>
              <a:cs typeface="Calibri"/>
              <a:sym typeface="Calibri"/>
            </a:endParaRPr>
          </a:p>
        </p:txBody>
      </p:sp>
      <p:sp>
        <p:nvSpPr>
          <p:cNvPr id="960" name="Google Shape;960;p22"/>
          <p:cNvSpPr/>
          <p:nvPr/>
        </p:nvSpPr>
        <p:spPr>
          <a:xfrm>
            <a:off x="14394135" y="3816772"/>
            <a:ext cx="3361149" cy="495300"/>
          </a:xfrm>
          <a:prstGeom prst="rect">
            <a:avLst/>
          </a:prstGeom>
          <a:noFill/>
          <a:ln>
            <a:noFill/>
          </a:ln>
        </p:spPr>
        <p:txBody>
          <a:bodyPr anchorCtr="0" anchor="t" bIns="25400" lIns="25400" spcFirstLastPara="1" rIns="25400" wrap="square" tIns="25400">
            <a:noAutofit/>
          </a:bodyPr>
          <a:lstStyle/>
          <a:p>
            <a:pPr indent="0" lvl="0" marL="0" marR="0" rtl="0" algn="l">
              <a:lnSpc>
                <a:spcPct val="92308"/>
              </a:lnSpc>
              <a:spcBef>
                <a:spcPts val="0"/>
              </a:spcBef>
              <a:spcAft>
                <a:spcPts val="0"/>
              </a:spcAft>
              <a:buClr>
                <a:srgbClr val="EC3013"/>
              </a:buClr>
              <a:buSzPts val="3600"/>
              <a:buFont typeface="Archivo"/>
              <a:buNone/>
            </a:pPr>
            <a:r>
              <a:rPr b="1" i="0" lang="en-US" sz="3600" u="none" cap="none" strike="noStrike">
                <a:solidFill>
                  <a:srgbClr val="EC3013"/>
                </a:solidFill>
                <a:latin typeface="Archivo"/>
                <a:ea typeface="Archivo"/>
                <a:cs typeface="Archivo"/>
                <a:sym typeface="Archivo"/>
              </a:rPr>
              <a:t>5</a:t>
            </a:r>
            <a:endParaRPr b="0" i="0" sz="3600" u="none" cap="none" strike="noStrike">
              <a:solidFill>
                <a:schemeClr val="dk1"/>
              </a:solidFill>
              <a:latin typeface="Calibri"/>
              <a:ea typeface="Calibri"/>
              <a:cs typeface="Calibri"/>
              <a:sym typeface="Calibri"/>
            </a:endParaRPr>
          </a:p>
        </p:txBody>
      </p:sp>
      <p:sp>
        <p:nvSpPr>
          <p:cNvPr id="961" name="Google Shape;961;p22"/>
          <p:cNvSpPr/>
          <p:nvPr/>
        </p:nvSpPr>
        <p:spPr>
          <a:xfrm>
            <a:off x="14394135" y="4407322"/>
            <a:ext cx="3361149" cy="344760"/>
          </a:xfrm>
          <a:prstGeom prst="rect">
            <a:avLst/>
          </a:prstGeom>
          <a:noFill/>
          <a:ln>
            <a:noFill/>
          </a:ln>
        </p:spPr>
        <p:txBody>
          <a:bodyPr anchorCtr="0" anchor="t" bIns="25400" lIns="25400" spcFirstLastPara="1" rIns="25400" wrap="square" tIns="25400">
            <a:noAutofit/>
          </a:bodyPr>
          <a:lstStyle/>
          <a:p>
            <a:pPr indent="0" lvl="0" marL="0" marR="0" rtl="0" algn="l">
              <a:lnSpc>
                <a:spcPct val="105574"/>
              </a:lnSpc>
              <a:spcBef>
                <a:spcPts val="0"/>
              </a:spcBef>
              <a:spcAft>
                <a:spcPts val="0"/>
              </a:spcAft>
              <a:buClr>
                <a:srgbClr val="201E1D"/>
              </a:buClr>
              <a:buSzPts val="2100"/>
              <a:buFont typeface="Archivo"/>
              <a:buNone/>
            </a:pPr>
            <a:r>
              <a:rPr b="1" i="0" lang="en-US" sz="2100" u="none" cap="none" strike="noStrike">
                <a:solidFill>
                  <a:srgbClr val="201E1D"/>
                </a:solidFill>
                <a:latin typeface="Archivo"/>
                <a:ea typeface="Archivo"/>
                <a:cs typeface="Archivo"/>
                <a:sym typeface="Archivo"/>
              </a:rPr>
              <a:t>Evaluación y ajustes</a:t>
            </a:r>
            <a:endParaRPr b="0" i="0" sz="2100" u="none" cap="none" strike="noStrike">
              <a:solidFill>
                <a:schemeClr val="dk1"/>
              </a:solidFill>
              <a:latin typeface="Calibri"/>
              <a:ea typeface="Calibri"/>
              <a:cs typeface="Calibri"/>
              <a:sym typeface="Calibri"/>
            </a:endParaRPr>
          </a:p>
        </p:txBody>
      </p:sp>
      <p:sp>
        <p:nvSpPr>
          <p:cNvPr id="962" name="Google Shape;962;p22"/>
          <p:cNvSpPr/>
          <p:nvPr/>
        </p:nvSpPr>
        <p:spPr>
          <a:xfrm>
            <a:off x="14394135" y="4847332"/>
            <a:ext cx="3147258" cy="1078185"/>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Revisión de resultados frente a los objetivos y correcciones finales.</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967" name="Shape 967"/>
        <p:cNvGrpSpPr/>
        <p:nvPr/>
      </p:nvGrpSpPr>
      <p:grpSpPr>
        <a:xfrm>
          <a:off x="0" y="0"/>
          <a:ext cx="0" cy="0"/>
          <a:chOff x="0" y="0"/>
          <a:chExt cx="0" cy="0"/>
        </a:xfrm>
      </p:grpSpPr>
      <p:sp>
        <p:nvSpPr>
          <p:cNvPr id="968" name="Google Shape;968;p23"/>
          <p:cNvSpPr/>
          <p:nvPr/>
        </p:nvSpPr>
        <p:spPr>
          <a:xfrm>
            <a:off x="838200" y="6096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06 · PLAN DE TRABAJO</a:t>
            </a:r>
            <a:endParaRPr b="0" i="0" sz="1950" u="none" cap="none" strike="noStrike">
              <a:solidFill>
                <a:schemeClr val="dk1"/>
              </a:solidFill>
              <a:latin typeface="Calibri"/>
              <a:ea typeface="Calibri"/>
              <a:cs typeface="Calibri"/>
              <a:sym typeface="Calibri"/>
            </a:endParaRPr>
          </a:p>
        </p:txBody>
      </p:sp>
      <p:sp>
        <p:nvSpPr>
          <p:cNvPr id="969" name="Google Shape;969;p23"/>
          <p:cNvSpPr/>
          <p:nvPr/>
        </p:nvSpPr>
        <p:spPr>
          <a:xfrm>
            <a:off x="838200" y="110490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Carta Gantt: 18 semanas, tres fases</a:t>
            </a:r>
            <a:endParaRPr b="0" i="0" sz="4500" u="none" cap="none" strike="noStrike">
              <a:solidFill>
                <a:schemeClr val="dk1"/>
              </a:solidFill>
              <a:latin typeface="Calibri"/>
              <a:ea typeface="Calibri"/>
              <a:cs typeface="Calibri"/>
              <a:sym typeface="Calibri"/>
            </a:endParaRPr>
          </a:p>
        </p:txBody>
      </p:sp>
      <p:sp>
        <p:nvSpPr>
          <p:cNvPr id="970" name="Google Shape;970;p23"/>
          <p:cNvSpPr/>
          <p:nvPr/>
        </p:nvSpPr>
        <p:spPr>
          <a:xfrm>
            <a:off x="838200" y="194689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3"/>
          <p:cNvSpPr/>
          <p:nvPr/>
        </p:nvSpPr>
        <p:spPr>
          <a:xfrm>
            <a:off x="5048250" y="2213595"/>
            <a:ext cx="4121125" cy="769441"/>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3"/>
          <p:cNvSpPr/>
          <p:nvPr/>
        </p:nvSpPr>
        <p:spPr>
          <a:xfrm>
            <a:off x="5162550" y="2289795"/>
            <a:ext cx="4016159" cy="655141"/>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FASE 1</a:t>
            </a:r>
            <a:endParaRPr b="0" i="0" sz="1800" u="none" cap="none" strike="noStrike">
              <a:solidFill>
                <a:schemeClr val="dk1"/>
              </a:solidFill>
              <a:latin typeface="Calibri"/>
              <a:ea typeface="Calibri"/>
              <a:cs typeface="Calibri"/>
              <a:sym typeface="Calibri"/>
            </a:endParaRPr>
          </a:p>
        </p:txBody>
      </p:sp>
      <p:sp>
        <p:nvSpPr>
          <p:cNvPr id="973" name="Google Shape;973;p23"/>
          <p:cNvSpPr/>
          <p:nvPr/>
        </p:nvSpPr>
        <p:spPr>
          <a:xfrm>
            <a:off x="9188425" y="2213595"/>
            <a:ext cx="4121125" cy="769441"/>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3"/>
          <p:cNvSpPr/>
          <p:nvPr/>
        </p:nvSpPr>
        <p:spPr>
          <a:xfrm>
            <a:off x="9302725" y="2289795"/>
            <a:ext cx="4016159" cy="655141"/>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FASE 2</a:t>
            </a:r>
            <a:endParaRPr b="0" i="0" sz="1800" u="none" cap="none" strike="noStrike">
              <a:solidFill>
                <a:schemeClr val="dk1"/>
              </a:solidFill>
              <a:latin typeface="Calibri"/>
              <a:ea typeface="Calibri"/>
              <a:cs typeface="Calibri"/>
              <a:sym typeface="Calibri"/>
            </a:endParaRPr>
          </a:p>
        </p:txBody>
      </p:sp>
      <p:sp>
        <p:nvSpPr>
          <p:cNvPr id="975" name="Google Shape;975;p23"/>
          <p:cNvSpPr/>
          <p:nvPr/>
        </p:nvSpPr>
        <p:spPr>
          <a:xfrm>
            <a:off x="13328600" y="2213595"/>
            <a:ext cx="4121125" cy="769441"/>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3"/>
          <p:cNvSpPr/>
          <p:nvPr/>
        </p:nvSpPr>
        <p:spPr>
          <a:xfrm>
            <a:off x="13442900" y="2289795"/>
            <a:ext cx="4016159" cy="655141"/>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FASE 3</a:t>
            </a:r>
            <a:endParaRPr b="0" i="0" sz="1800" u="none" cap="none" strike="noStrike">
              <a:solidFill>
                <a:schemeClr val="dk1"/>
              </a:solidFill>
              <a:latin typeface="Calibri"/>
              <a:ea typeface="Calibri"/>
              <a:cs typeface="Calibri"/>
              <a:sym typeface="Calibri"/>
            </a:endParaRPr>
          </a:p>
        </p:txBody>
      </p:sp>
      <p:sp>
        <p:nvSpPr>
          <p:cNvPr id="977" name="Google Shape;977;p23"/>
          <p:cNvSpPr/>
          <p:nvPr/>
        </p:nvSpPr>
        <p:spPr>
          <a:xfrm>
            <a:off x="838200" y="3002087"/>
            <a:ext cx="43167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SEMANA</a:t>
            </a:r>
            <a:endParaRPr b="0" i="0" sz="1800" u="none" cap="none" strike="noStrike">
              <a:solidFill>
                <a:schemeClr val="dk1"/>
              </a:solidFill>
              <a:latin typeface="Calibri"/>
              <a:ea typeface="Calibri"/>
              <a:cs typeface="Calibri"/>
              <a:sym typeface="Calibri"/>
            </a:endParaRPr>
          </a:p>
        </p:txBody>
      </p:sp>
      <p:sp>
        <p:nvSpPr>
          <p:cNvPr id="978" name="Google Shape;978;p23"/>
          <p:cNvSpPr/>
          <p:nvPr/>
        </p:nvSpPr>
        <p:spPr>
          <a:xfrm>
            <a:off x="5010150" y="3002087"/>
            <a:ext cx="747117"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a:t>
            </a:r>
            <a:endParaRPr b="0" i="0" sz="1800" u="none" cap="none" strike="noStrike">
              <a:solidFill>
                <a:schemeClr val="dk1"/>
              </a:solidFill>
              <a:latin typeface="Calibri"/>
              <a:ea typeface="Calibri"/>
              <a:cs typeface="Calibri"/>
              <a:sym typeface="Calibri"/>
            </a:endParaRPr>
          </a:p>
        </p:txBody>
      </p:sp>
      <p:sp>
        <p:nvSpPr>
          <p:cNvPr id="979" name="Google Shape;979;p23"/>
          <p:cNvSpPr/>
          <p:nvPr/>
        </p:nvSpPr>
        <p:spPr>
          <a:xfrm>
            <a:off x="5700117"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2</a:t>
            </a:r>
            <a:endParaRPr b="0" i="0" sz="1800" u="none" cap="none" strike="noStrike">
              <a:solidFill>
                <a:schemeClr val="dk1"/>
              </a:solidFill>
              <a:latin typeface="Calibri"/>
              <a:ea typeface="Calibri"/>
              <a:cs typeface="Calibri"/>
              <a:sym typeface="Calibri"/>
            </a:endParaRPr>
          </a:p>
        </p:txBody>
      </p:sp>
      <p:sp>
        <p:nvSpPr>
          <p:cNvPr id="980" name="Google Shape;980;p23"/>
          <p:cNvSpPr/>
          <p:nvPr/>
        </p:nvSpPr>
        <p:spPr>
          <a:xfrm>
            <a:off x="6390159"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3</a:t>
            </a:r>
            <a:endParaRPr b="0" i="0" sz="1800" u="none" cap="none" strike="noStrike">
              <a:solidFill>
                <a:schemeClr val="dk1"/>
              </a:solidFill>
              <a:latin typeface="Calibri"/>
              <a:ea typeface="Calibri"/>
              <a:cs typeface="Calibri"/>
              <a:sym typeface="Calibri"/>
            </a:endParaRPr>
          </a:p>
        </p:txBody>
      </p:sp>
      <p:sp>
        <p:nvSpPr>
          <p:cNvPr id="981" name="Google Shape;981;p23"/>
          <p:cNvSpPr/>
          <p:nvPr/>
        </p:nvSpPr>
        <p:spPr>
          <a:xfrm>
            <a:off x="7080200"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4</a:t>
            </a:r>
            <a:endParaRPr b="0" i="0" sz="1800" u="none" cap="none" strike="noStrike">
              <a:solidFill>
                <a:schemeClr val="dk1"/>
              </a:solidFill>
              <a:latin typeface="Calibri"/>
              <a:ea typeface="Calibri"/>
              <a:cs typeface="Calibri"/>
              <a:sym typeface="Calibri"/>
            </a:endParaRPr>
          </a:p>
        </p:txBody>
      </p:sp>
      <p:sp>
        <p:nvSpPr>
          <p:cNvPr id="982" name="Google Shape;982;p23"/>
          <p:cNvSpPr/>
          <p:nvPr/>
        </p:nvSpPr>
        <p:spPr>
          <a:xfrm>
            <a:off x="7770242"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5</a:t>
            </a:r>
            <a:endParaRPr b="0" i="0" sz="1800" u="none" cap="none" strike="noStrike">
              <a:solidFill>
                <a:schemeClr val="dk1"/>
              </a:solidFill>
              <a:latin typeface="Calibri"/>
              <a:ea typeface="Calibri"/>
              <a:cs typeface="Calibri"/>
              <a:sym typeface="Calibri"/>
            </a:endParaRPr>
          </a:p>
        </p:txBody>
      </p:sp>
      <p:sp>
        <p:nvSpPr>
          <p:cNvPr id="983" name="Google Shape;983;p23"/>
          <p:cNvSpPr/>
          <p:nvPr/>
        </p:nvSpPr>
        <p:spPr>
          <a:xfrm>
            <a:off x="8460284"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6</a:t>
            </a:r>
            <a:endParaRPr b="0" i="0" sz="1800" u="none" cap="none" strike="noStrike">
              <a:solidFill>
                <a:schemeClr val="dk1"/>
              </a:solidFill>
              <a:latin typeface="Calibri"/>
              <a:ea typeface="Calibri"/>
              <a:cs typeface="Calibri"/>
              <a:sym typeface="Calibri"/>
            </a:endParaRPr>
          </a:p>
        </p:txBody>
      </p:sp>
      <p:sp>
        <p:nvSpPr>
          <p:cNvPr id="984" name="Google Shape;984;p23"/>
          <p:cNvSpPr/>
          <p:nvPr/>
        </p:nvSpPr>
        <p:spPr>
          <a:xfrm>
            <a:off x="9150325"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7</a:t>
            </a:r>
            <a:endParaRPr b="0" i="0" sz="1800" u="none" cap="none" strike="noStrike">
              <a:solidFill>
                <a:schemeClr val="dk1"/>
              </a:solidFill>
              <a:latin typeface="Calibri"/>
              <a:ea typeface="Calibri"/>
              <a:cs typeface="Calibri"/>
              <a:sym typeface="Calibri"/>
            </a:endParaRPr>
          </a:p>
        </p:txBody>
      </p:sp>
      <p:sp>
        <p:nvSpPr>
          <p:cNvPr id="985" name="Google Shape;985;p23"/>
          <p:cNvSpPr/>
          <p:nvPr/>
        </p:nvSpPr>
        <p:spPr>
          <a:xfrm>
            <a:off x="9840367"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8</a:t>
            </a:r>
            <a:endParaRPr b="0" i="0" sz="1800" u="none" cap="none" strike="noStrike">
              <a:solidFill>
                <a:schemeClr val="dk1"/>
              </a:solidFill>
              <a:latin typeface="Calibri"/>
              <a:ea typeface="Calibri"/>
              <a:cs typeface="Calibri"/>
              <a:sym typeface="Calibri"/>
            </a:endParaRPr>
          </a:p>
        </p:txBody>
      </p:sp>
      <p:sp>
        <p:nvSpPr>
          <p:cNvPr id="986" name="Google Shape;986;p23"/>
          <p:cNvSpPr/>
          <p:nvPr/>
        </p:nvSpPr>
        <p:spPr>
          <a:xfrm>
            <a:off x="10530408" y="3002087"/>
            <a:ext cx="747117"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9</a:t>
            </a:r>
            <a:endParaRPr b="0" i="0" sz="1800" u="none" cap="none" strike="noStrike">
              <a:solidFill>
                <a:schemeClr val="dk1"/>
              </a:solidFill>
              <a:latin typeface="Calibri"/>
              <a:ea typeface="Calibri"/>
              <a:cs typeface="Calibri"/>
              <a:sym typeface="Calibri"/>
            </a:endParaRPr>
          </a:p>
        </p:txBody>
      </p:sp>
      <p:sp>
        <p:nvSpPr>
          <p:cNvPr id="987" name="Google Shape;987;p23"/>
          <p:cNvSpPr/>
          <p:nvPr/>
        </p:nvSpPr>
        <p:spPr>
          <a:xfrm>
            <a:off x="11220376"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10</a:t>
            </a:r>
            <a:endParaRPr b="0" i="0" sz="1800" u="none" cap="none" strike="noStrike">
              <a:solidFill>
                <a:schemeClr val="dk1"/>
              </a:solidFill>
              <a:latin typeface="Calibri"/>
              <a:ea typeface="Calibri"/>
              <a:cs typeface="Calibri"/>
              <a:sym typeface="Calibri"/>
            </a:endParaRPr>
          </a:p>
        </p:txBody>
      </p:sp>
      <p:sp>
        <p:nvSpPr>
          <p:cNvPr id="988" name="Google Shape;988;p23"/>
          <p:cNvSpPr/>
          <p:nvPr/>
        </p:nvSpPr>
        <p:spPr>
          <a:xfrm>
            <a:off x="11910417"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11</a:t>
            </a:r>
            <a:endParaRPr b="0" i="0" sz="1800" u="none" cap="none" strike="noStrike">
              <a:solidFill>
                <a:schemeClr val="dk1"/>
              </a:solidFill>
              <a:latin typeface="Calibri"/>
              <a:ea typeface="Calibri"/>
              <a:cs typeface="Calibri"/>
              <a:sym typeface="Calibri"/>
            </a:endParaRPr>
          </a:p>
        </p:txBody>
      </p:sp>
      <p:sp>
        <p:nvSpPr>
          <p:cNvPr id="989" name="Google Shape;989;p23"/>
          <p:cNvSpPr/>
          <p:nvPr/>
        </p:nvSpPr>
        <p:spPr>
          <a:xfrm>
            <a:off x="12600459"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12</a:t>
            </a:r>
            <a:endParaRPr b="0" i="0" sz="1800" u="none" cap="none" strike="noStrike">
              <a:solidFill>
                <a:schemeClr val="dk1"/>
              </a:solidFill>
              <a:latin typeface="Calibri"/>
              <a:ea typeface="Calibri"/>
              <a:cs typeface="Calibri"/>
              <a:sym typeface="Calibri"/>
            </a:endParaRPr>
          </a:p>
        </p:txBody>
      </p:sp>
      <p:sp>
        <p:nvSpPr>
          <p:cNvPr id="990" name="Google Shape;990;p23"/>
          <p:cNvSpPr/>
          <p:nvPr/>
        </p:nvSpPr>
        <p:spPr>
          <a:xfrm>
            <a:off x="13290500"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13</a:t>
            </a:r>
            <a:endParaRPr b="0" i="0" sz="1800" u="none" cap="none" strike="noStrike">
              <a:solidFill>
                <a:schemeClr val="dk1"/>
              </a:solidFill>
              <a:latin typeface="Calibri"/>
              <a:ea typeface="Calibri"/>
              <a:cs typeface="Calibri"/>
              <a:sym typeface="Calibri"/>
            </a:endParaRPr>
          </a:p>
        </p:txBody>
      </p:sp>
      <p:sp>
        <p:nvSpPr>
          <p:cNvPr id="991" name="Google Shape;991;p23"/>
          <p:cNvSpPr/>
          <p:nvPr/>
        </p:nvSpPr>
        <p:spPr>
          <a:xfrm>
            <a:off x="13980542"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14</a:t>
            </a:r>
            <a:endParaRPr b="0" i="0" sz="1800" u="none" cap="none" strike="noStrike">
              <a:solidFill>
                <a:schemeClr val="dk1"/>
              </a:solidFill>
              <a:latin typeface="Calibri"/>
              <a:ea typeface="Calibri"/>
              <a:cs typeface="Calibri"/>
              <a:sym typeface="Calibri"/>
            </a:endParaRPr>
          </a:p>
        </p:txBody>
      </p:sp>
      <p:sp>
        <p:nvSpPr>
          <p:cNvPr id="992" name="Google Shape;992;p23"/>
          <p:cNvSpPr/>
          <p:nvPr/>
        </p:nvSpPr>
        <p:spPr>
          <a:xfrm>
            <a:off x="14670584"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15</a:t>
            </a:r>
            <a:endParaRPr b="0" i="0" sz="1800" u="none" cap="none" strike="noStrike">
              <a:solidFill>
                <a:schemeClr val="dk1"/>
              </a:solidFill>
              <a:latin typeface="Calibri"/>
              <a:ea typeface="Calibri"/>
              <a:cs typeface="Calibri"/>
              <a:sym typeface="Calibri"/>
            </a:endParaRPr>
          </a:p>
        </p:txBody>
      </p:sp>
      <p:sp>
        <p:nvSpPr>
          <p:cNvPr id="993" name="Google Shape;993;p23"/>
          <p:cNvSpPr/>
          <p:nvPr/>
        </p:nvSpPr>
        <p:spPr>
          <a:xfrm>
            <a:off x="15360625"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16</a:t>
            </a:r>
            <a:endParaRPr b="0" i="0" sz="1800" u="none" cap="none" strike="noStrike">
              <a:solidFill>
                <a:schemeClr val="dk1"/>
              </a:solidFill>
              <a:latin typeface="Calibri"/>
              <a:ea typeface="Calibri"/>
              <a:cs typeface="Calibri"/>
              <a:sym typeface="Calibri"/>
            </a:endParaRPr>
          </a:p>
        </p:txBody>
      </p:sp>
      <p:sp>
        <p:nvSpPr>
          <p:cNvPr id="994" name="Google Shape;994;p23"/>
          <p:cNvSpPr/>
          <p:nvPr/>
        </p:nvSpPr>
        <p:spPr>
          <a:xfrm>
            <a:off x="16050667" y="3002087"/>
            <a:ext cx="747192"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17</a:t>
            </a:r>
            <a:endParaRPr b="0" i="0" sz="1800" u="none" cap="none" strike="noStrike">
              <a:solidFill>
                <a:schemeClr val="dk1"/>
              </a:solidFill>
              <a:latin typeface="Calibri"/>
              <a:ea typeface="Calibri"/>
              <a:cs typeface="Calibri"/>
              <a:sym typeface="Calibri"/>
            </a:endParaRPr>
          </a:p>
        </p:txBody>
      </p:sp>
      <p:sp>
        <p:nvSpPr>
          <p:cNvPr id="995" name="Google Shape;995;p23"/>
          <p:cNvSpPr/>
          <p:nvPr/>
        </p:nvSpPr>
        <p:spPr>
          <a:xfrm>
            <a:off x="16740708" y="3002087"/>
            <a:ext cx="747117" cy="655141"/>
          </a:xfrm>
          <a:prstGeom prst="rect">
            <a:avLst/>
          </a:prstGeom>
          <a:noFill/>
          <a:ln>
            <a:noFill/>
          </a:ln>
        </p:spPr>
        <p:txBody>
          <a:bodyPr anchorCtr="0" anchor="t" bIns="25400" lIns="25400" spcFirstLastPara="1" rIns="25400" wrap="square" tIns="25400">
            <a:noAutofit/>
          </a:bodyPr>
          <a:lstStyle/>
          <a:p>
            <a:pPr indent="0" lvl="0" marL="0" marR="0" rtl="0" algn="ctr">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18</a:t>
            </a:r>
            <a:endParaRPr b="0" i="0" sz="1800" u="none" cap="none" strike="noStrike">
              <a:solidFill>
                <a:schemeClr val="dk1"/>
              </a:solidFill>
              <a:latin typeface="Calibri"/>
              <a:ea typeface="Calibri"/>
              <a:cs typeface="Calibri"/>
              <a:sym typeface="Calibri"/>
            </a:endParaRPr>
          </a:p>
        </p:txBody>
      </p:sp>
      <p:sp>
        <p:nvSpPr>
          <p:cNvPr id="996" name="Google Shape;996;p23"/>
          <p:cNvSpPr/>
          <p:nvPr/>
        </p:nvSpPr>
        <p:spPr>
          <a:xfrm>
            <a:off x="838200" y="3638178"/>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3"/>
          <p:cNvSpPr/>
          <p:nvPr/>
        </p:nvSpPr>
        <p:spPr>
          <a:xfrm>
            <a:off x="838200" y="3647703"/>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Levantamiento y diseño de arquitectura</a:t>
            </a:r>
            <a:endParaRPr b="0" i="0" sz="1800" u="none" cap="none" strike="noStrike">
              <a:solidFill>
                <a:schemeClr val="dk1"/>
              </a:solidFill>
              <a:latin typeface="Calibri"/>
              <a:ea typeface="Calibri"/>
              <a:cs typeface="Calibri"/>
              <a:sym typeface="Calibri"/>
            </a:endParaRPr>
          </a:p>
        </p:txBody>
      </p:sp>
      <p:sp>
        <p:nvSpPr>
          <p:cNvPr id="998" name="Google Shape;998;p23"/>
          <p:cNvSpPr/>
          <p:nvPr/>
        </p:nvSpPr>
        <p:spPr>
          <a:xfrm>
            <a:off x="5048250" y="3714378"/>
            <a:ext cx="2051000"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3"/>
          <p:cNvSpPr/>
          <p:nvPr/>
        </p:nvSpPr>
        <p:spPr>
          <a:xfrm>
            <a:off x="838200" y="4283794"/>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3"/>
          <p:cNvSpPr/>
          <p:nvPr/>
        </p:nvSpPr>
        <p:spPr>
          <a:xfrm>
            <a:off x="838200" y="4293319"/>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Diseño de mockups y modelo de datos</a:t>
            </a:r>
            <a:endParaRPr b="0" i="0" sz="1800" u="none" cap="none" strike="noStrike">
              <a:solidFill>
                <a:schemeClr val="dk1"/>
              </a:solidFill>
              <a:latin typeface="Calibri"/>
              <a:ea typeface="Calibri"/>
              <a:cs typeface="Calibri"/>
              <a:sym typeface="Calibri"/>
            </a:endParaRPr>
          </a:p>
        </p:txBody>
      </p:sp>
      <p:sp>
        <p:nvSpPr>
          <p:cNvPr id="1001" name="Google Shape;1001;p23"/>
          <p:cNvSpPr/>
          <p:nvPr/>
        </p:nvSpPr>
        <p:spPr>
          <a:xfrm>
            <a:off x="6428259" y="4359994"/>
            <a:ext cx="2051075"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3"/>
          <p:cNvSpPr/>
          <p:nvPr/>
        </p:nvSpPr>
        <p:spPr>
          <a:xfrm>
            <a:off x="838200" y="4929411"/>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3"/>
          <p:cNvSpPr/>
          <p:nvPr/>
        </p:nvSpPr>
        <p:spPr>
          <a:xfrm>
            <a:off x="838200" y="4938936"/>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Módulo de ingesta (API + PDF)</a:t>
            </a:r>
            <a:endParaRPr b="0" i="0" sz="1800" u="none" cap="none" strike="noStrike">
              <a:solidFill>
                <a:schemeClr val="dk1"/>
              </a:solidFill>
              <a:latin typeface="Calibri"/>
              <a:ea typeface="Calibri"/>
              <a:cs typeface="Calibri"/>
              <a:sym typeface="Calibri"/>
            </a:endParaRPr>
          </a:p>
        </p:txBody>
      </p:sp>
      <p:sp>
        <p:nvSpPr>
          <p:cNvPr id="1004" name="Google Shape;1004;p23"/>
          <p:cNvSpPr/>
          <p:nvPr/>
        </p:nvSpPr>
        <p:spPr>
          <a:xfrm>
            <a:off x="8498384" y="5005611"/>
            <a:ext cx="2051075"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838200" y="5575027"/>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838200" y="5584552"/>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Módulo de procesamiento con LLM</a:t>
            </a:r>
            <a:endParaRPr b="0" i="0" sz="1800" u="none" cap="none" strike="noStrike">
              <a:solidFill>
                <a:schemeClr val="dk1"/>
              </a:solidFill>
              <a:latin typeface="Calibri"/>
              <a:ea typeface="Calibri"/>
              <a:cs typeface="Calibri"/>
              <a:sym typeface="Calibri"/>
            </a:endParaRPr>
          </a:p>
        </p:txBody>
      </p:sp>
      <p:sp>
        <p:nvSpPr>
          <p:cNvPr id="1007" name="Google Shape;1007;p23"/>
          <p:cNvSpPr/>
          <p:nvPr/>
        </p:nvSpPr>
        <p:spPr>
          <a:xfrm>
            <a:off x="9878467" y="5651227"/>
            <a:ext cx="2051000"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3"/>
          <p:cNvSpPr/>
          <p:nvPr/>
        </p:nvSpPr>
        <p:spPr>
          <a:xfrm>
            <a:off x="838200" y="6220644"/>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3"/>
          <p:cNvSpPr/>
          <p:nvPr/>
        </p:nvSpPr>
        <p:spPr>
          <a:xfrm>
            <a:off x="838200" y="6230169"/>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Base de datos y módulo de notificación</a:t>
            </a:r>
            <a:endParaRPr b="0" i="0" sz="1800" u="none" cap="none" strike="noStrike">
              <a:solidFill>
                <a:schemeClr val="dk1"/>
              </a:solidFill>
              <a:latin typeface="Calibri"/>
              <a:ea typeface="Calibri"/>
              <a:cs typeface="Calibri"/>
              <a:sym typeface="Calibri"/>
            </a:endParaRPr>
          </a:p>
        </p:txBody>
      </p:sp>
      <p:sp>
        <p:nvSpPr>
          <p:cNvPr id="1010" name="Google Shape;1010;p23"/>
          <p:cNvSpPr/>
          <p:nvPr/>
        </p:nvSpPr>
        <p:spPr>
          <a:xfrm>
            <a:off x="11258476" y="6296844"/>
            <a:ext cx="2051075"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3"/>
          <p:cNvSpPr/>
          <p:nvPr/>
        </p:nvSpPr>
        <p:spPr>
          <a:xfrm>
            <a:off x="838200" y="6866260"/>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3"/>
          <p:cNvSpPr/>
          <p:nvPr/>
        </p:nvSpPr>
        <p:spPr>
          <a:xfrm>
            <a:off x="838200" y="6875785"/>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Integración y pruebas del sistema</a:t>
            </a:r>
            <a:endParaRPr b="0" i="0" sz="1800" u="none" cap="none" strike="noStrike">
              <a:solidFill>
                <a:schemeClr val="dk1"/>
              </a:solidFill>
              <a:latin typeface="Calibri"/>
              <a:ea typeface="Calibri"/>
              <a:cs typeface="Calibri"/>
              <a:sym typeface="Calibri"/>
            </a:endParaRPr>
          </a:p>
        </p:txBody>
      </p:sp>
      <p:sp>
        <p:nvSpPr>
          <p:cNvPr id="1013" name="Google Shape;1013;p23"/>
          <p:cNvSpPr/>
          <p:nvPr/>
        </p:nvSpPr>
        <p:spPr>
          <a:xfrm>
            <a:off x="12638559" y="6942460"/>
            <a:ext cx="2051075"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838200" y="7511876"/>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3"/>
          <p:cNvSpPr/>
          <p:nvPr/>
        </p:nvSpPr>
        <p:spPr>
          <a:xfrm>
            <a:off x="838200" y="7521401"/>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Despliegue en la nube</a:t>
            </a:r>
            <a:endParaRPr b="0" i="0" sz="1800" u="none" cap="none" strike="noStrike">
              <a:solidFill>
                <a:schemeClr val="dk1"/>
              </a:solidFill>
              <a:latin typeface="Calibri"/>
              <a:ea typeface="Calibri"/>
              <a:cs typeface="Calibri"/>
              <a:sym typeface="Calibri"/>
            </a:endParaRPr>
          </a:p>
        </p:txBody>
      </p:sp>
      <p:sp>
        <p:nvSpPr>
          <p:cNvPr id="1016" name="Google Shape;1016;p23"/>
          <p:cNvSpPr/>
          <p:nvPr/>
        </p:nvSpPr>
        <p:spPr>
          <a:xfrm>
            <a:off x="14018642" y="7588076"/>
            <a:ext cx="1361033"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3"/>
          <p:cNvSpPr/>
          <p:nvPr/>
        </p:nvSpPr>
        <p:spPr>
          <a:xfrm>
            <a:off x="838200" y="8157493"/>
            <a:ext cx="4191000"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3"/>
          <p:cNvSpPr/>
          <p:nvPr/>
        </p:nvSpPr>
        <p:spPr>
          <a:xfrm>
            <a:off x="838200" y="8167018"/>
            <a:ext cx="4126230" cy="655141"/>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201E1D"/>
              </a:buClr>
              <a:buSzPts val="1800"/>
              <a:buFont typeface="Archivo"/>
              <a:buNone/>
            </a:pPr>
            <a:r>
              <a:rPr b="0" i="0" lang="en-US" sz="1800" u="none" cap="none" strike="noStrike">
                <a:solidFill>
                  <a:srgbClr val="201E1D"/>
                </a:solidFill>
                <a:latin typeface="Archivo"/>
                <a:ea typeface="Archivo"/>
                <a:cs typeface="Archivo"/>
                <a:sym typeface="Archivo"/>
              </a:rPr>
              <a:t>Evaluación, ajustes e informe final</a:t>
            </a:r>
            <a:endParaRPr b="0" i="0" sz="1800" u="none" cap="none" strike="noStrike">
              <a:solidFill>
                <a:schemeClr val="dk1"/>
              </a:solidFill>
              <a:latin typeface="Calibri"/>
              <a:ea typeface="Calibri"/>
              <a:cs typeface="Calibri"/>
              <a:sym typeface="Calibri"/>
            </a:endParaRPr>
          </a:p>
        </p:txBody>
      </p:sp>
      <p:sp>
        <p:nvSpPr>
          <p:cNvPr id="1019" name="Google Shape;1019;p23"/>
          <p:cNvSpPr/>
          <p:nvPr/>
        </p:nvSpPr>
        <p:spPr>
          <a:xfrm>
            <a:off x="14708684" y="8233693"/>
            <a:ext cx="2741042" cy="474166"/>
          </a:xfrm>
          <a:prstGeom prst="rect">
            <a:avLst/>
          </a:prstGeom>
          <a:solidFill>
            <a:srgbClr val="EC301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3"/>
          <p:cNvSpPr/>
          <p:nvPr/>
        </p:nvSpPr>
        <p:spPr>
          <a:xfrm>
            <a:off x="838200" y="8803109"/>
            <a:ext cx="16611526"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3"/>
          <p:cNvSpPr/>
          <p:nvPr/>
        </p:nvSpPr>
        <p:spPr>
          <a:xfrm>
            <a:off x="838200" y="9323115"/>
            <a:ext cx="1827276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Planificación propuesta, sujeta a acuerdo con el docente guía.</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026" name="Shape 1026"/>
        <p:cNvGrpSpPr/>
        <p:nvPr/>
      </p:nvGrpSpPr>
      <p:grpSpPr>
        <a:xfrm>
          <a:off x="0" y="0"/>
          <a:ext cx="0" cy="0"/>
          <a:chOff x="0" y="0"/>
          <a:chExt cx="0" cy="0"/>
        </a:xfrm>
      </p:grpSpPr>
      <p:sp>
        <p:nvSpPr>
          <p:cNvPr id="1027" name="Google Shape;1027;p24"/>
          <p:cNvSpPr/>
          <p:nvPr/>
        </p:nvSpPr>
        <p:spPr>
          <a:xfrm>
            <a:off x="838200" y="6096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06 · EQUIPO Y COMPETENCIAS</a:t>
            </a:r>
            <a:endParaRPr b="0" i="0" sz="1950" u="none" cap="none" strike="noStrike">
              <a:solidFill>
                <a:schemeClr val="dk1"/>
              </a:solidFill>
              <a:latin typeface="Calibri"/>
              <a:ea typeface="Calibri"/>
              <a:cs typeface="Calibri"/>
              <a:sym typeface="Calibri"/>
            </a:endParaRPr>
          </a:p>
        </p:txBody>
      </p:sp>
      <p:sp>
        <p:nvSpPr>
          <p:cNvPr id="1028" name="Google Shape;1028;p24"/>
          <p:cNvSpPr/>
          <p:nvPr/>
        </p:nvSpPr>
        <p:spPr>
          <a:xfrm>
            <a:off x="838200" y="11239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Equipo y perfil de egreso</a:t>
            </a:r>
            <a:endParaRPr b="0" i="0" sz="4500" u="none" cap="none" strike="noStrike">
              <a:solidFill>
                <a:schemeClr val="dk1"/>
              </a:solidFill>
              <a:latin typeface="Calibri"/>
              <a:ea typeface="Calibri"/>
              <a:cs typeface="Calibri"/>
              <a:sym typeface="Calibri"/>
            </a:endParaRPr>
          </a:p>
        </p:txBody>
      </p:sp>
      <p:sp>
        <p:nvSpPr>
          <p:cNvPr id="1029" name="Google Shape;1029;p24"/>
          <p:cNvSpPr/>
          <p:nvPr/>
        </p:nvSpPr>
        <p:spPr>
          <a:xfrm>
            <a:off x="838200" y="198499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4"/>
          <p:cNvSpPr/>
          <p:nvPr/>
        </p:nvSpPr>
        <p:spPr>
          <a:xfrm>
            <a:off x="6356300" y="2270745"/>
            <a:ext cx="19050" cy="215919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4"/>
          <p:cNvSpPr/>
          <p:nvPr/>
        </p:nvSpPr>
        <p:spPr>
          <a:xfrm>
            <a:off x="838200" y="2499345"/>
            <a:ext cx="5734630"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Benjamín Gajardo</a:t>
            </a:r>
            <a:endParaRPr b="0" i="0" sz="2550" u="none" cap="none" strike="noStrike">
              <a:solidFill>
                <a:schemeClr val="dk1"/>
              </a:solidFill>
              <a:latin typeface="Calibri"/>
              <a:ea typeface="Calibri"/>
              <a:cs typeface="Calibri"/>
              <a:sym typeface="Calibri"/>
            </a:endParaRPr>
          </a:p>
        </p:txBody>
      </p:sp>
      <p:sp>
        <p:nvSpPr>
          <p:cNvPr id="1032" name="Google Shape;1032;p24"/>
          <p:cNvSpPr/>
          <p:nvPr/>
        </p:nvSpPr>
        <p:spPr>
          <a:xfrm>
            <a:off x="838200" y="3077468"/>
            <a:ext cx="573463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Ingesta de datos e integración</a:t>
            </a:r>
            <a:endParaRPr b="0" i="0" sz="1800" u="none" cap="none" strike="noStrike">
              <a:solidFill>
                <a:schemeClr val="dk1"/>
              </a:solidFill>
              <a:latin typeface="Calibri"/>
              <a:ea typeface="Calibri"/>
              <a:cs typeface="Calibri"/>
              <a:sym typeface="Calibri"/>
            </a:endParaRPr>
          </a:p>
        </p:txBody>
      </p:sp>
      <p:sp>
        <p:nvSpPr>
          <p:cNvPr id="1033" name="Google Shape;1033;p24"/>
          <p:cNvSpPr/>
          <p:nvPr/>
        </p:nvSpPr>
        <p:spPr>
          <a:xfrm>
            <a:off x="838200" y="3507953"/>
            <a:ext cx="5369699" cy="73149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API de Mercado Público, extracción de bases en PDF y manejo de errores.</a:t>
            </a:r>
            <a:endParaRPr b="0" i="0" sz="1950" u="none" cap="none" strike="noStrike">
              <a:solidFill>
                <a:schemeClr val="dk1"/>
              </a:solidFill>
              <a:latin typeface="Calibri"/>
              <a:ea typeface="Calibri"/>
              <a:cs typeface="Calibri"/>
              <a:sym typeface="Calibri"/>
            </a:endParaRPr>
          </a:p>
        </p:txBody>
      </p:sp>
      <p:sp>
        <p:nvSpPr>
          <p:cNvPr id="1034" name="Google Shape;1034;p24"/>
          <p:cNvSpPr/>
          <p:nvPr/>
        </p:nvSpPr>
        <p:spPr>
          <a:xfrm>
            <a:off x="11893525" y="2270745"/>
            <a:ext cx="19050" cy="2159198"/>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4"/>
          <p:cNvSpPr/>
          <p:nvPr/>
        </p:nvSpPr>
        <p:spPr>
          <a:xfrm>
            <a:off x="6680150" y="2499345"/>
            <a:ext cx="5399432"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Andy Navarrete</a:t>
            </a:r>
            <a:endParaRPr b="0" i="0" sz="2550" u="none" cap="none" strike="noStrike">
              <a:solidFill>
                <a:schemeClr val="dk1"/>
              </a:solidFill>
              <a:latin typeface="Calibri"/>
              <a:ea typeface="Calibri"/>
              <a:cs typeface="Calibri"/>
              <a:sym typeface="Calibri"/>
            </a:endParaRPr>
          </a:p>
        </p:txBody>
      </p:sp>
      <p:sp>
        <p:nvSpPr>
          <p:cNvPr id="1036" name="Google Shape;1036;p24"/>
          <p:cNvSpPr/>
          <p:nvPr/>
        </p:nvSpPr>
        <p:spPr>
          <a:xfrm>
            <a:off x="6680150" y="3077468"/>
            <a:ext cx="5399432"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Procesamiento con IA</a:t>
            </a:r>
            <a:endParaRPr b="0" i="0" sz="1800" u="none" cap="none" strike="noStrike">
              <a:solidFill>
                <a:schemeClr val="dk1"/>
              </a:solidFill>
              <a:latin typeface="Calibri"/>
              <a:ea typeface="Calibri"/>
              <a:cs typeface="Calibri"/>
              <a:sym typeface="Calibri"/>
            </a:endParaRPr>
          </a:p>
        </p:txBody>
      </p:sp>
      <p:sp>
        <p:nvSpPr>
          <p:cNvPr id="1037" name="Google Shape;1037;p24"/>
          <p:cNvSpPr/>
          <p:nvPr/>
        </p:nvSpPr>
        <p:spPr>
          <a:xfrm>
            <a:off x="6680150" y="3507953"/>
            <a:ext cx="5055832" cy="73149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Clasificación y resumen con LLM, cálculo de relevancia y control de costo.</a:t>
            </a:r>
            <a:endParaRPr b="0" i="0" sz="1950" u="none" cap="none" strike="noStrike">
              <a:solidFill>
                <a:schemeClr val="dk1"/>
              </a:solidFill>
              <a:latin typeface="Calibri"/>
              <a:ea typeface="Calibri"/>
              <a:cs typeface="Calibri"/>
              <a:sym typeface="Calibri"/>
            </a:endParaRPr>
          </a:p>
        </p:txBody>
      </p:sp>
      <p:sp>
        <p:nvSpPr>
          <p:cNvPr id="1038" name="Google Shape;1038;p24"/>
          <p:cNvSpPr/>
          <p:nvPr/>
        </p:nvSpPr>
        <p:spPr>
          <a:xfrm>
            <a:off x="12217375" y="2499345"/>
            <a:ext cx="5755585" cy="540023"/>
          </a:xfrm>
          <a:prstGeom prst="rect">
            <a:avLst/>
          </a:prstGeom>
          <a:noFill/>
          <a:ln>
            <a:noFill/>
          </a:ln>
        </p:spPr>
        <p:txBody>
          <a:bodyPr anchorCtr="0" anchor="t" bIns="25400" lIns="25400" spcFirstLastPara="1" rIns="25400" wrap="square" tIns="25400">
            <a:noAutofit/>
          </a:bodyPr>
          <a:lstStyle/>
          <a:p>
            <a:pPr indent="0" lvl="0" marL="0" marR="0" rtl="0" algn="l">
              <a:lnSpc>
                <a:spcPct val="142432"/>
              </a:lnSpc>
              <a:spcBef>
                <a:spcPts val="0"/>
              </a:spcBef>
              <a:spcAft>
                <a:spcPts val="0"/>
              </a:spcAft>
              <a:buClr>
                <a:srgbClr val="201E1D"/>
              </a:buClr>
              <a:buSzPts val="2550"/>
              <a:buFont typeface="Archivo"/>
              <a:buNone/>
            </a:pPr>
            <a:r>
              <a:rPr b="1" i="0" lang="en-US" sz="2550" u="none" cap="none" strike="noStrike">
                <a:solidFill>
                  <a:srgbClr val="201E1D"/>
                </a:solidFill>
                <a:latin typeface="Archivo"/>
                <a:ea typeface="Archivo"/>
                <a:cs typeface="Archivo"/>
                <a:sym typeface="Archivo"/>
              </a:rPr>
              <a:t>Francisco Ossio</a:t>
            </a:r>
            <a:endParaRPr b="0" i="0" sz="2550" u="none" cap="none" strike="noStrike">
              <a:solidFill>
                <a:schemeClr val="dk1"/>
              </a:solidFill>
              <a:latin typeface="Calibri"/>
              <a:ea typeface="Calibri"/>
              <a:cs typeface="Calibri"/>
              <a:sym typeface="Calibri"/>
            </a:endParaRPr>
          </a:p>
        </p:txBody>
      </p:sp>
      <p:sp>
        <p:nvSpPr>
          <p:cNvPr id="1039" name="Google Shape;1039;p24"/>
          <p:cNvSpPr/>
          <p:nvPr/>
        </p:nvSpPr>
        <p:spPr>
          <a:xfrm>
            <a:off x="12217375" y="3077468"/>
            <a:ext cx="5755585"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EC3013"/>
              </a:buClr>
              <a:buSzPts val="1800"/>
              <a:buFont typeface="Archivo"/>
              <a:buNone/>
            </a:pPr>
            <a:r>
              <a:rPr b="1" i="0" lang="en-US" sz="1800" u="none" cap="none" strike="noStrike">
                <a:solidFill>
                  <a:srgbClr val="EC3013"/>
                </a:solidFill>
                <a:latin typeface="Archivo"/>
                <a:ea typeface="Archivo"/>
                <a:cs typeface="Archivo"/>
                <a:sym typeface="Archivo"/>
              </a:rPr>
              <a:t>Datos, cloud y notificaciones</a:t>
            </a:r>
            <a:endParaRPr b="0" i="0" sz="1800" u="none" cap="none" strike="noStrike">
              <a:solidFill>
                <a:schemeClr val="dk1"/>
              </a:solidFill>
              <a:latin typeface="Calibri"/>
              <a:ea typeface="Calibri"/>
              <a:cs typeface="Calibri"/>
              <a:sym typeface="Calibri"/>
            </a:endParaRPr>
          </a:p>
        </p:txBody>
      </p:sp>
      <p:sp>
        <p:nvSpPr>
          <p:cNvPr id="1040" name="Google Shape;1040;p24"/>
          <p:cNvSpPr/>
          <p:nvPr/>
        </p:nvSpPr>
        <p:spPr>
          <a:xfrm>
            <a:off x="12217375" y="3507953"/>
            <a:ext cx="5389321" cy="73149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Modelo de datos, despliegue en la nube y envío de alertas.</a:t>
            </a:r>
            <a:endParaRPr b="0" i="0" sz="1950" u="none" cap="none" strike="noStrike">
              <a:solidFill>
                <a:schemeClr val="dk1"/>
              </a:solidFill>
              <a:latin typeface="Calibri"/>
              <a:ea typeface="Calibri"/>
              <a:cs typeface="Calibri"/>
              <a:sym typeface="Calibri"/>
            </a:endParaRPr>
          </a:p>
        </p:txBody>
      </p:sp>
      <p:sp>
        <p:nvSpPr>
          <p:cNvPr id="1041" name="Google Shape;1041;p24"/>
          <p:cNvSpPr/>
          <p:nvPr/>
        </p:nvSpPr>
        <p:spPr>
          <a:xfrm>
            <a:off x="838200" y="4696644"/>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4"/>
          <p:cNvSpPr/>
          <p:nvPr/>
        </p:nvSpPr>
        <p:spPr>
          <a:xfrm>
            <a:off x="838200" y="4982394"/>
            <a:ext cx="1827276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COMPETENCIAS DEL PERFIL DE EGRESO EN JUEGO</a:t>
            </a:r>
            <a:endParaRPr b="0" i="0" sz="1800" u="none" cap="none" strike="noStrike">
              <a:solidFill>
                <a:schemeClr val="dk1"/>
              </a:solidFill>
              <a:latin typeface="Calibri"/>
              <a:ea typeface="Calibri"/>
              <a:cs typeface="Calibri"/>
              <a:sym typeface="Calibri"/>
            </a:endParaRPr>
          </a:p>
        </p:txBody>
      </p:sp>
      <p:sp>
        <p:nvSpPr>
          <p:cNvPr id="1043" name="Google Shape;1043;p24"/>
          <p:cNvSpPr/>
          <p:nvPr/>
        </p:nvSpPr>
        <p:spPr>
          <a:xfrm>
            <a:off x="4981575" y="5603379"/>
            <a:ext cx="9525" cy="407402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4"/>
          <p:cNvSpPr/>
          <p:nvPr/>
        </p:nvSpPr>
        <p:spPr>
          <a:xfrm>
            <a:off x="838200" y="5793879"/>
            <a:ext cx="4264343" cy="366713"/>
          </a:xfrm>
          <a:prstGeom prst="rect">
            <a:avLst/>
          </a:prstGeom>
          <a:noFill/>
          <a:ln>
            <a:noFill/>
          </a:ln>
        </p:spPr>
        <p:txBody>
          <a:bodyPr anchorCtr="0" anchor="t" bIns="25400" lIns="25400" spcFirstLastPara="1" rIns="25400" wrap="square" tIns="25400">
            <a:noAutofit/>
          </a:bodyPr>
          <a:lstStyle/>
          <a:p>
            <a:pPr indent="0" lvl="0" marL="0" marR="0" rtl="0" algn="l">
              <a:lnSpc>
                <a:spcPct val="104545"/>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Integración de datos</a:t>
            </a:r>
            <a:endParaRPr b="0" i="0" sz="2250" u="none" cap="none" strike="noStrike">
              <a:solidFill>
                <a:schemeClr val="dk1"/>
              </a:solidFill>
              <a:latin typeface="Calibri"/>
              <a:ea typeface="Calibri"/>
              <a:cs typeface="Calibri"/>
              <a:sym typeface="Calibri"/>
            </a:endParaRPr>
          </a:p>
        </p:txBody>
      </p:sp>
      <p:sp>
        <p:nvSpPr>
          <p:cNvPr id="1045" name="Google Shape;1045;p24"/>
          <p:cNvSpPr/>
          <p:nvPr/>
        </p:nvSpPr>
        <p:spPr>
          <a:xfrm>
            <a:off x="838200" y="6217741"/>
            <a:ext cx="3992975" cy="73149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Consumo de APIs externas y scraping de bases de licitación.</a:t>
            </a:r>
            <a:endParaRPr b="0" i="0" sz="1950" u="none" cap="none" strike="noStrike">
              <a:solidFill>
                <a:schemeClr val="dk1"/>
              </a:solidFill>
              <a:latin typeface="Calibri"/>
              <a:ea typeface="Calibri"/>
              <a:cs typeface="Calibri"/>
              <a:sym typeface="Calibri"/>
            </a:endParaRPr>
          </a:p>
        </p:txBody>
      </p:sp>
      <p:sp>
        <p:nvSpPr>
          <p:cNvPr id="1046" name="Google Shape;1046;p24"/>
          <p:cNvSpPr/>
          <p:nvPr/>
        </p:nvSpPr>
        <p:spPr>
          <a:xfrm>
            <a:off x="9134475" y="5603379"/>
            <a:ext cx="9525" cy="407402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7" name="Google Shape;1047;p24"/>
          <p:cNvSpPr/>
          <p:nvPr/>
        </p:nvSpPr>
        <p:spPr>
          <a:xfrm>
            <a:off x="5257800" y="5793879"/>
            <a:ext cx="3970973" cy="366713"/>
          </a:xfrm>
          <a:prstGeom prst="rect">
            <a:avLst/>
          </a:prstGeom>
          <a:noFill/>
          <a:ln>
            <a:noFill/>
          </a:ln>
        </p:spPr>
        <p:txBody>
          <a:bodyPr anchorCtr="0" anchor="t" bIns="25400" lIns="25400" spcFirstLastPara="1" rIns="25400" wrap="square" tIns="25400">
            <a:noAutofit/>
          </a:bodyPr>
          <a:lstStyle/>
          <a:p>
            <a:pPr indent="0" lvl="0" marL="0" marR="0" rtl="0" algn="l">
              <a:lnSpc>
                <a:spcPct val="104545"/>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Inteligencia artificial</a:t>
            </a:r>
            <a:endParaRPr b="0" i="0" sz="2250" u="none" cap="none" strike="noStrike">
              <a:solidFill>
                <a:schemeClr val="dk1"/>
              </a:solidFill>
              <a:latin typeface="Calibri"/>
              <a:ea typeface="Calibri"/>
              <a:cs typeface="Calibri"/>
              <a:sym typeface="Calibri"/>
            </a:endParaRPr>
          </a:p>
        </p:txBody>
      </p:sp>
      <p:sp>
        <p:nvSpPr>
          <p:cNvPr id="1048" name="Google Shape;1048;p24"/>
          <p:cNvSpPr/>
          <p:nvPr/>
        </p:nvSpPr>
        <p:spPr>
          <a:xfrm>
            <a:off x="5257800" y="6217741"/>
            <a:ext cx="3718274" cy="73149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Modelos LLM para clasificar y resumir licitaciones complejas.</a:t>
            </a:r>
            <a:endParaRPr b="0" i="0" sz="1950" u="none" cap="none" strike="noStrike">
              <a:solidFill>
                <a:schemeClr val="dk1"/>
              </a:solidFill>
              <a:latin typeface="Calibri"/>
              <a:ea typeface="Calibri"/>
              <a:cs typeface="Calibri"/>
              <a:sym typeface="Calibri"/>
            </a:endParaRPr>
          </a:p>
        </p:txBody>
      </p:sp>
      <p:sp>
        <p:nvSpPr>
          <p:cNvPr id="1049" name="Google Shape;1049;p24"/>
          <p:cNvSpPr/>
          <p:nvPr/>
        </p:nvSpPr>
        <p:spPr>
          <a:xfrm>
            <a:off x="13287375" y="5603379"/>
            <a:ext cx="9525" cy="407402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24"/>
          <p:cNvSpPr/>
          <p:nvPr/>
        </p:nvSpPr>
        <p:spPr>
          <a:xfrm>
            <a:off x="9410700" y="5793879"/>
            <a:ext cx="3970973" cy="366713"/>
          </a:xfrm>
          <a:prstGeom prst="rect">
            <a:avLst/>
          </a:prstGeom>
          <a:noFill/>
          <a:ln>
            <a:noFill/>
          </a:ln>
        </p:spPr>
        <p:txBody>
          <a:bodyPr anchorCtr="0" anchor="t" bIns="25400" lIns="25400" spcFirstLastPara="1" rIns="25400" wrap="square" tIns="25400">
            <a:noAutofit/>
          </a:bodyPr>
          <a:lstStyle/>
          <a:p>
            <a:pPr indent="0" lvl="0" marL="0" marR="0" rtl="0" algn="l">
              <a:lnSpc>
                <a:spcPct val="104545"/>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Bases de datos</a:t>
            </a:r>
            <a:endParaRPr b="0" i="0" sz="2250" u="none" cap="none" strike="noStrike">
              <a:solidFill>
                <a:schemeClr val="dk1"/>
              </a:solidFill>
              <a:latin typeface="Calibri"/>
              <a:ea typeface="Calibri"/>
              <a:cs typeface="Calibri"/>
              <a:sym typeface="Calibri"/>
            </a:endParaRPr>
          </a:p>
        </p:txBody>
      </p:sp>
      <p:sp>
        <p:nvSpPr>
          <p:cNvPr id="1051" name="Google Shape;1051;p24"/>
          <p:cNvSpPr/>
          <p:nvPr/>
        </p:nvSpPr>
        <p:spPr>
          <a:xfrm>
            <a:off x="9410700" y="6217741"/>
            <a:ext cx="3718274" cy="1078185"/>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Diseño y administración de esquemas de usuarios, filtros y alertas.</a:t>
            </a:r>
            <a:endParaRPr b="0" i="0" sz="1950" u="none" cap="none" strike="noStrike">
              <a:solidFill>
                <a:schemeClr val="dk1"/>
              </a:solidFill>
              <a:latin typeface="Calibri"/>
              <a:ea typeface="Calibri"/>
              <a:cs typeface="Calibri"/>
              <a:sym typeface="Calibri"/>
            </a:endParaRPr>
          </a:p>
        </p:txBody>
      </p:sp>
      <p:sp>
        <p:nvSpPr>
          <p:cNvPr id="1052" name="Google Shape;1052;p24"/>
          <p:cNvSpPr/>
          <p:nvPr/>
        </p:nvSpPr>
        <p:spPr>
          <a:xfrm>
            <a:off x="13563600" y="5793879"/>
            <a:ext cx="4274820" cy="366713"/>
          </a:xfrm>
          <a:prstGeom prst="rect">
            <a:avLst/>
          </a:prstGeom>
          <a:noFill/>
          <a:ln>
            <a:noFill/>
          </a:ln>
        </p:spPr>
        <p:txBody>
          <a:bodyPr anchorCtr="0" anchor="t" bIns="25400" lIns="25400" spcFirstLastPara="1" rIns="25400" wrap="square" tIns="25400">
            <a:noAutofit/>
          </a:bodyPr>
          <a:lstStyle/>
          <a:p>
            <a:pPr indent="0" lvl="0" marL="0" marR="0" rtl="0" algn="l">
              <a:lnSpc>
                <a:spcPct val="104545"/>
              </a:lnSpc>
              <a:spcBef>
                <a:spcPts val="0"/>
              </a:spcBef>
              <a:spcAft>
                <a:spcPts val="0"/>
              </a:spcAft>
              <a:buClr>
                <a:srgbClr val="201E1D"/>
              </a:buClr>
              <a:buSzPts val="2250"/>
              <a:buFont typeface="Archivo"/>
              <a:buNone/>
            </a:pPr>
            <a:r>
              <a:rPr b="1" i="0" lang="en-US" sz="2250" u="none" cap="none" strike="noStrike">
                <a:solidFill>
                  <a:srgbClr val="201E1D"/>
                </a:solidFill>
                <a:latin typeface="Archivo"/>
                <a:ea typeface="Archivo"/>
                <a:cs typeface="Archivo"/>
                <a:sym typeface="Archivo"/>
              </a:rPr>
              <a:t>Infraestructura cloud</a:t>
            </a:r>
            <a:endParaRPr b="0" i="0" sz="2250" u="none" cap="none" strike="noStrike">
              <a:solidFill>
                <a:schemeClr val="dk1"/>
              </a:solidFill>
              <a:latin typeface="Calibri"/>
              <a:ea typeface="Calibri"/>
              <a:cs typeface="Calibri"/>
              <a:sym typeface="Calibri"/>
            </a:endParaRPr>
          </a:p>
        </p:txBody>
      </p:sp>
      <p:sp>
        <p:nvSpPr>
          <p:cNvPr id="1053" name="Google Shape;1053;p24"/>
          <p:cNvSpPr/>
          <p:nvPr/>
        </p:nvSpPr>
        <p:spPr>
          <a:xfrm>
            <a:off x="13563600" y="6217741"/>
            <a:ext cx="4002786" cy="731490"/>
          </a:xfrm>
          <a:prstGeom prst="rect">
            <a:avLst/>
          </a:prstGeom>
          <a:noFill/>
          <a:ln>
            <a:noFill/>
          </a:ln>
        </p:spPr>
        <p:txBody>
          <a:bodyPr anchorCtr="0" anchor="t" bIns="25400" lIns="25400" spcFirstLastPara="1" rIns="25400" wrap="square" tIns="25400">
            <a:noAutofit/>
          </a:bodyPr>
          <a:lstStyle/>
          <a:p>
            <a:pPr indent="0" lvl="0" marL="0" marR="0" rtl="0" algn="l">
              <a:lnSpc>
                <a:spcPct val="127719"/>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Despliegue de una arquitectura escalable, continua y segura.</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058" name="Shape 1058"/>
        <p:cNvGrpSpPr/>
        <p:nvPr/>
      </p:nvGrpSpPr>
      <p:grpSpPr>
        <a:xfrm>
          <a:off x="0" y="0"/>
          <a:ext cx="0" cy="0"/>
          <a:chOff x="0" y="0"/>
          <a:chExt cx="0" cy="0"/>
        </a:xfrm>
      </p:grpSpPr>
      <p:sp>
        <p:nvSpPr>
          <p:cNvPr id="1059" name="Google Shape;1059;p25"/>
          <p:cNvSpPr/>
          <p:nvPr/>
        </p:nvSpPr>
        <p:spPr>
          <a:xfrm>
            <a:off x="838200" y="6096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06 · FACTIBILIDAD</a:t>
            </a:r>
            <a:endParaRPr b="0" i="0" sz="1950" u="none" cap="none" strike="noStrike">
              <a:solidFill>
                <a:schemeClr val="dk1"/>
              </a:solidFill>
              <a:latin typeface="Calibri"/>
              <a:ea typeface="Calibri"/>
              <a:cs typeface="Calibri"/>
              <a:sym typeface="Calibri"/>
            </a:endParaRPr>
          </a:p>
        </p:txBody>
      </p:sp>
      <p:sp>
        <p:nvSpPr>
          <p:cNvPr id="1060" name="Google Shape;1060;p25"/>
          <p:cNvSpPr/>
          <p:nvPr/>
        </p:nvSpPr>
        <p:spPr>
          <a:xfrm>
            <a:off x="838200" y="1123950"/>
            <a:ext cx="18272760" cy="632445"/>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i="0" lang="en-US" sz="4500" u="none" cap="none" strike="noStrike">
                <a:solidFill>
                  <a:srgbClr val="201E1D"/>
                </a:solidFill>
                <a:latin typeface="Archivo"/>
                <a:ea typeface="Archivo"/>
                <a:cs typeface="Archivo"/>
                <a:sym typeface="Archivo"/>
              </a:rPr>
              <a:t>Recursos, riesgos y mitigación</a:t>
            </a:r>
            <a:endParaRPr b="0" i="0" sz="4500" u="none" cap="none" strike="noStrike">
              <a:solidFill>
                <a:schemeClr val="dk1"/>
              </a:solidFill>
              <a:latin typeface="Calibri"/>
              <a:ea typeface="Calibri"/>
              <a:cs typeface="Calibri"/>
              <a:sym typeface="Calibri"/>
            </a:endParaRPr>
          </a:p>
        </p:txBody>
      </p:sp>
      <p:sp>
        <p:nvSpPr>
          <p:cNvPr id="1061" name="Google Shape;1061;p25"/>
          <p:cNvSpPr/>
          <p:nvPr/>
        </p:nvSpPr>
        <p:spPr>
          <a:xfrm>
            <a:off x="838200" y="198499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25"/>
          <p:cNvSpPr/>
          <p:nvPr/>
        </p:nvSpPr>
        <p:spPr>
          <a:xfrm>
            <a:off x="838200" y="3461296"/>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5"/>
          <p:cNvSpPr/>
          <p:nvPr/>
        </p:nvSpPr>
        <p:spPr>
          <a:xfrm>
            <a:off x="838200" y="2270745"/>
            <a:ext cx="16611600"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25"/>
          <p:cNvSpPr/>
          <p:nvPr/>
        </p:nvSpPr>
        <p:spPr>
          <a:xfrm>
            <a:off x="4869656" y="2289795"/>
            <a:ext cx="9525" cy="117150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5" name="Google Shape;1065;p25"/>
          <p:cNvSpPr/>
          <p:nvPr/>
        </p:nvSpPr>
        <p:spPr>
          <a:xfrm>
            <a:off x="838200" y="2480295"/>
            <a:ext cx="4183142"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API MERCADO PÚBLICO</a:t>
            </a:r>
            <a:endParaRPr b="0" i="0" sz="1800" u="none" cap="none" strike="noStrike">
              <a:solidFill>
                <a:schemeClr val="dk1"/>
              </a:solidFill>
              <a:latin typeface="Calibri"/>
              <a:ea typeface="Calibri"/>
              <a:cs typeface="Calibri"/>
              <a:sym typeface="Calibri"/>
            </a:endParaRPr>
          </a:p>
        </p:txBody>
      </p:sp>
      <p:sp>
        <p:nvSpPr>
          <p:cNvPr id="1066" name="Google Shape;1066;p25"/>
          <p:cNvSpPr/>
          <p:nvPr/>
        </p:nvSpPr>
        <p:spPr>
          <a:xfrm>
            <a:off x="838200" y="2872680"/>
            <a:ext cx="4183142" cy="436215"/>
          </a:xfrm>
          <a:prstGeom prst="rect">
            <a:avLst/>
          </a:prstGeom>
          <a:noFill/>
          <a:ln>
            <a:noFill/>
          </a:ln>
        </p:spPr>
        <p:txBody>
          <a:bodyPr anchorCtr="0" anchor="t" bIns="25400" lIns="25400" spcFirstLastPara="1" rIns="25400" wrap="square" tIns="25400">
            <a:noAutofit/>
          </a:bodyPr>
          <a:lstStyle/>
          <a:p>
            <a:pPr indent="0" lvl="0" marL="0" marR="0" rtl="0" algn="l">
              <a:lnSpc>
                <a:spcPct val="100723"/>
              </a:lnSpc>
              <a:spcBef>
                <a:spcPts val="0"/>
              </a:spcBef>
              <a:spcAft>
                <a:spcPts val="0"/>
              </a:spcAft>
              <a:buClr>
                <a:srgbClr val="201E1D"/>
              </a:buClr>
              <a:buSzPts val="2850"/>
              <a:buFont typeface="Archivo"/>
              <a:buNone/>
            </a:pPr>
            <a:r>
              <a:rPr b="1" i="0" lang="en-US" sz="2850" u="none" cap="none" strike="noStrike">
                <a:solidFill>
                  <a:srgbClr val="201E1D"/>
                </a:solidFill>
                <a:latin typeface="Archivo"/>
                <a:ea typeface="Archivo"/>
                <a:cs typeface="Archivo"/>
                <a:sym typeface="Archivo"/>
              </a:rPr>
              <a:t>Pública y gratuita</a:t>
            </a:r>
            <a:endParaRPr b="0" i="0" sz="2850" u="none" cap="none" strike="noStrike">
              <a:solidFill>
                <a:schemeClr val="dk1"/>
              </a:solidFill>
              <a:latin typeface="Calibri"/>
              <a:ea typeface="Calibri"/>
              <a:cs typeface="Calibri"/>
              <a:sym typeface="Calibri"/>
            </a:endParaRPr>
          </a:p>
        </p:txBody>
      </p:sp>
      <p:sp>
        <p:nvSpPr>
          <p:cNvPr id="1067" name="Google Shape;1067;p25"/>
          <p:cNvSpPr/>
          <p:nvPr/>
        </p:nvSpPr>
        <p:spPr>
          <a:xfrm>
            <a:off x="9139238" y="2289795"/>
            <a:ext cx="9525" cy="117150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5"/>
          <p:cNvSpPr/>
          <p:nvPr/>
        </p:nvSpPr>
        <p:spPr>
          <a:xfrm>
            <a:off x="5107781" y="2480295"/>
            <a:ext cx="4183142"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INFRAESTRUCTURA</a:t>
            </a:r>
            <a:endParaRPr b="0" i="0" sz="1800" u="none" cap="none" strike="noStrike">
              <a:solidFill>
                <a:schemeClr val="dk1"/>
              </a:solidFill>
              <a:latin typeface="Calibri"/>
              <a:ea typeface="Calibri"/>
              <a:cs typeface="Calibri"/>
              <a:sym typeface="Calibri"/>
            </a:endParaRPr>
          </a:p>
        </p:txBody>
      </p:sp>
      <p:sp>
        <p:nvSpPr>
          <p:cNvPr id="1069" name="Google Shape;1069;p25"/>
          <p:cNvSpPr/>
          <p:nvPr/>
        </p:nvSpPr>
        <p:spPr>
          <a:xfrm>
            <a:off x="5107781" y="2872680"/>
            <a:ext cx="4183142" cy="436215"/>
          </a:xfrm>
          <a:prstGeom prst="rect">
            <a:avLst/>
          </a:prstGeom>
          <a:noFill/>
          <a:ln>
            <a:noFill/>
          </a:ln>
        </p:spPr>
        <p:txBody>
          <a:bodyPr anchorCtr="0" anchor="t" bIns="25400" lIns="25400" spcFirstLastPara="1" rIns="25400" wrap="square" tIns="25400">
            <a:noAutofit/>
          </a:bodyPr>
          <a:lstStyle/>
          <a:p>
            <a:pPr indent="0" lvl="0" marL="0" marR="0" rtl="0" algn="l">
              <a:lnSpc>
                <a:spcPct val="100723"/>
              </a:lnSpc>
              <a:spcBef>
                <a:spcPts val="0"/>
              </a:spcBef>
              <a:spcAft>
                <a:spcPts val="0"/>
              </a:spcAft>
              <a:buClr>
                <a:srgbClr val="201E1D"/>
              </a:buClr>
              <a:buSzPts val="2850"/>
              <a:buFont typeface="Archivo"/>
              <a:buNone/>
            </a:pPr>
            <a:r>
              <a:rPr b="1" i="0" lang="en-US" sz="2850" u="none" cap="none" strike="noStrike">
                <a:solidFill>
                  <a:srgbClr val="201E1D"/>
                </a:solidFill>
                <a:latin typeface="Archivo"/>
                <a:ea typeface="Archivo"/>
                <a:cs typeface="Archivo"/>
                <a:sym typeface="Archivo"/>
              </a:rPr>
              <a:t>Planes gratuitos</a:t>
            </a:r>
            <a:endParaRPr b="0" i="0" sz="2850" u="none" cap="none" strike="noStrike">
              <a:solidFill>
                <a:schemeClr val="dk1"/>
              </a:solidFill>
              <a:latin typeface="Calibri"/>
              <a:ea typeface="Calibri"/>
              <a:cs typeface="Calibri"/>
              <a:sym typeface="Calibri"/>
            </a:endParaRPr>
          </a:p>
        </p:txBody>
      </p:sp>
      <p:sp>
        <p:nvSpPr>
          <p:cNvPr id="1070" name="Google Shape;1070;p25"/>
          <p:cNvSpPr/>
          <p:nvPr/>
        </p:nvSpPr>
        <p:spPr>
          <a:xfrm>
            <a:off x="13408819" y="2289795"/>
            <a:ext cx="9525" cy="1171501"/>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5"/>
          <p:cNvSpPr/>
          <p:nvPr/>
        </p:nvSpPr>
        <p:spPr>
          <a:xfrm>
            <a:off x="9377363" y="2480295"/>
            <a:ext cx="4183142"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PLAZO</a:t>
            </a:r>
            <a:endParaRPr b="0" i="0" sz="1800" u="none" cap="none" strike="noStrike">
              <a:solidFill>
                <a:schemeClr val="dk1"/>
              </a:solidFill>
              <a:latin typeface="Calibri"/>
              <a:ea typeface="Calibri"/>
              <a:cs typeface="Calibri"/>
              <a:sym typeface="Calibri"/>
            </a:endParaRPr>
          </a:p>
        </p:txBody>
      </p:sp>
      <p:sp>
        <p:nvSpPr>
          <p:cNvPr id="1072" name="Google Shape;1072;p25"/>
          <p:cNvSpPr/>
          <p:nvPr/>
        </p:nvSpPr>
        <p:spPr>
          <a:xfrm>
            <a:off x="9377363" y="2872680"/>
            <a:ext cx="4183142" cy="436215"/>
          </a:xfrm>
          <a:prstGeom prst="rect">
            <a:avLst/>
          </a:prstGeom>
          <a:noFill/>
          <a:ln>
            <a:noFill/>
          </a:ln>
        </p:spPr>
        <p:txBody>
          <a:bodyPr anchorCtr="0" anchor="t" bIns="25400" lIns="25400" spcFirstLastPara="1" rIns="25400" wrap="square" tIns="25400">
            <a:noAutofit/>
          </a:bodyPr>
          <a:lstStyle/>
          <a:p>
            <a:pPr indent="0" lvl="0" marL="0" marR="0" rtl="0" algn="l">
              <a:lnSpc>
                <a:spcPct val="100723"/>
              </a:lnSpc>
              <a:spcBef>
                <a:spcPts val="0"/>
              </a:spcBef>
              <a:spcAft>
                <a:spcPts val="0"/>
              </a:spcAft>
              <a:buClr>
                <a:srgbClr val="201E1D"/>
              </a:buClr>
              <a:buSzPts val="2850"/>
              <a:buFont typeface="Archivo"/>
              <a:buNone/>
            </a:pPr>
            <a:r>
              <a:rPr b="1" i="0" lang="en-US" sz="2850" u="none" cap="none" strike="noStrike">
                <a:solidFill>
                  <a:srgbClr val="201E1D"/>
                </a:solidFill>
                <a:latin typeface="Archivo"/>
                <a:ea typeface="Archivo"/>
                <a:cs typeface="Archivo"/>
                <a:sym typeface="Archivo"/>
              </a:rPr>
              <a:t>18 semanas</a:t>
            </a:r>
            <a:endParaRPr b="0" i="0" sz="2850" u="none" cap="none" strike="noStrike">
              <a:solidFill>
                <a:schemeClr val="dk1"/>
              </a:solidFill>
              <a:latin typeface="Calibri"/>
              <a:ea typeface="Calibri"/>
              <a:cs typeface="Calibri"/>
              <a:sym typeface="Calibri"/>
            </a:endParaRPr>
          </a:p>
        </p:txBody>
      </p:sp>
      <p:sp>
        <p:nvSpPr>
          <p:cNvPr id="1073" name="Google Shape;1073;p25"/>
          <p:cNvSpPr/>
          <p:nvPr/>
        </p:nvSpPr>
        <p:spPr>
          <a:xfrm>
            <a:off x="13646944" y="2480295"/>
            <a:ext cx="4183142"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0" i="0" lang="en-US" sz="1800" u="none" cap="none" strike="noStrike">
                <a:solidFill>
                  <a:srgbClr val="605D5D"/>
                </a:solidFill>
                <a:latin typeface="Archivo"/>
                <a:ea typeface="Archivo"/>
                <a:cs typeface="Archivo"/>
                <a:sym typeface="Archivo"/>
              </a:rPr>
              <a:t>EXPERIENCIA PREVIA</a:t>
            </a:r>
            <a:endParaRPr b="0" i="0" sz="1800" u="none" cap="none" strike="noStrike">
              <a:solidFill>
                <a:schemeClr val="dk1"/>
              </a:solidFill>
              <a:latin typeface="Calibri"/>
              <a:ea typeface="Calibri"/>
              <a:cs typeface="Calibri"/>
              <a:sym typeface="Calibri"/>
            </a:endParaRPr>
          </a:p>
        </p:txBody>
      </p:sp>
      <p:sp>
        <p:nvSpPr>
          <p:cNvPr id="1074" name="Google Shape;1074;p25"/>
          <p:cNvSpPr/>
          <p:nvPr/>
        </p:nvSpPr>
        <p:spPr>
          <a:xfrm>
            <a:off x="13646944" y="2872680"/>
            <a:ext cx="4183142" cy="436215"/>
          </a:xfrm>
          <a:prstGeom prst="rect">
            <a:avLst/>
          </a:prstGeom>
          <a:noFill/>
          <a:ln>
            <a:noFill/>
          </a:ln>
        </p:spPr>
        <p:txBody>
          <a:bodyPr anchorCtr="0" anchor="t" bIns="25400" lIns="25400" spcFirstLastPara="1" rIns="25400" wrap="square" tIns="25400">
            <a:noAutofit/>
          </a:bodyPr>
          <a:lstStyle/>
          <a:p>
            <a:pPr indent="0" lvl="0" marL="0" marR="0" rtl="0" algn="l">
              <a:lnSpc>
                <a:spcPct val="100723"/>
              </a:lnSpc>
              <a:spcBef>
                <a:spcPts val="0"/>
              </a:spcBef>
              <a:spcAft>
                <a:spcPts val="0"/>
              </a:spcAft>
              <a:buClr>
                <a:srgbClr val="201E1D"/>
              </a:buClr>
              <a:buSzPts val="2850"/>
              <a:buFont typeface="Archivo"/>
              <a:buNone/>
            </a:pPr>
            <a:r>
              <a:rPr b="1" i="0" lang="en-US" sz="2850" u="none" cap="none" strike="noStrike">
                <a:solidFill>
                  <a:srgbClr val="201E1D"/>
                </a:solidFill>
                <a:latin typeface="Archivo"/>
                <a:ea typeface="Archivo"/>
                <a:cs typeface="Archivo"/>
                <a:sym typeface="Archivo"/>
              </a:rPr>
              <a:t>No partimos de cero</a:t>
            </a:r>
            <a:endParaRPr b="0" i="0" sz="2850" u="none" cap="none" strike="noStrike">
              <a:solidFill>
                <a:schemeClr val="dk1"/>
              </a:solidFill>
              <a:latin typeface="Calibri"/>
              <a:ea typeface="Calibri"/>
              <a:cs typeface="Calibri"/>
              <a:sym typeface="Calibri"/>
            </a:endParaRPr>
          </a:p>
        </p:txBody>
      </p:sp>
      <p:sp>
        <p:nvSpPr>
          <p:cNvPr id="1075" name="Google Shape;1075;p25"/>
          <p:cNvSpPr/>
          <p:nvPr/>
        </p:nvSpPr>
        <p:spPr>
          <a:xfrm>
            <a:off x="838200" y="4320406"/>
            <a:ext cx="5647879"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5"/>
          <p:cNvSpPr/>
          <p:nvPr/>
        </p:nvSpPr>
        <p:spPr>
          <a:xfrm>
            <a:off x="838200" y="3861346"/>
            <a:ext cx="5664915" cy="382860"/>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RIESGO</a:t>
            </a:r>
            <a:endParaRPr b="0" i="0" sz="1800" u="none" cap="none" strike="noStrike">
              <a:solidFill>
                <a:schemeClr val="dk1"/>
              </a:solidFill>
              <a:latin typeface="Calibri"/>
              <a:ea typeface="Calibri"/>
              <a:cs typeface="Calibri"/>
              <a:sym typeface="Calibri"/>
            </a:endParaRPr>
          </a:p>
        </p:txBody>
      </p:sp>
      <p:sp>
        <p:nvSpPr>
          <p:cNvPr id="1077" name="Google Shape;1077;p25"/>
          <p:cNvSpPr/>
          <p:nvPr/>
        </p:nvSpPr>
        <p:spPr>
          <a:xfrm>
            <a:off x="6486079" y="4320406"/>
            <a:ext cx="2657847"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5"/>
          <p:cNvSpPr/>
          <p:nvPr/>
        </p:nvSpPr>
        <p:spPr>
          <a:xfrm>
            <a:off x="6638479" y="3861346"/>
            <a:ext cx="2432782" cy="382860"/>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IMPACTO</a:t>
            </a:r>
            <a:endParaRPr b="0" i="0" sz="1800" u="none" cap="none" strike="noStrike">
              <a:solidFill>
                <a:schemeClr val="dk1"/>
              </a:solidFill>
              <a:latin typeface="Calibri"/>
              <a:ea typeface="Calibri"/>
              <a:cs typeface="Calibri"/>
              <a:sym typeface="Calibri"/>
            </a:endParaRPr>
          </a:p>
        </p:txBody>
      </p:sp>
      <p:sp>
        <p:nvSpPr>
          <p:cNvPr id="1079" name="Google Shape;1079;p25"/>
          <p:cNvSpPr/>
          <p:nvPr/>
        </p:nvSpPr>
        <p:spPr>
          <a:xfrm>
            <a:off x="9143926" y="4320406"/>
            <a:ext cx="8305874" cy="1905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5"/>
          <p:cNvSpPr/>
          <p:nvPr/>
        </p:nvSpPr>
        <p:spPr>
          <a:xfrm>
            <a:off x="9296326" y="3861346"/>
            <a:ext cx="8402651" cy="382860"/>
          </a:xfrm>
          <a:prstGeom prst="rect">
            <a:avLst/>
          </a:prstGeom>
          <a:noFill/>
          <a:ln>
            <a:noFill/>
          </a:ln>
        </p:spPr>
        <p:txBody>
          <a:bodyPr anchorCtr="0" anchor="ctr" bIns="25400" lIns="25400" spcFirstLastPara="1" rIns="25400" wrap="square" tIns="25400">
            <a:noAutofit/>
          </a:bodyPr>
          <a:lstStyle/>
          <a:p>
            <a:pPr indent="0" lvl="0" marL="0" marR="0" rtl="0" algn="l">
              <a:lnSpc>
                <a:spcPct val="143077"/>
              </a:lnSpc>
              <a:spcBef>
                <a:spcPts val="0"/>
              </a:spcBef>
              <a:spcAft>
                <a:spcPts val="0"/>
              </a:spcAft>
              <a:buClr>
                <a:srgbClr val="605D5D"/>
              </a:buClr>
              <a:buSzPts val="1800"/>
              <a:buFont typeface="Archivo"/>
              <a:buNone/>
            </a:pPr>
            <a:r>
              <a:rPr b="1" i="0" lang="en-US" sz="1800" u="none" cap="none" strike="noStrike">
                <a:solidFill>
                  <a:srgbClr val="605D5D"/>
                </a:solidFill>
                <a:latin typeface="Archivo"/>
                <a:ea typeface="Archivo"/>
                <a:cs typeface="Archivo"/>
                <a:sym typeface="Archivo"/>
              </a:rPr>
              <a:t>MITIGACIÓN</a:t>
            </a:r>
            <a:endParaRPr b="0" i="0" sz="1800" u="none" cap="none" strike="noStrike">
              <a:solidFill>
                <a:schemeClr val="dk1"/>
              </a:solidFill>
              <a:latin typeface="Calibri"/>
              <a:ea typeface="Calibri"/>
              <a:cs typeface="Calibri"/>
              <a:sym typeface="Calibri"/>
            </a:endParaRPr>
          </a:p>
        </p:txBody>
      </p:sp>
      <p:sp>
        <p:nvSpPr>
          <p:cNvPr id="1081" name="Google Shape;1081;p25"/>
          <p:cNvSpPr/>
          <p:nvPr/>
        </p:nvSpPr>
        <p:spPr>
          <a:xfrm>
            <a:off x="838200" y="5070946"/>
            <a:ext cx="564787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5"/>
          <p:cNvSpPr/>
          <p:nvPr/>
        </p:nvSpPr>
        <p:spPr>
          <a:xfrm>
            <a:off x="838200" y="4510906"/>
            <a:ext cx="5664915" cy="426690"/>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1" i="0" lang="en-US" sz="1950" u="none" cap="none" strike="noStrike">
                <a:solidFill>
                  <a:srgbClr val="201E1D"/>
                </a:solidFill>
                <a:latin typeface="Archivo"/>
                <a:ea typeface="Archivo"/>
                <a:cs typeface="Archivo"/>
                <a:sym typeface="Archivo"/>
              </a:rPr>
              <a:t>Cambios o límites de uso en la API</a:t>
            </a:r>
            <a:endParaRPr b="0" i="0" sz="1950" u="none" cap="none" strike="noStrike">
              <a:solidFill>
                <a:schemeClr val="dk1"/>
              </a:solidFill>
              <a:latin typeface="Calibri"/>
              <a:ea typeface="Calibri"/>
              <a:cs typeface="Calibri"/>
              <a:sym typeface="Calibri"/>
            </a:endParaRPr>
          </a:p>
        </p:txBody>
      </p:sp>
      <p:sp>
        <p:nvSpPr>
          <p:cNvPr id="1083" name="Google Shape;1083;p25"/>
          <p:cNvSpPr/>
          <p:nvPr/>
        </p:nvSpPr>
        <p:spPr>
          <a:xfrm>
            <a:off x="6486079" y="5070946"/>
            <a:ext cx="2657847"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5"/>
          <p:cNvSpPr/>
          <p:nvPr/>
        </p:nvSpPr>
        <p:spPr>
          <a:xfrm>
            <a:off x="6638479" y="4510906"/>
            <a:ext cx="2432782" cy="426690"/>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Alto</a:t>
            </a:r>
            <a:endParaRPr b="0" i="0" sz="1950" u="none" cap="none" strike="noStrike">
              <a:solidFill>
                <a:schemeClr val="dk1"/>
              </a:solidFill>
              <a:latin typeface="Calibri"/>
              <a:ea typeface="Calibri"/>
              <a:cs typeface="Calibri"/>
              <a:sym typeface="Calibri"/>
            </a:endParaRPr>
          </a:p>
        </p:txBody>
      </p:sp>
      <p:sp>
        <p:nvSpPr>
          <p:cNvPr id="1085" name="Google Shape;1085;p25"/>
          <p:cNvSpPr/>
          <p:nvPr/>
        </p:nvSpPr>
        <p:spPr>
          <a:xfrm>
            <a:off x="9143926" y="5070946"/>
            <a:ext cx="830587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5"/>
          <p:cNvSpPr/>
          <p:nvPr/>
        </p:nvSpPr>
        <p:spPr>
          <a:xfrm>
            <a:off x="9296326" y="4510906"/>
            <a:ext cx="8402651" cy="426690"/>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Manejo explícito de errores y plan B con scraping de la plataforma.</a:t>
            </a:r>
            <a:endParaRPr b="0" i="0" sz="1950" u="none" cap="none" strike="noStrike">
              <a:solidFill>
                <a:schemeClr val="dk1"/>
              </a:solidFill>
              <a:latin typeface="Calibri"/>
              <a:ea typeface="Calibri"/>
              <a:cs typeface="Calibri"/>
              <a:sym typeface="Calibri"/>
            </a:endParaRPr>
          </a:p>
        </p:txBody>
      </p:sp>
      <p:sp>
        <p:nvSpPr>
          <p:cNvPr id="1087" name="Google Shape;1087;p25"/>
          <p:cNvSpPr/>
          <p:nvPr/>
        </p:nvSpPr>
        <p:spPr>
          <a:xfrm>
            <a:off x="838200" y="6191027"/>
            <a:ext cx="564787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5"/>
          <p:cNvSpPr/>
          <p:nvPr/>
        </p:nvSpPr>
        <p:spPr>
          <a:xfrm>
            <a:off x="838200" y="5251921"/>
            <a:ext cx="5664915" cy="805755"/>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1" i="0" lang="en-US" sz="1950" u="none" cap="none" strike="noStrike">
                <a:solidFill>
                  <a:srgbClr val="201E1D"/>
                </a:solidFill>
                <a:latin typeface="Archivo"/>
                <a:ea typeface="Archivo"/>
                <a:cs typeface="Archivo"/>
                <a:sym typeface="Archivo"/>
              </a:rPr>
              <a:t>Costo del LLM al procesar mucho volumen</a:t>
            </a:r>
            <a:endParaRPr b="0" i="0" sz="1950" u="none" cap="none" strike="noStrike">
              <a:solidFill>
                <a:schemeClr val="dk1"/>
              </a:solidFill>
              <a:latin typeface="Calibri"/>
              <a:ea typeface="Calibri"/>
              <a:cs typeface="Calibri"/>
              <a:sym typeface="Calibri"/>
            </a:endParaRPr>
          </a:p>
        </p:txBody>
      </p:sp>
      <p:sp>
        <p:nvSpPr>
          <p:cNvPr id="1089" name="Google Shape;1089;p25"/>
          <p:cNvSpPr/>
          <p:nvPr/>
        </p:nvSpPr>
        <p:spPr>
          <a:xfrm>
            <a:off x="6486079" y="6191027"/>
            <a:ext cx="2657847"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5"/>
          <p:cNvSpPr/>
          <p:nvPr/>
        </p:nvSpPr>
        <p:spPr>
          <a:xfrm>
            <a:off x="6638479" y="5251921"/>
            <a:ext cx="2432782" cy="805755"/>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EC3013"/>
              </a:buClr>
              <a:buSzPts val="1950"/>
              <a:buFont typeface="Archivo"/>
              <a:buNone/>
            </a:pPr>
            <a:r>
              <a:rPr b="1" i="0" lang="en-US" sz="1950" u="none" cap="none" strike="noStrike">
                <a:solidFill>
                  <a:srgbClr val="EC3013"/>
                </a:solidFill>
                <a:latin typeface="Archivo"/>
                <a:ea typeface="Archivo"/>
                <a:cs typeface="Archivo"/>
                <a:sym typeface="Archivo"/>
              </a:rPr>
              <a:t>Alto</a:t>
            </a:r>
            <a:endParaRPr b="0" i="0" sz="1950" u="none" cap="none" strike="noStrike">
              <a:solidFill>
                <a:schemeClr val="dk1"/>
              </a:solidFill>
              <a:latin typeface="Calibri"/>
              <a:ea typeface="Calibri"/>
              <a:cs typeface="Calibri"/>
              <a:sym typeface="Calibri"/>
            </a:endParaRPr>
          </a:p>
        </p:txBody>
      </p:sp>
      <p:sp>
        <p:nvSpPr>
          <p:cNvPr id="1091" name="Google Shape;1091;p25"/>
          <p:cNvSpPr/>
          <p:nvPr/>
        </p:nvSpPr>
        <p:spPr>
          <a:xfrm>
            <a:off x="9143926" y="6191027"/>
            <a:ext cx="830587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5"/>
          <p:cNvSpPr/>
          <p:nvPr/>
        </p:nvSpPr>
        <p:spPr>
          <a:xfrm>
            <a:off x="9296326" y="5251921"/>
            <a:ext cx="8402651" cy="805755"/>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Prefiltro por reglas antes del modelo y uso de modelos económicos donde basta.</a:t>
            </a:r>
            <a:endParaRPr b="0" i="0" sz="1950" u="none" cap="none" strike="noStrike">
              <a:solidFill>
                <a:schemeClr val="dk1"/>
              </a:solidFill>
              <a:latin typeface="Calibri"/>
              <a:ea typeface="Calibri"/>
              <a:cs typeface="Calibri"/>
              <a:sym typeface="Calibri"/>
            </a:endParaRPr>
          </a:p>
        </p:txBody>
      </p:sp>
      <p:sp>
        <p:nvSpPr>
          <p:cNvPr id="1093" name="Google Shape;1093;p25"/>
          <p:cNvSpPr/>
          <p:nvPr/>
        </p:nvSpPr>
        <p:spPr>
          <a:xfrm>
            <a:off x="838200" y="6927279"/>
            <a:ext cx="564787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5"/>
          <p:cNvSpPr/>
          <p:nvPr/>
        </p:nvSpPr>
        <p:spPr>
          <a:xfrm>
            <a:off x="838200" y="6372002"/>
            <a:ext cx="5664915" cy="421928"/>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1" i="0" lang="en-US" sz="1950" u="none" cap="none" strike="noStrike">
                <a:solidFill>
                  <a:srgbClr val="201E1D"/>
                </a:solidFill>
                <a:latin typeface="Archivo"/>
                <a:ea typeface="Archivo"/>
                <a:cs typeface="Archivo"/>
                <a:sym typeface="Archivo"/>
              </a:rPr>
              <a:t>Bases en PDF mal estructuradas</a:t>
            </a:r>
            <a:endParaRPr b="0" i="0" sz="1950" u="none" cap="none" strike="noStrike">
              <a:solidFill>
                <a:schemeClr val="dk1"/>
              </a:solidFill>
              <a:latin typeface="Calibri"/>
              <a:ea typeface="Calibri"/>
              <a:cs typeface="Calibri"/>
              <a:sym typeface="Calibri"/>
            </a:endParaRPr>
          </a:p>
        </p:txBody>
      </p:sp>
      <p:sp>
        <p:nvSpPr>
          <p:cNvPr id="1095" name="Google Shape;1095;p25"/>
          <p:cNvSpPr/>
          <p:nvPr/>
        </p:nvSpPr>
        <p:spPr>
          <a:xfrm>
            <a:off x="6486079" y="6927279"/>
            <a:ext cx="2657847"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5"/>
          <p:cNvSpPr/>
          <p:nvPr/>
        </p:nvSpPr>
        <p:spPr>
          <a:xfrm>
            <a:off x="6638479" y="6372002"/>
            <a:ext cx="2432782" cy="421928"/>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Medio</a:t>
            </a:r>
            <a:endParaRPr b="0" i="0" sz="1950" u="none" cap="none" strike="noStrike">
              <a:solidFill>
                <a:schemeClr val="dk1"/>
              </a:solidFill>
              <a:latin typeface="Calibri"/>
              <a:ea typeface="Calibri"/>
              <a:cs typeface="Calibri"/>
              <a:sym typeface="Calibri"/>
            </a:endParaRPr>
          </a:p>
        </p:txBody>
      </p:sp>
      <p:sp>
        <p:nvSpPr>
          <p:cNvPr id="1097" name="Google Shape;1097;p25"/>
          <p:cNvSpPr/>
          <p:nvPr/>
        </p:nvSpPr>
        <p:spPr>
          <a:xfrm>
            <a:off x="9143926" y="6927279"/>
            <a:ext cx="830587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5"/>
          <p:cNvSpPr/>
          <p:nvPr/>
        </p:nvSpPr>
        <p:spPr>
          <a:xfrm>
            <a:off x="9296326" y="6372002"/>
            <a:ext cx="8402651" cy="421928"/>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La API es la fuente principal; el PDF solo complementa cuando aporta.</a:t>
            </a:r>
            <a:endParaRPr b="0" i="0" sz="1950" u="none" cap="none" strike="noStrike">
              <a:solidFill>
                <a:schemeClr val="dk1"/>
              </a:solidFill>
              <a:latin typeface="Calibri"/>
              <a:ea typeface="Calibri"/>
              <a:cs typeface="Calibri"/>
              <a:sym typeface="Calibri"/>
            </a:endParaRPr>
          </a:p>
        </p:txBody>
      </p:sp>
      <p:sp>
        <p:nvSpPr>
          <p:cNvPr id="1099" name="Google Shape;1099;p25"/>
          <p:cNvSpPr/>
          <p:nvPr/>
        </p:nvSpPr>
        <p:spPr>
          <a:xfrm>
            <a:off x="838200" y="8047360"/>
            <a:ext cx="5647879"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5"/>
          <p:cNvSpPr/>
          <p:nvPr/>
        </p:nvSpPr>
        <p:spPr>
          <a:xfrm>
            <a:off x="838200" y="7108254"/>
            <a:ext cx="5664915" cy="805755"/>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1" i="0" lang="en-US" sz="1950" u="none" cap="none" strike="noStrike">
                <a:solidFill>
                  <a:srgbClr val="201E1D"/>
                </a:solidFill>
                <a:latin typeface="Archivo"/>
                <a:ea typeface="Archivo"/>
                <a:cs typeface="Archivo"/>
                <a:sym typeface="Archivo"/>
              </a:rPr>
              <a:t>Alcance mayor al tiempo disponible</a:t>
            </a:r>
            <a:endParaRPr b="0" i="0" sz="1950" u="none" cap="none" strike="noStrike">
              <a:solidFill>
                <a:schemeClr val="dk1"/>
              </a:solidFill>
              <a:latin typeface="Calibri"/>
              <a:ea typeface="Calibri"/>
              <a:cs typeface="Calibri"/>
              <a:sym typeface="Calibri"/>
            </a:endParaRPr>
          </a:p>
        </p:txBody>
      </p:sp>
      <p:sp>
        <p:nvSpPr>
          <p:cNvPr id="1101" name="Google Shape;1101;p25"/>
          <p:cNvSpPr/>
          <p:nvPr/>
        </p:nvSpPr>
        <p:spPr>
          <a:xfrm>
            <a:off x="6486079" y="8047360"/>
            <a:ext cx="2657847"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5"/>
          <p:cNvSpPr/>
          <p:nvPr/>
        </p:nvSpPr>
        <p:spPr>
          <a:xfrm>
            <a:off x="6638479" y="7108254"/>
            <a:ext cx="2432782" cy="805755"/>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Medio</a:t>
            </a:r>
            <a:endParaRPr b="0" i="0" sz="1950" u="none" cap="none" strike="noStrike">
              <a:solidFill>
                <a:schemeClr val="dk1"/>
              </a:solidFill>
              <a:latin typeface="Calibri"/>
              <a:ea typeface="Calibri"/>
              <a:cs typeface="Calibri"/>
              <a:sym typeface="Calibri"/>
            </a:endParaRPr>
          </a:p>
        </p:txBody>
      </p:sp>
      <p:sp>
        <p:nvSpPr>
          <p:cNvPr id="1103" name="Google Shape;1103;p25"/>
          <p:cNvSpPr/>
          <p:nvPr/>
        </p:nvSpPr>
        <p:spPr>
          <a:xfrm>
            <a:off x="9143926" y="8047360"/>
            <a:ext cx="8305874" cy="9525"/>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5"/>
          <p:cNvSpPr/>
          <p:nvPr/>
        </p:nvSpPr>
        <p:spPr>
          <a:xfrm>
            <a:off x="9296326" y="7108254"/>
            <a:ext cx="8402651" cy="805755"/>
          </a:xfrm>
          <a:prstGeom prst="rect">
            <a:avLst/>
          </a:prstGeom>
          <a:noFill/>
          <a:ln>
            <a:noFill/>
          </a:ln>
        </p:spPr>
        <p:txBody>
          <a:bodyPr anchorCtr="0" anchor="ctr" bIns="25400" lIns="25400" spcFirstLastPara="1" rIns="25400" wrap="square" tIns="25400">
            <a:noAutofit/>
          </a:bodyPr>
          <a:lstStyle/>
          <a:p>
            <a:pPr indent="0" lvl="0" marL="0" marR="0" rtl="0" algn="l">
              <a:lnSpc>
                <a:spcPct val="141404"/>
              </a:lnSpc>
              <a:spcBef>
                <a:spcPts val="0"/>
              </a:spcBef>
              <a:spcAft>
                <a:spcPts val="0"/>
              </a:spcAft>
              <a:buClr>
                <a:srgbClr val="201E1D"/>
              </a:buClr>
              <a:buSzPts val="1950"/>
              <a:buFont typeface="Archivo"/>
              <a:buNone/>
            </a:pPr>
            <a:r>
              <a:rPr b="0" i="0" lang="en-US" sz="1950" u="none" cap="none" strike="noStrike">
                <a:solidFill>
                  <a:srgbClr val="201E1D"/>
                </a:solidFill>
                <a:latin typeface="Archivo"/>
                <a:ea typeface="Archivo"/>
                <a:cs typeface="Archivo"/>
                <a:sym typeface="Archivo"/>
              </a:rPr>
              <a:t>MVP definido; WhatsApp y dashboard ampliado quedan como mejoras opcionales.</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2F2"/>
        </a:solidFill>
      </p:bgPr>
    </p:bg>
    <p:spTree>
      <p:nvGrpSpPr>
        <p:cNvPr id="1109" name="Shape 1109"/>
        <p:cNvGrpSpPr/>
        <p:nvPr/>
      </p:nvGrpSpPr>
      <p:grpSpPr>
        <a:xfrm>
          <a:off x="0" y="0"/>
          <a:ext cx="0" cy="0"/>
          <a:chOff x="0" y="0"/>
          <a:chExt cx="0" cy="0"/>
        </a:xfrm>
      </p:grpSpPr>
      <p:sp>
        <p:nvSpPr>
          <p:cNvPr id="1110" name="Google Shape;1110;p26"/>
          <p:cNvSpPr/>
          <p:nvPr/>
        </p:nvSpPr>
        <p:spPr>
          <a:xfrm>
            <a:off x="9420388" y="6446800"/>
            <a:ext cx="8213100" cy="2845800"/>
          </a:xfrm>
          <a:prstGeom prst="rect">
            <a:avLst/>
          </a:prstGeom>
          <a:solidFill>
            <a:srgbClr val="0B539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6"/>
          <p:cNvSpPr/>
          <p:nvPr/>
        </p:nvSpPr>
        <p:spPr>
          <a:xfrm>
            <a:off x="711638" y="6446800"/>
            <a:ext cx="8213100" cy="2845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6"/>
          <p:cNvSpPr/>
          <p:nvPr/>
        </p:nvSpPr>
        <p:spPr>
          <a:xfrm>
            <a:off x="711650" y="3093700"/>
            <a:ext cx="8213100" cy="2845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6"/>
          <p:cNvSpPr/>
          <p:nvPr/>
        </p:nvSpPr>
        <p:spPr>
          <a:xfrm>
            <a:off x="9503250" y="3135675"/>
            <a:ext cx="8213100" cy="2845800"/>
          </a:xfrm>
          <a:prstGeom prst="rect">
            <a:avLst/>
          </a:prstGeom>
          <a:solidFill>
            <a:srgbClr val="201E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US"/>
              <a:t>v</a:t>
            </a:r>
            <a:endParaRPr/>
          </a:p>
        </p:txBody>
      </p:sp>
      <p:sp>
        <p:nvSpPr>
          <p:cNvPr id="1114" name="Google Shape;1114;p26"/>
          <p:cNvSpPr/>
          <p:nvPr/>
        </p:nvSpPr>
        <p:spPr>
          <a:xfrm>
            <a:off x="0" y="-28150"/>
            <a:ext cx="18272700" cy="2013300"/>
          </a:xfrm>
          <a:prstGeom prst="rect">
            <a:avLst/>
          </a:prstGeom>
          <a:solidFill>
            <a:srgbClr val="EC301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1115" name="Google Shape;1115;p26"/>
          <p:cNvSpPr/>
          <p:nvPr/>
        </p:nvSpPr>
        <p:spPr>
          <a:xfrm>
            <a:off x="838200" y="609600"/>
            <a:ext cx="18272700" cy="28590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EC3013"/>
              </a:buClr>
              <a:buSzPts val="1950"/>
              <a:buFont typeface="Archivo"/>
              <a:buNone/>
            </a:pPr>
            <a:r>
              <a:rPr b="1" lang="en-US" sz="1950">
                <a:solidFill>
                  <a:schemeClr val="lt1"/>
                </a:solidFill>
                <a:latin typeface="Archivo"/>
                <a:ea typeface="Archivo"/>
                <a:cs typeface="Archivo"/>
                <a:sym typeface="Archivo"/>
              </a:rPr>
              <a:t>Alianzas</a:t>
            </a:r>
            <a:endParaRPr b="0" i="0" sz="1950" u="none" cap="none" strike="noStrike">
              <a:solidFill>
                <a:schemeClr val="lt1"/>
              </a:solidFill>
              <a:latin typeface="Calibri"/>
              <a:ea typeface="Calibri"/>
              <a:cs typeface="Calibri"/>
              <a:sym typeface="Calibri"/>
            </a:endParaRPr>
          </a:p>
        </p:txBody>
      </p:sp>
      <p:sp>
        <p:nvSpPr>
          <p:cNvPr id="1116" name="Google Shape;1116;p26"/>
          <p:cNvSpPr/>
          <p:nvPr/>
        </p:nvSpPr>
        <p:spPr>
          <a:xfrm>
            <a:off x="838200" y="1123950"/>
            <a:ext cx="18272700" cy="632400"/>
          </a:xfrm>
          <a:prstGeom prst="rect">
            <a:avLst/>
          </a:prstGeom>
          <a:noFill/>
          <a:ln>
            <a:noFill/>
          </a:ln>
        </p:spPr>
        <p:txBody>
          <a:bodyPr anchorCtr="0" anchor="t" bIns="25400" lIns="25400" spcFirstLastPara="1" rIns="25400" wrap="square" tIns="25400">
            <a:noAutofit/>
          </a:bodyPr>
          <a:lstStyle/>
          <a:p>
            <a:pPr indent="0" lvl="0" marL="0" marR="0" rtl="0" algn="l">
              <a:lnSpc>
                <a:spcPct val="96000"/>
              </a:lnSpc>
              <a:spcBef>
                <a:spcPts val="0"/>
              </a:spcBef>
              <a:spcAft>
                <a:spcPts val="0"/>
              </a:spcAft>
              <a:buClr>
                <a:srgbClr val="201E1D"/>
              </a:buClr>
              <a:buSzPts val="4500"/>
              <a:buFont typeface="Archivo"/>
              <a:buNone/>
            </a:pPr>
            <a:r>
              <a:rPr b="1" lang="en-US" sz="4500">
                <a:solidFill>
                  <a:schemeClr val="lt1"/>
                </a:solidFill>
                <a:latin typeface="Archivo"/>
                <a:ea typeface="Archivo"/>
                <a:cs typeface="Archivo"/>
                <a:sym typeface="Archivo"/>
              </a:rPr>
              <a:t>Empresas que firmaron NDA para colaborar</a:t>
            </a:r>
            <a:endParaRPr b="1" sz="4500">
              <a:solidFill>
                <a:schemeClr val="lt1"/>
              </a:solidFill>
              <a:latin typeface="Archivo"/>
              <a:ea typeface="Archivo"/>
              <a:cs typeface="Archivo"/>
              <a:sym typeface="Archivo"/>
            </a:endParaRPr>
          </a:p>
          <a:p>
            <a:pPr indent="0" lvl="0" marL="0" marR="0" rtl="0" algn="l">
              <a:lnSpc>
                <a:spcPct val="96000"/>
              </a:lnSpc>
              <a:spcBef>
                <a:spcPts val="0"/>
              </a:spcBef>
              <a:spcAft>
                <a:spcPts val="0"/>
              </a:spcAft>
              <a:buClr>
                <a:srgbClr val="201E1D"/>
              </a:buClr>
              <a:buSzPts val="4500"/>
              <a:buFont typeface="Archivo"/>
              <a:buNone/>
            </a:pPr>
            <a:r>
              <a:t/>
            </a:r>
            <a:endParaRPr b="1" sz="4500">
              <a:solidFill>
                <a:schemeClr val="lt1"/>
              </a:solidFill>
              <a:latin typeface="Archivo"/>
              <a:ea typeface="Archivo"/>
              <a:cs typeface="Archivo"/>
              <a:sym typeface="Archivo"/>
            </a:endParaRPr>
          </a:p>
        </p:txBody>
      </p:sp>
      <p:sp>
        <p:nvSpPr>
          <p:cNvPr id="1117" name="Google Shape;1117;p26"/>
          <p:cNvSpPr/>
          <p:nvPr/>
        </p:nvSpPr>
        <p:spPr>
          <a:xfrm>
            <a:off x="838200" y="1984995"/>
            <a:ext cx="16611600" cy="19200"/>
          </a:xfrm>
          <a:prstGeom prst="rect">
            <a:avLst/>
          </a:prstGeom>
          <a:solidFill>
            <a:srgbClr val="201E1E">
              <a:alpha val="4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18" name="Google Shape;1118;p26"/>
          <p:cNvPicPr preferRelativeResize="0"/>
          <p:nvPr/>
        </p:nvPicPr>
        <p:blipFill rotWithShape="1">
          <a:blip r:embed="rId3">
            <a:alphaModFix/>
          </a:blip>
          <a:srcRect b="0" l="0" r="0" t="0"/>
          <a:stretch/>
        </p:blipFill>
        <p:spPr>
          <a:xfrm>
            <a:off x="9586100" y="3051735"/>
            <a:ext cx="8047401" cy="2750575"/>
          </a:xfrm>
          <a:prstGeom prst="rect">
            <a:avLst/>
          </a:prstGeom>
          <a:noFill/>
          <a:ln>
            <a:noFill/>
          </a:ln>
        </p:spPr>
      </p:pic>
      <p:pic>
        <p:nvPicPr>
          <p:cNvPr id="1119" name="Google Shape;1119;p26"/>
          <p:cNvPicPr preferRelativeResize="0"/>
          <p:nvPr/>
        </p:nvPicPr>
        <p:blipFill>
          <a:blip r:embed="rId4">
            <a:alphaModFix/>
          </a:blip>
          <a:stretch>
            <a:fillRect/>
          </a:stretch>
        </p:blipFill>
        <p:spPr>
          <a:xfrm>
            <a:off x="2191288" y="3408362"/>
            <a:ext cx="5253827" cy="2216475"/>
          </a:xfrm>
          <a:prstGeom prst="rect">
            <a:avLst/>
          </a:prstGeom>
          <a:noFill/>
          <a:ln>
            <a:noFill/>
          </a:ln>
        </p:spPr>
      </p:pic>
      <p:pic>
        <p:nvPicPr>
          <p:cNvPr id="1120" name="Google Shape;1120;p26"/>
          <p:cNvPicPr preferRelativeResize="0"/>
          <p:nvPr/>
        </p:nvPicPr>
        <p:blipFill>
          <a:blip r:embed="rId5">
            <a:alphaModFix/>
          </a:blip>
          <a:stretch>
            <a:fillRect/>
          </a:stretch>
        </p:blipFill>
        <p:spPr>
          <a:xfrm>
            <a:off x="1008188" y="7222000"/>
            <a:ext cx="7620000" cy="1295400"/>
          </a:xfrm>
          <a:prstGeom prst="rect">
            <a:avLst/>
          </a:prstGeom>
          <a:noFill/>
          <a:ln>
            <a:noFill/>
          </a:ln>
        </p:spPr>
      </p:pic>
      <p:pic>
        <p:nvPicPr>
          <p:cNvPr id="1121" name="Google Shape;1121;p26"/>
          <p:cNvPicPr preferRelativeResize="0"/>
          <p:nvPr/>
        </p:nvPicPr>
        <p:blipFill>
          <a:blip r:embed="rId6">
            <a:alphaModFix/>
          </a:blip>
          <a:stretch>
            <a:fillRect/>
          </a:stretch>
        </p:blipFill>
        <p:spPr>
          <a:xfrm>
            <a:off x="11493971" y="6494412"/>
            <a:ext cx="4231654" cy="2750575"/>
          </a:xfrm>
          <a:prstGeom prst="rect">
            <a:avLst/>
          </a:prstGeom>
          <a:solidFill>
            <a:srgbClr val="0B5394"/>
          </a:solid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3013"/>
        </a:solidFill>
      </p:bgPr>
    </p:bg>
    <p:spTree>
      <p:nvGrpSpPr>
        <p:cNvPr id="1126" name="Shape 1126"/>
        <p:cNvGrpSpPr/>
        <p:nvPr/>
      </p:nvGrpSpPr>
      <p:grpSpPr>
        <a:xfrm>
          <a:off x="0" y="0"/>
          <a:ext cx="0" cy="0"/>
          <a:chOff x="0" y="0"/>
          <a:chExt cx="0" cy="0"/>
        </a:xfrm>
      </p:grpSpPr>
      <p:sp>
        <p:nvSpPr>
          <p:cNvPr id="1127" name="Google Shape;1127;p27"/>
          <p:cNvSpPr/>
          <p:nvPr/>
        </p:nvSpPr>
        <p:spPr>
          <a:xfrm>
            <a:off x="838200" y="685800"/>
            <a:ext cx="18272760" cy="285750"/>
          </a:xfrm>
          <a:prstGeom prst="rect">
            <a:avLst/>
          </a:prstGeom>
          <a:noFill/>
          <a:ln>
            <a:noFill/>
          </a:ln>
        </p:spPr>
        <p:txBody>
          <a:bodyPr anchorCtr="0" anchor="t" bIns="25400" lIns="25400" spcFirstLastPara="1" rIns="25400" wrap="square" tIns="25400">
            <a:noAutofit/>
          </a:bodyPr>
          <a:lstStyle/>
          <a:p>
            <a:pPr indent="0" lvl="0" marL="0" marR="0" rtl="0" algn="l">
              <a:lnSpc>
                <a:spcPct val="91228"/>
              </a:lnSpc>
              <a:spcBef>
                <a:spcPts val="0"/>
              </a:spcBef>
              <a:spcAft>
                <a:spcPts val="0"/>
              </a:spcAft>
              <a:buClr>
                <a:srgbClr val="F3F2F2"/>
              </a:buClr>
              <a:buSzPts val="1950"/>
              <a:buFont typeface="Archivo"/>
              <a:buNone/>
            </a:pPr>
            <a:r>
              <a:rPr b="1" i="0" lang="en-US" sz="1950" u="none" cap="none" strike="noStrike">
                <a:solidFill>
                  <a:srgbClr val="F3F2F2"/>
                </a:solidFill>
                <a:latin typeface="Archivo"/>
                <a:ea typeface="Archivo"/>
                <a:cs typeface="Archivo"/>
                <a:sym typeface="Archivo"/>
              </a:rPr>
              <a:t>CIERRE DE LA FASE 1</a:t>
            </a:r>
            <a:endParaRPr b="0" i="0" sz="1950" u="none" cap="none" strike="noStrike">
              <a:solidFill>
                <a:schemeClr val="dk1"/>
              </a:solidFill>
              <a:latin typeface="Calibri"/>
              <a:ea typeface="Calibri"/>
              <a:cs typeface="Calibri"/>
              <a:sym typeface="Calibri"/>
            </a:endParaRPr>
          </a:p>
        </p:txBody>
      </p:sp>
      <p:sp>
        <p:nvSpPr>
          <p:cNvPr id="1128" name="Google Shape;1128;p27"/>
          <p:cNvSpPr/>
          <p:nvPr/>
        </p:nvSpPr>
        <p:spPr>
          <a:xfrm>
            <a:off x="838200" y="2761952"/>
            <a:ext cx="15304770" cy="3174429"/>
          </a:xfrm>
          <a:prstGeom prst="rect">
            <a:avLst/>
          </a:prstGeom>
          <a:noFill/>
          <a:ln>
            <a:noFill/>
          </a:ln>
        </p:spPr>
        <p:txBody>
          <a:bodyPr anchorCtr="0" anchor="t" bIns="25400" lIns="25400" spcFirstLastPara="1" rIns="25400" wrap="square" tIns="25400">
            <a:noAutofit/>
          </a:bodyPr>
          <a:lstStyle/>
          <a:p>
            <a:pPr indent="0" lvl="0" marL="0" marR="0" rtl="0" algn="l">
              <a:lnSpc>
                <a:spcPct val="89967"/>
              </a:lnSpc>
              <a:spcBef>
                <a:spcPts val="0"/>
              </a:spcBef>
              <a:spcAft>
                <a:spcPts val="0"/>
              </a:spcAft>
              <a:buClr>
                <a:srgbClr val="F3F2F2"/>
              </a:buClr>
              <a:buSzPts val="8400"/>
              <a:buFont typeface="Archivo"/>
              <a:buNone/>
            </a:pPr>
            <a:r>
              <a:rPr b="1" i="0" lang="en-US" sz="8400" u="none" cap="none" strike="noStrike">
                <a:solidFill>
                  <a:srgbClr val="F3F2F2"/>
                </a:solidFill>
                <a:latin typeface="Archivo"/>
                <a:ea typeface="Archivo"/>
                <a:cs typeface="Archivo"/>
                <a:sym typeface="Archivo"/>
              </a:rPr>
              <a:t>Fase 1 cierra con el diseño listo; la Fase 2 construye los módulos.</a:t>
            </a:r>
            <a:endParaRPr b="0" i="0" sz="8400" u="none" cap="none" strike="noStrike">
              <a:solidFill>
                <a:schemeClr val="dk1"/>
              </a:solidFill>
              <a:latin typeface="Calibri"/>
              <a:ea typeface="Calibri"/>
              <a:cs typeface="Calibri"/>
              <a:sym typeface="Calibri"/>
            </a:endParaRPr>
          </a:p>
        </p:txBody>
      </p:sp>
      <p:sp>
        <p:nvSpPr>
          <p:cNvPr id="1129" name="Google Shape;1129;p27"/>
          <p:cNvSpPr/>
          <p:nvPr/>
        </p:nvSpPr>
        <p:spPr>
          <a:xfrm>
            <a:off x="838200" y="7726859"/>
            <a:ext cx="16611600" cy="19050"/>
          </a:xfrm>
          <a:prstGeom prst="rect">
            <a:avLst/>
          </a:prstGeom>
          <a:solidFill>
            <a:srgbClr val="F3F2F2">
              <a:alpha val="5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7"/>
          <p:cNvSpPr/>
          <p:nvPr/>
        </p:nvSpPr>
        <p:spPr>
          <a:xfrm>
            <a:off x="838200" y="8031659"/>
            <a:ext cx="553212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ENTREGADO EN FASE 1</a:t>
            </a:r>
            <a:endParaRPr b="0" i="0" sz="1800" u="none" cap="none" strike="noStrike">
              <a:solidFill>
                <a:schemeClr val="dk1"/>
              </a:solidFill>
              <a:latin typeface="Calibri"/>
              <a:ea typeface="Calibri"/>
              <a:cs typeface="Calibri"/>
              <a:sym typeface="Calibri"/>
            </a:endParaRPr>
          </a:p>
        </p:txBody>
      </p:sp>
      <p:sp>
        <p:nvSpPr>
          <p:cNvPr id="1131" name="Google Shape;1131;p27"/>
          <p:cNvSpPr/>
          <p:nvPr/>
        </p:nvSpPr>
        <p:spPr>
          <a:xfrm>
            <a:off x="838200" y="8481194"/>
            <a:ext cx="5180076" cy="78477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F3F2F2"/>
              </a:buClr>
              <a:buSzPts val="2100"/>
              <a:buFont typeface="Archivo"/>
              <a:buNone/>
            </a:pPr>
            <a:r>
              <a:rPr b="0" i="0" lang="en-US" sz="2100" u="none" cap="none" strike="noStrike">
                <a:solidFill>
                  <a:srgbClr val="F3F2F2"/>
                </a:solidFill>
                <a:latin typeface="Archivo"/>
                <a:ea typeface="Archivo"/>
                <a:cs typeface="Archivo"/>
                <a:sym typeface="Archivo"/>
              </a:rPr>
              <a:t>Fundamentación, objetivos, arquitectura y ocho pantallas diseñadas.</a:t>
            </a:r>
            <a:endParaRPr b="0" i="0" sz="2100" u="none" cap="none" strike="noStrike">
              <a:solidFill>
                <a:schemeClr val="dk1"/>
              </a:solidFill>
              <a:latin typeface="Calibri"/>
              <a:ea typeface="Calibri"/>
              <a:cs typeface="Calibri"/>
              <a:sym typeface="Calibri"/>
            </a:endParaRPr>
          </a:p>
        </p:txBody>
      </p:sp>
      <p:sp>
        <p:nvSpPr>
          <p:cNvPr id="1132" name="Google Shape;1132;p27"/>
          <p:cNvSpPr/>
          <p:nvPr/>
        </p:nvSpPr>
        <p:spPr>
          <a:xfrm>
            <a:off x="6629400" y="8031659"/>
            <a:ext cx="553212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PRÓXIMO HITO</a:t>
            </a:r>
            <a:endParaRPr b="0" i="0" sz="1800" u="none" cap="none" strike="noStrike">
              <a:solidFill>
                <a:schemeClr val="dk1"/>
              </a:solidFill>
              <a:latin typeface="Calibri"/>
              <a:ea typeface="Calibri"/>
              <a:cs typeface="Calibri"/>
              <a:sym typeface="Calibri"/>
            </a:endParaRPr>
          </a:p>
        </p:txBody>
      </p:sp>
      <p:sp>
        <p:nvSpPr>
          <p:cNvPr id="1133" name="Google Shape;1133;p27"/>
          <p:cNvSpPr/>
          <p:nvPr/>
        </p:nvSpPr>
        <p:spPr>
          <a:xfrm>
            <a:off x="6629400" y="8481194"/>
            <a:ext cx="5180076" cy="1158106"/>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F3F2F2"/>
              </a:buClr>
              <a:buSzPts val="2100"/>
              <a:buFont typeface="Archivo"/>
              <a:buNone/>
            </a:pPr>
            <a:r>
              <a:rPr b="0" i="0" lang="en-US" sz="2100" u="none" cap="none" strike="noStrike">
                <a:solidFill>
                  <a:srgbClr val="F3F2F2"/>
                </a:solidFill>
                <a:latin typeface="Archivo"/>
                <a:ea typeface="Archivo"/>
                <a:cs typeface="Archivo"/>
                <a:sym typeface="Archivo"/>
              </a:rPr>
              <a:t>Ingesta desde la API funcionando y primeras licitaciones clasificadas por el LLM.</a:t>
            </a:r>
            <a:endParaRPr b="0" i="0" sz="2100" u="none" cap="none" strike="noStrike">
              <a:solidFill>
                <a:schemeClr val="dk1"/>
              </a:solidFill>
              <a:latin typeface="Calibri"/>
              <a:ea typeface="Calibri"/>
              <a:cs typeface="Calibri"/>
              <a:sym typeface="Calibri"/>
            </a:endParaRPr>
          </a:p>
        </p:txBody>
      </p:sp>
      <p:sp>
        <p:nvSpPr>
          <p:cNvPr id="1134" name="Google Shape;1134;p27"/>
          <p:cNvSpPr/>
          <p:nvPr/>
        </p:nvSpPr>
        <p:spPr>
          <a:xfrm>
            <a:off x="12420600" y="8031659"/>
            <a:ext cx="5532120" cy="392385"/>
          </a:xfrm>
          <a:prstGeom prst="rect">
            <a:avLst/>
          </a:prstGeom>
          <a:noFill/>
          <a:ln>
            <a:noFill/>
          </a:ln>
        </p:spPr>
        <p:txBody>
          <a:bodyPr anchorCtr="0" anchor="t" bIns="25400" lIns="25400" spcFirstLastPara="1" rIns="25400" wrap="square" tIns="25400">
            <a:noAutofit/>
          </a:bodyPr>
          <a:lstStyle/>
          <a:p>
            <a:pPr indent="0" lvl="0" marL="0" marR="0" rtl="0" algn="l">
              <a:lnSpc>
                <a:spcPct val="143077"/>
              </a:lnSpc>
              <a:spcBef>
                <a:spcPts val="0"/>
              </a:spcBef>
              <a:spcAft>
                <a:spcPts val="0"/>
              </a:spcAft>
              <a:buClr>
                <a:srgbClr val="F3F2F2"/>
              </a:buClr>
              <a:buSzPts val="1800"/>
              <a:buFont typeface="Archivo"/>
              <a:buNone/>
            </a:pPr>
            <a:r>
              <a:rPr b="1" i="0" lang="en-US" sz="1800" u="none" cap="none" strike="noStrike">
                <a:solidFill>
                  <a:srgbClr val="F3F2F2"/>
                </a:solidFill>
                <a:latin typeface="Archivo"/>
                <a:ea typeface="Archivo"/>
                <a:cs typeface="Archivo"/>
                <a:sym typeface="Archivo"/>
              </a:rPr>
              <a:t>EQUIPO</a:t>
            </a:r>
            <a:endParaRPr b="0" i="0" sz="1800" u="none" cap="none" strike="noStrike">
              <a:solidFill>
                <a:schemeClr val="dk1"/>
              </a:solidFill>
              <a:latin typeface="Calibri"/>
              <a:ea typeface="Calibri"/>
              <a:cs typeface="Calibri"/>
              <a:sym typeface="Calibri"/>
            </a:endParaRPr>
          </a:p>
        </p:txBody>
      </p:sp>
      <p:sp>
        <p:nvSpPr>
          <p:cNvPr id="1135" name="Google Shape;1135;p27"/>
          <p:cNvSpPr/>
          <p:nvPr/>
        </p:nvSpPr>
        <p:spPr>
          <a:xfrm>
            <a:off x="12420600" y="8481194"/>
            <a:ext cx="5180076" cy="784771"/>
          </a:xfrm>
          <a:prstGeom prst="rect">
            <a:avLst/>
          </a:prstGeom>
          <a:noFill/>
          <a:ln>
            <a:noFill/>
          </a:ln>
        </p:spPr>
        <p:txBody>
          <a:bodyPr anchorCtr="0" anchor="t" bIns="25400" lIns="25400" spcFirstLastPara="1" rIns="25400" wrap="square" tIns="25400">
            <a:noAutofit/>
          </a:bodyPr>
          <a:lstStyle/>
          <a:p>
            <a:pPr indent="0" lvl="0" marL="0" marR="0" rtl="0" algn="l">
              <a:lnSpc>
                <a:spcPct val="128524"/>
              </a:lnSpc>
              <a:spcBef>
                <a:spcPts val="0"/>
              </a:spcBef>
              <a:spcAft>
                <a:spcPts val="0"/>
              </a:spcAft>
              <a:buClr>
                <a:srgbClr val="F3F2F2"/>
              </a:buClr>
              <a:buSzPts val="2100"/>
              <a:buFont typeface="Archivo"/>
              <a:buNone/>
            </a:pPr>
            <a:r>
              <a:rPr b="0" i="0" lang="en-US" sz="2100" u="none" cap="none" strike="noStrike">
                <a:solidFill>
                  <a:srgbClr val="F3F2F2"/>
                </a:solidFill>
                <a:latin typeface="Archivo"/>
                <a:ea typeface="Archivo"/>
                <a:cs typeface="Archivo"/>
                <a:sym typeface="Archivo"/>
              </a:rPr>
              <a:t>Benjamín Gajardo · Andy Navarrete · Francisco Ossio</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